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9b7e467f0d479d" /><Relationship Type="http://schemas.openxmlformats.org/officeDocument/2006/relationships/extended-properties" Target="/docProps/app.xml" Id="Rd00af9aa4f6b4ea2" /><Relationship Type="http://schemas.openxmlformats.org/officeDocument/2006/relationships/officeDocument" Target="/ppt/presentation.xml" Id="R70d73424d9864faa" /></Relationships>
</file>

<file path=ppt/presentation.xml><?xml version="1.0" encoding="utf-8"?>
<p:presentation xmlns:p="http://schemas.openxmlformats.org/presentationml/2006/main">
  <p:sldMasterIdLst>
    <p:sldMasterId xmlns:r="http://schemas.openxmlformats.org/officeDocument/2006/relationships" id="2147483648" r:id="R1908c168956a40c8"/>
  </p:sldMasterIdLst>
  <p:notesMasterIdLst>
    <p:notesMasterId xmlns:r="http://schemas.openxmlformats.org/officeDocument/2006/relationships" r:id="R36cd2f3ef5c54aac"/>
  </p:notesMasterIdLst>
  <p:sldIdLst>
    <p:sldId xmlns:r="http://schemas.openxmlformats.org/officeDocument/2006/relationships" id="256" r:id="Rcd9ab131b33c4e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5837ef64df432d" /><Relationship Type="http://schemas.openxmlformats.org/officeDocument/2006/relationships/slideMaster" Target="/ppt/slideMasters/slideMaster1.xml" Id="R1908c168956a40c8" /><Relationship Type="http://schemas.openxmlformats.org/officeDocument/2006/relationships/notesMaster" Target="/ppt/notesMasters/notesMaster1.xml" Id="R36cd2f3ef5c54aac" /><Relationship Type="http://schemas.openxmlformats.org/officeDocument/2006/relationships/presProps" Target="/ppt/presProps.xml" Id="Rfb72b63cb32d40a0" /><Relationship Type="http://schemas.openxmlformats.org/officeDocument/2006/relationships/tableStyles" Target="/ppt/tableStyles.xml" Id="Rf5eea733c94a4ba9" /><Relationship Type="http://schemas.openxmlformats.org/officeDocument/2006/relationships/slide" Target="/ppt/slides/slide1.xml" Id="Rcd9ab131b33c4e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fe24b26ff74e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1dfa7366164a0a" /><Relationship Type="http://schemas.openxmlformats.org/officeDocument/2006/relationships/notesMaster" Target="/ppt/notesMasters/notesMaster1.xml" Id="R258c57cbd4d94c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Shared concept-mapping method; public explanation by The Learning Scientists</a:t>
            </a:r>
          </a:p>
          <a:p xmlns:a="http://schemas.openxmlformats.org/drawingml/2006/main">
            <a:r>
              <a:t/>
            </a:r>
          </a:p>
          <a:p xmlns:a="http://schemas.openxmlformats.org/drawingml/2006/main">
            <a:r>
              <a:t>https://www.learningscientists.org/blog/2016/2/29-1</a:t>
            </a:r>
          </a:p>
          <a:p xmlns:a="http://schemas.openxmlformats.org/drawingml/2006/main">
            <a:r>
              <a:t/>
            </a:r>
          </a:p>
          <a:p xmlns:a="http://schemas.openxmlformats.org/drawingml/2006/main">
            <a:r>
              <a:t>No sole creator is claimed for this memory-first classroom variant. The Learning Scientists explain retrieval-based concept mapping and link to research by Karpicke and Blunt (2011), and Blunt and Karpicke (2014). The organiser here is an independent classroom adaptation.</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https://tnt-teaching-tools.github.io/retrieval-toolkit/retrieval-concept-map.html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c0afa67986435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5b09b0d69844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ea332c4cc5147d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f6e71465a7f43f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8c739933e24c2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ac6955d2c3a41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7652688ebd4aed" /><Relationship Type="http://schemas.openxmlformats.org/officeDocument/2006/relationships/slideLayout" Target="/ppt/slideLayouts/slideLayout1.xml" Id="R195c6e0bc6e4481e" /><Relationship Type="http://schemas.openxmlformats.org/officeDocument/2006/relationships/slideLayout" Target="/ppt/slideLayouts/slideLayout2.xml" Id="Raa0fbec7eb0c4019" /><Relationship Type="http://schemas.openxmlformats.org/officeDocument/2006/relationships/slideLayout" Target="/ppt/slideLayouts/slideLayout3.xml" Id="Rba63547c3e04436b" /><Relationship Type="http://schemas.openxmlformats.org/officeDocument/2006/relationships/slideLayout" Target="/ppt/slideLayouts/slideLayout4.xml" Id="Rc70288e419f54784" /><Relationship Type="http://schemas.openxmlformats.org/officeDocument/2006/relationships/slideLayout" Target="/ppt/slideLayouts/slideLayout5.xml" Id="R4cb6d425784a44bb" /><Relationship Type="http://schemas.openxmlformats.org/officeDocument/2006/relationships/slideLayout" Target="/ppt/slideLayouts/slideLayout6.xml" Id="R13080b1320444a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5c6e0bc6e4481e"/>
    <p:sldLayoutId xmlns:r="http://schemas.openxmlformats.org/officeDocument/2006/relationships" id="2147483650" r:id="Raa0fbec7eb0c4019"/>
    <p:sldLayoutId xmlns:r="http://schemas.openxmlformats.org/officeDocument/2006/relationships" id="2147483651" r:id="Rba63547c3e04436b"/>
    <p:sldLayoutId xmlns:r="http://schemas.openxmlformats.org/officeDocument/2006/relationships" id="2147483652" r:id="Rc70288e419f54784"/>
    <p:sldLayoutId xmlns:r="http://schemas.openxmlformats.org/officeDocument/2006/relationships" id="2147483653" r:id="R4cb6d425784a44bb"/>
    <p:sldLayoutId xmlns:r="http://schemas.openxmlformats.org/officeDocument/2006/relationships" id="2147483654" r:id="R13080b1320444a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e15c67ac7841b2" /><Relationship Type="http://schemas.openxmlformats.org/officeDocument/2006/relationships/hyperlink" Target="https://www.learningscientists.org/blog/2016/2/29-1" TargetMode="External" Id="R721392e020dc4243" /><Relationship Type="http://schemas.openxmlformats.org/officeDocument/2006/relationships/notesSlide" Target="/ppt/notesSlides/notesSlide1.xml" Id="R987fa8062ba6474e"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A7185CB-68B6-4617-B345-6045D1FAC6A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Concept map from memory</a:t>
            </a:r>
          </a:p>
        </p:txBody>
      </p:sp>
      <p:sp>
        <p:nvSpPr>
          <p:cNvPr id="2" name="">
            <a:extLst xmlns:a="http://schemas.openxmlformats.org/drawingml/2006/main">
              <a:ext uri="{FF2B5EF4-FFF2-40B4-BE49-F238E27FC236}">
                <a16:creationId xmlns:a16="http://schemas.microsoft.com/office/drawing/2014/main" id="{B70676B7-E696-4E42-ACFD-3111579E7E28}"/>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2EA8256-A1C7-4724-BA6E-3C3859109D6A}"/>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3126236-DC26-4A77-92CC-51400E78E3DC}"/>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610C5028-AA77-4523-93CA-905BD5944B21}"/>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5EEB4B79-E40E-4139-9B14-C5E792A9F198}"/>
              </a:ext>
            </a:extLst>
          </p:cNvPr>
          <p:cNvSpPr>
            <a:spLocks xmlns:a="http://schemas.openxmlformats.org/drawingml/2006/main" noGrp="1"/>
          </p:cNvSpPr>
          <p:nvPr/>
        </p:nvSpPr>
        <p:spPr>
          <a:xfrm xmlns:a="http://schemas.openxmlformats.org/drawingml/2006/main">
            <a:off x="4133850" y="2657475"/>
            <a:ext cx="39243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563AF24-85BE-4F4A-AB0D-909FDE5EAFAA}"/>
              </a:ext>
            </a:extLst>
          </p:cNvPr>
          <p:cNvSpPr>
            <a:spLocks xmlns:a="http://schemas.openxmlformats.org/drawingml/2006/main" noGrp="1"/>
          </p:cNvSpPr>
          <p:nvPr/>
        </p:nvSpPr>
        <p:spPr>
          <a:xfrm xmlns:a="http://schemas.openxmlformats.org/drawingml/2006/main">
            <a:off x="6096000" y="2657475"/>
            <a:ext cx="19050" cy="7048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53AEC65-892E-4668-A301-0B95CABFEC9A}"/>
              </a:ext>
            </a:extLst>
          </p:cNvPr>
          <p:cNvSpPr>
            <a:spLocks xmlns:a="http://schemas.openxmlformats.org/drawingml/2006/main" noGrp="1"/>
          </p:cNvSpPr>
          <p:nvPr/>
        </p:nvSpPr>
        <p:spPr>
          <a:xfrm xmlns:a="http://schemas.openxmlformats.org/drawingml/2006/main">
            <a:off x="4133850" y="5114925"/>
            <a:ext cx="39243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1B790E-7893-4F41-A38C-1CD298635CFD}"/>
              </a:ext>
            </a:extLst>
          </p:cNvPr>
          <p:cNvSpPr>
            <a:spLocks xmlns:a="http://schemas.openxmlformats.org/drawingml/2006/main" noGrp="1"/>
          </p:cNvSpPr>
          <p:nvPr/>
        </p:nvSpPr>
        <p:spPr>
          <a:xfrm xmlns:a="http://schemas.openxmlformats.org/drawingml/2006/main">
            <a:off x="6096000" y="4429125"/>
            <a:ext cx="19050" cy="68580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5847AEB-3E65-4B99-9817-A5BC8BC5CAFD}"/>
              </a:ext>
            </a:extLst>
          </p:cNvPr>
          <p:cNvSpPr>
            <a:spLocks xmlns:a="http://schemas.openxmlformats.org/drawingml/2006/main" noGrp="1"/>
          </p:cNvSpPr>
          <p:nvPr/>
        </p:nvSpPr>
        <p:spPr>
          <a:xfrm xmlns:a="http://schemas.openxmlformats.org/drawingml/2006/main">
            <a:off x="4857750" y="3362325"/>
            <a:ext cx="2476500" cy="1066800"/>
          </a:xfrm>
          <a:prstGeom xmlns:a="http://schemas.openxmlformats.org/drawingml/2006/main" prst="ellipse">
            <a:avLst/>
          </a:prstGeom>
          <a:solidFill xmlns:a="http://schemas.openxmlformats.org/drawingml/2006/main">
            <a:srgbClr val="E7EEE9"/>
          </a:solidFill>
          <a:ln xmlns:a="http://schemas.openxmlformats.org/drawingml/2006/main" w="9525">
            <a:solidFill>
              <a:srgbClr val="A9BDB7"/>
            </a:solidFill>
          </a:ln>
        </p:spPr>
      </p:sp>
      <p:sp>
        <p:nvSpPr>
          <p:cNvPr id="11" name="">
            <a:extLst xmlns:a="http://schemas.openxmlformats.org/drawingml/2006/main">
              <a:ext uri="{FF2B5EF4-FFF2-40B4-BE49-F238E27FC236}">
                <a16:creationId xmlns:a16="http://schemas.microsoft.com/office/drawing/2014/main" id="{4559624F-BA09-48D0-9CB4-739ADF35646F}"/>
              </a:ext>
            </a:extLst>
          </p:cNvPr>
          <p:cNvSpPr>
            <a:spLocks xmlns:a="http://schemas.openxmlformats.org/drawingml/2006/main" noGrp="1"/>
          </p:cNvSpPr>
          <p:nvPr/>
        </p:nvSpPr>
        <p:spPr>
          <a:xfrm xmlns:a="http://schemas.openxmlformats.org/drawingml/2006/main">
            <a:off x="5391150" y="3705225"/>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1">
                <a:solidFill>
                  <a:srgbClr val="263C3A"/>
                </a:solidFill>
                <a:latin typeface="DejaVu Sans"/>
                <a:ea typeface="DejaVu Sans"/>
                <a:cs typeface="DejaVu Sans"/>
              </a:defRPr>
            </a:pPr>
            <a:r>
              <a:rPr sz="2175" b="1">
                <a:solidFill>
                  <a:srgbClr val="263C3A"/>
                </a:solidFill>
                <a:latin typeface="DejaVu Sans"/>
                <a:ea typeface="DejaVu Sans"/>
                <a:cs typeface="DejaVu Sans"/>
              </a:rPr>
              <a:t>[Topic]</a:t>
            </a:r>
          </a:p>
        </p:txBody>
      </p:sp>
      <p:sp>
        <p:nvSpPr>
          <p:cNvPr id="12" name="">
            <a:extLst xmlns:a="http://schemas.openxmlformats.org/drawingml/2006/main">
              <a:ext uri="{FF2B5EF4-FFF2-40B4-BE49-F238E27FC236}">
                <a16:creationId xmlns:a16="http://schemas.microsoft.com/office/drawing/2014/main" id="{A05FB665-430E-4B5F-B879-D595D50D15EF}"/>
              </a:ext>
            </a:extLst>
          </p:cNvPr>
          <p:cNvSpPr>
            <a:spLocks xmlns:a="http://schemas.openxmlformats.org/drawingml/2006/main" noGrp="1"/>
          </p:cNvSpPr>
          <p:nvPr/>
        </p:nvSpPr>
        <p:spPr>
          <a:xfrm xmlns:a="http://schemas.openxmlformats.org/drawingml/2006/main">
            <a:off x="609600" y="230505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8A5BEEC8-608C-4A28-B85A-5843674BCBC8}"/>
              </a:ext>
            </a:extLst>
          </p:cNvPr>
          <p:cNvSpPr>
            <a:spLocks xmlns:a="http://schemas.openxmlformats.org/drawingml/2006/main" noGrp="1"/>
          </p:cNvSpPr>
          <p:nvPr/>
        </p:nvSpPr>
        <p:spPr>
          <a:xfrm xmlns:a="http://schemas.openxmlformats.org/drawingml/2006/main">
            <a:off x="800100" y="24955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14" name="">
            <a:extLst xmlns:a="http://schemas.openxmlformats.org/drawingml/2006/main">
              <a:ext uri="{FF2B5EF4-FFF2-40B4-BE49-F238E27FC236}">
                <a16:creationId xmlns:a16="http://schemas.microsoft.com/office/drawing/2014/main" id="{B412975C-FC3D-4AA2-8AA4-3BFC14EF1907}"/>
              </a:ext>
            </a:extLst>
          </p:cNvPr>
          <p:cNvSpPr>
            <a:spLocks xmlns:a="http://schemas.openxmlformats.org/drawingml/2006/main" noGrp="1"/>
          </p:cNvSpPr>
          <p:nvPr/>
        </p:nvSpPr>
        <p:spPr>
          <a:xfrm xmlns:a="http://schemas.openxmlformats.org/drawingml/2006/main">
            <a:off x="8058150" y="230505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5" name="">
            <a:extLst xmlns:a="http://schemas.openxmlformats.org/drawingml/2006/main">
              <a:ext uri="{FF2B5EF4-FFF2-40B4-BE49-F238E27FC236}">
                <a16:creationId xmlns:a16="http://schemas.microsoft.com/office/drawing/2014/main" id="{A0BC5747-33AC-4A5C-B94B-2EA173870712}"/>
              </a:ext>
            </a:extLst>
          </p:cNvPr>
          <p:cNvSpPr>
            <a:spLocks xmlns:a="http://schemas.openxmlformats.org/drawingml/2006/main" noGrp="1"/>
          </p:cNvSpPr>
          <p:nvPr/>
        </p:nvSpPr>
        <p:spPr>
          <a:xfrm xmlns:a="http://schemas.openxmlformats.org/drawingml/2006/main">
            <a:off x="8248650" y="24955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16" name="">
            <a:extLst xmlns:a="http://schemas.openxmlformats.org/drawingml/2006/main">
              <a:ext uri="{FF2B5EF4-FFF2-40B4-BE49-F238E27FC236}">
                <a16:creationId xmlns:a16="http://schemas.microsoft.com/office/drawing/2014/main" id="{E39AB7EB-B658-47B7-B40C-EB8A586945C0}"/>
              </a:ext>
            </a:extLst>
          </p:cNvPr>
          <p:cNvSpPr>
            <a:spLocks xmlns:a="http://schemas.openxmlformats.org/drawingml/2006/main" noGrp="1"/>
          </p:cNvSpPr>
          <p:nvPr/>
        </p:nvSpPr>
        <p:spPr>
          <a:xfrm xmlns:a="http://schemas.openxmlformats.org/drawingml/2006/main">
            <a:off x="609600" y="476250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C600F26E-A054-45E6-9C60-794FD5934ECE}"/>
              </a:ext>
            </a:extLst>
          </p:cNvPr>
          <p:cNvSpPr>
            <a:spLocks xmlns:a="http://schemas.openxmlformats.org/drawingml/2006/main" noGrp="1"/>
          </p:cNvSpPr>
          <p:nvPr/>
        </p:nvSpPr>
        <p:spPr>
          <a:xfrm xmlns:a="http://schemas.openxmlformats.org/drawingml/2006/main">
            <a:off x="800100" y="49530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18" name="">
            <a:extLst xmlns:a="http://schemas.openxmlformats.org/drawingml/2006/main">
              <a:ext uri="{FF2B5EF4-FFF2-40B4-BE49-F238E27FC236}">
                <a16:creationId xmlns:a16="http://schemas.microsoft.com/office/drawing/2014/main" id="{B5B33750-7F47-4A85-B229-F14FB34C4ACA}"/>
              </a:ext>
            </a:extLst>
          </p:cNvPr>
          <p:cNvSpPr>
            <a:spLocks xmlns:a="http://schemas.openxmlformats.org/drawingml/2006/main" noGrp="1"/>
          </p:cNvSpPr>
          <p:nvPr/>
        </p:nvSpPr>
        <p:spPr>
          <a:xfrm xmlns:a="http://schemas.openxmlformats.org/drawingml/2006/main">
            <a:off x="8058150" y="4762500"/>
            <a:ext cx="3524250" cy="704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9" name="">
            <a:extLst xmlns:a="http://schemas.openxmlformats.org/drawingml/2006/main">
              <a:ext uri="{FF2B5EF4-FFF2-40B4-BE49-F238E27FC236}">
                <a16:creationId xmlns:a16="http://schemas.microsoft.com/office/drawing/2014/main" id="{C97F3613-84F4-4FD4-A4F3-94EEE2DAB424}"/>
              </a:ext>
            </a:extLst>
          </p:cNvPr>
          <p:cNvSpPr>
            <a:spLocks xmlns:a="http://schemas.openxmlformats.org/drawingml/2006/main" noGrp="1"/>
          </p:cNvSpPr>
          <p:nvPr/>
        </p:nvSpPr>
        <p:spPr>
          <a:xfrm xmlns:a="http://schemas.openxmlformats.org/drawingml/2006/main">
            <a:off x="8248650" y="49530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[Idea or concept]</a:t>
            </a:r>
          </a:p>
        </p:txBody>
      </p:sp>
      <p:sp>
        <p:nvSpPr>
          <p:cNvPr id="20" name="">
            <a:extLst xmlns:a="http://schemas.openxmlformats.org/drawingml/2006/main">
              <a:ext uri="{FF2B5EF4-FFF2-40B4-BE49-F238E27FC236}">
                <a16:creationId xmlns:a16="http://schemas.microsoft.com/office/drawing/2014/main" id="{3BA420C0-350E-4B24-90ED-5D2BF9AE7871}"/>
              </a:ext>
            </a:extLst>
          </p:cNvPr>
          <p:cNvSpPr>
            <a:spLocks xmlns:a="http://schemas.openxmlformats.org/drawingml/2006/main" noGrp="1"/>
          </p:cNvSpPr>
          <p:nvPr/>
        </p:nvSpPr>
        <p:spPr>
          <a:xfrm xmlns:a="http://schemas.openxmlformats.org/drawingml/2006/main">
            <a:off x="4048125" y="5619750"/>
            <a:ext cx="409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0">
                <a:solidFill>
                  <a:srgbClr val="687572"/>
                </a:solidFill>
                <a:latin typeface="DejaVu Sans"/>
                <a:ea typeface="DejaVu Sans"/>
                <a:cs typeface="DejaVu Sans"/>
              </a:defRPr>
            </a:pPr>
            <a:r>
              <a:rPr sz="1350" b="0">
                <a:solidFill>
                  <a:srgbClr val="687572"/>
                </a:solidFill>
                <a:latin typeface="DejaVu Sans"/>
                <a:ea typeface="DejaVu Sans"/>
                <a:cs typeface="DejaVu Sans"/>
              </a:rPr>
              <a:t>Add links and label the connections.</a:t>
            </a:r>
          </a:p>
        </p:txBody>
      </p:sp>
      <p:sp>
        <p:nvSpPr>
          <p:cNvPr id="21" name="">
            <a:extLst xmlns:a="http://schemas.openxmlformats.org/drawingml/2006/main">
              <a:ext uri="{FF2B5EF4-FFF2-40B4-BE49-F238E27FC236}">
                <a16:creationId xmlns:a16="http://schemas.microsoft.com/office/drawing/2014/main" id="{A07E0229-E44B-455C-A896-A6DBF3577234}"/>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C96EFC5-8929-4756-A0D3-F4AB04146B77}"/>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3" name="">
            <a:extLst xmlns:a="http://schemas.openxmlformats.org/drawingml/2006/main">
              <a:ext uri="{FF2B5EF4-FFF2-40B4-BE49-F238E27FC236}">
                <a16:creationId xmlns:a16="http://schemas.microsoft.com/office/drawing/2014/main" id="{FD023C3C-D203-46B0-9EE5-74E0B1D0F68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5" name="source-credit">
            <a:extLst xmlns:a="http://schemas.openxmlformats.org/drawingml/2006/main">
              <a:ext uri="{FF2B5EF4-FFF2-40B4-BE49-F238E27FC236}">
                <a16:creationId xmlns:a16="http://schemas.microsoft.com/office/drawing/2014/main" id="{D8D6F2C5-258B-45CE-8C97-452ADAAF8FF4}"/>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721392e020dc4243"/>
              </a:rPr>
              <a:t>Shared concept-mapping method; public explanation by The Learning Scientists — original guidance</a:t>
            </a:r>
          </a:p>
        </p:txBody>
      </p:sp>
    </p:spTree>
    <p:extLst>
      <p:ext uri="{BB962C8B-B14F-4D97-AF65-F5344CB8AC3E}">
        <p14:creationId xmlns:p14="http://schemas.microsoft.com/office/powerpoint/2010/main" val="20397928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2026-10-08T06:08:40.9680000Z</dcterms:created>
  <dcterms:modified xsi:type="dcterms:W3CDTF">2026-10-08T06:08:40.9680000Z</dcterms:modified>
</coreProperties>
</file>