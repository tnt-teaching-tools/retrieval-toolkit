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b970065f134cec" /><Relationship Type="http://schemas.openxmlformats.org/officeDocument/2006/relationships/extended-properties" Target="/docProps/app.xml" Id="R75caf0112a1843ec" /><Relationship Type="http://schemas.openxmlformats.org/officeDocument/2006/relationships/officeDocument" Target="/ppt/presentation.xml" Id="R9105d75ddcb34b3d" /></Relationships>
</file>

<file path=ppt/presentation.xml><?xml version="1.0" encoding="utf-8"?>
<p:presentation xmlns:p="http://schemas.openxmlformats.org/presentationml/2006/main">
  <p:sldMasterIdLst>
    <p:sldMasterId xmlns:r="http://schemas.openxmlformats.org/officeDocument/2006/relationships" id="2147483648" r:id="R04c8c69b738a4ab2"/>
  </p:sldMasterIdLst>
  <p:notesMasterIdLst>
    <p:notesMasterId xmlns:r="http://schemas.openxmlformats.org/officeDocument/2006/relationships" r:id="R7fb47fbc35854823"/>
  </p:notesMasterIdLst>
  <p:sldIdLst>
    <p:sldId xmlns:r="http://schemas.openxmlformats.org/officeDocument/2006/relationships" id="256" r:id="R1c991ad924924b0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e4ab2c90f6449e1" /><Relationship Type="http://schemas.openxmlformats.org/officeDocument/2006/relationships/slideMaster" Target="/ppt/slideMasters/slideMaster1.xml" Id="R04c8c69b738a4ab2" /><Relationship Type="http://schemas.openxmlformats.org/officeDocument/2006/relationships/notesMaster" Target="/ppt/notesMasters/notesMaster1.xml" Id="R7fb47fbc35854823" /><Relationship Type="http://schemas.openxmlformats.org/officeDocument/2006/relationships/presProps" Target="/ppt/presProps.xml" Id="R3574801d8ebb49b3" /><Relationship Type="http://schemas.openxmlformats.org/officeDocument/2006/relationships/tableStyles" Target="/ppt/tableStyles.xml" Id="Rce9c4f62952e494e" /><Relationship Type="http://schemas.openxmlformats.org/officeDocument/2006/relationships/slide" Target="/ppt/slides/slide1.xml" Id="R1c991ad924924b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85b61d0eb4f465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eaaf6a5f3b4bc1" /><Relationship Type="http://schemas.openxmlformats.org/officeDocument/2006/relationships/notesMaster" Target="/ppt/notesMasters/notesMaster1.xml" Id="R18c9c8fc49594c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Geographical Association — classroom guidance</a:t>
            </a:r>
          </a:p>
          <a:p xmlns:a="http://schemas.openxmlformats.org/drawingml/2006/main">
            <a:r>
              <a:t/>
            </a:r>
          </a:p>
          <a:p xmlns:a="http://schemas.openxmlformats.org/drawingml/2006/main">
            <a:r>
              <a:t>https://geography.org.uk/ite/initial-teacher-education/geography-support-for-trainees-and-ects/learning-to-teach-secondary-geography/ite-trainees-classroom-practice/practice/retrieval-practice/</a:t>
            </a:r>
          </a:p>
          <a:p xmlns:a="http://schemas.openxmlformats.org/drawingml/2006/main">
            <a:r>
              <a:t/>
            </a:r>
          </a:p>
          <a:p xmlns:a="http://schemas.openxmlformats.org/drawingml/2006/main">
            <a:r>
              <a:t>The Geographical Association describes this shared routine. Here it is adapted for processes or ideas in any subject, with the content recalled before reference materials are opened. Original creator not verified.</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https://tnt-teaching-tools.github.io/retrieval-toolkit/retrieval-memory-storyboard.html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aebf3631af844f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b5d370508874c9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fbbd40d48784cd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32de1209b2e490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44022613e714b8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fb800380bb44b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4c9a5f64574ec9" /><Relationship Type="http://schemas.openxmlformats.org/officeDocument/2006/relationships/slideLayout" Target="/ppt/slideLayouts/slideLayout1.xml" Id="R520b1487b0e34b17" /><Relationship Type="http://schemas.openxmlformats.org/officeDocument/2006/relationships/slideLayout" Target="/ppt/slideLayouts/slideLayout2.xml" Id="R649af017ad2f4984" /><Relationship Type="http://schemas.openxmlformats.org/officeDocument/2006/relationships/slideLayout" Target="/ppt/slideLayouts/slideLayout3.xml" Id="R73740d5b73ab499d" /><Relationship Type="http://schemas.openxmlformats.org/officeDocument/2006/relationships/slideLayout" Target="/ppt/slideLayouts/slideLayout4.xml" Id="R8af58e4828204049" /><Relationship Type="http://schemas.openxmlformats.org/officeDocument/2006/relationships/slideLayout" Target="/ppt/slideLayouts/slideLayout5.xml" Id="R51272ca7c6a54d62" /><Relationship Type="http://schemas.openxmlformats.org/officeDocument/2006/relationships/slideLayout" Target="/ppt/slideLayouts/slideLayout6.xml" Id="R0194e53acb0941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0b1487b0e34b17"/>
    <p:sldLayoutId xmlns:r="http://schemas.openxmlformats.org/officeDocument/2006/relationships" id="2147483650" r:id="R649af017ad2f4984"/>
    <p:sldLayoutId xmlns:r="http://schemas.openxmlformats.org/officeDocument/2006/relationships" id="2147483651" r:id="R73740d5b73ab499d"/>
    <p:sldLayoutId xmlns:r="http://schemas.openxmlformats.org/officeDocument/2006/relationships" id="2147483652" r:id="R8af58e4828204049"/>
    <p:sldLayoutId xmlns:r="http://schemas.openxmlformats.org/officeDocument/2006/relationships" id="2147483653" r:id="R51272ca7c6a54d62"/>
    <p:sldLayoutId xmlns:r="http://schemas.openxmlformats.org/officeDocument/2006/relationships" id="2147483654" r:id="R0194e53acb0941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7301f1f111c46ff" /><Relationship Type="http://schemas.openxmlformats.org/officeDocument/2006/relationships/hyperlink" Target="https://geography.org.uk/ite/initial-teacher-education/geography-support-for-trainees-and-ects/learning-to-teach-secondary-geography/ite-trainees-classroom-practice/practice/retrieval-practice/" TargetMode="External" Id="R31f9098ea8094a3d" /><Relationship Type="http://schemas.openxmlformats.org/officeDocument/2006/relationships/notesSlide" Target="/ppt/notesSlides/notesSlide1.xml" Id="Rf179dc079ee1434e"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FDAEBF3-E2B8-4DBB-8F9A-E752DD459E4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Memory storyboard</a:t>
            </a:r>
          </a:p>
        </p:txBody>
      </p:sp>
      <p:sp>
        <p:nvSpPr>
          <p:cNvPr id="2" name="">
            <a:extLst xmlns:a="http://schemas.openxmlformats.org/drawingml/2006/main">
              <a:ext uri="{FF2B5EF4-FFF2-40B4-BE49-F238E27FC236}">
                <a16:creationId xmlns:a16="http://schemas.microsoft.com/office/drawing/2014/main" id="{7E6C0A82-EB47-43A7-B55D-124193997D4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C3D2E0E-21F1-4833-BFFC-899F0EA06BF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144F2B5-4712-4AF0-A8EE-684E7A5C6CF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8DA5B21-A306-48C7-886F-6413A20BF377}"/>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90C14118-184F-420E-BA4E-4D5B1453432B}"/>
              </a:ext>
            </a:extLst>
          </p:cNvPr>
          <p:cNvSpPr>
            <a:spLocks xmlns:a="http://schemas.openxmlformats.org/drawingml/2006/main" noGrp="1"/>
          </p:cNvSpPr>
          <p:nvPr/>
        </p:nvSpPr>
        <p:spPr>
          <a:xfrm xmlns:a="http://schemas.openxmlformats.org/drawingml/2006/main">
            <a:off x="6096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AAA78E30-94A7-4C2B-A064-6D943D8AA87D}"/>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1  Sketch and caption</a:t>
            </a:r>
          </a:p>
        </p:txBody>
      </p:sp>
      <p:sp>
        <p:nvSpPr>
          <p:cNvPr id="8" name="">
            <a:extLst xmlns:a="http://schemas.openxmlformats.org/drawingml/2006/main">
              <a:ext uri="{FF2B5EF4-FFF2-40B4-BE49-F238E27FC236}">
                <a16:creationId xmlns:a16="http://schemas.microsoft.com/office/drawing/2014/main" id="{B3BDF749-D5EA-4D3B-B466-91E10ABBA400}"/>
              </a:ext>
            </a:extLst>
          </p:cNvPr>
          <p:cNvSpPr>
            <a:spLocks xmlns:a="http://schemas.openxmlformats.org/drawingml/2006/main" noGrp="1"/>
          </p:cNvSpPr>
          <p:nvPr/>
        </p:nvSpPr>
        <p:spPr>
          <a:xfrm xmlns:a="http://schemas.openxmlformats.org/drawingml/2006/main">
            <a:off x="781050" y="285750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9" name="">
            <a:extLst xmlns:a="http://schemas.openxmlformats.org/drawingml/2006/main">
              <a:ext uri="{FF2B5EF4-FFF2-40B4-BE49-F238E27FC236}">
                <a16:creationId xmlns:a16="http://schemas.microsoft.com/office/drawing/2014/main" id="{2D649CBE-D635-4DB5-B7C1-4E1083E18A66}"/>
              </a:ext>
            </a:extLst>
          </p:cNvPr>
          <p:cNvSpPr>
            <a:spLocks xmlns:a="http://schemas.openxmlformats.org/drawingml/2006/main" noGrp="1"/>
          </p:cNvSpPr>
          <p:nvPr/>
        </p:nvSpPr>
        <p:spPr>
          <a:xfrm xmlns:a="http://schemas.openxmlformats.org/drawingml/2006/main">
            <a:off x="4324350" y="224790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5E5855FA-DD62-442A-93EE-AE7F4A102A82}"/>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2  Sketch and caption</a:t>
            </a:r>
          </a:p>
        </p:txBody>
      </p:sp>
      <p:sp>
        <p:nvSpPr>
          <p:cNvPr id="11" name="">
            <a:extLst xmlns:a="http://schemas.openxmlformats.org/drawingml/2006/main">
              <a:ext uri="{FF2B5EF4-FFF2-40B4-BE49-F238E27FC236}">
                <a16:creationId xmlns:a16="http://schemas.microsoft.com/office/drawing/2014/main" id="{D8A889F5-9816-4FE9-8DA9-8E2D78A8276B}"/>
              </a:ext>
            </a:extLst>
          </p:cNvPr>
          <p:cNvSpPr>
            <a:spLocks xmlns:a="http://schemas.openxmlformats.org/drawingml/2006/main" noGrp="1"/>
          </p:cNvSpPr>
          <p:nvPr/>
        </p:nvSpPr>
        <p:spPr>
          <a:xfrm xmlns:a="http://schemas.openxmlformats.org/drawingml/2006/main">
            <a:off x="4495800" y="285750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12" name="">
            <a:extLst xmlns:a="http://schemas.openxmlformats.org/drawingml/2006/main">
              <a:ext uri="{FF2B5EF4-FFF2-40B4-BE49-F238E27FC236}">
                <a16:creationId xmlns:a16="http://schemas.microsoft.com/office/drawing/2014/main" id="{12C90434-3E84-4254-B28C-C091C16F1449}"/>
              </a:ext>
            </a:extLst>
          </p:cNvPr>
          <p:cNvSpPr>
            <a:spLocks xmlns:a="http://schemas.openxmlformats.org/drawingml/2006/main" noGrp="1"/>
          </p:cNvSpPr>
          <p:nvPr/>
        </p:nvSpPr>
        <p:spPr>
          <a:xfrm xmlns:a="http://schemas.openxmlformats.org/drawingml/2006/main">
            <a:off x="80391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C9B95231-47BD-4647-90B3-0C317C4FC76C}"/>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3  Sketch and caption</a:t>
            </a:r>
          </a:p>
        </p:txBody>
      </p:sp>
      <p:sp>
        <p:nvSpPr>
          <p:cNvPr id="14" name="">
            <a:extLst xmlns:a="http://schemas.openxmlformats.org/drawingml/2006/main">
              <a:ext uri="{FF2B5EF4-FFF2-40B4-BE49-F238E27FC236}">
                <a16:creationId xmlns:a16="http://schemas.microsoft.com/office/drawing/2014/main" id="{E84AE6B7-BB48-4CF0-A32C-96A980829404}"/>
              </a:ext>
            </a:extLst>
          </p:cNvPr>
          <p:cNvSpPr>
            <a:spLocks xmlns:a="http://schemas.openxmlformats.org/drawingml/2006/main" noGrp="1"/>
          </p:cNvSpPr>
          <p:nvPr/>
        </p:nvSpPr>
        <p:spPr>
          <a:xfrm xmlns:a="http://schemas.openxmlformats.org/drawingml/2006/main">
            <a:off x="8210550" y="285750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15" name="">
            <a:extLst xmlns:a="http://schemas.openxmlformats.org/drawingml/2006/main">
              <a:ext uri="{FF2B5EF4-FFF2-40B4-BE49-F238E27FC236}">
                <a16:creationId xmlns:a16="http://schemas.microsoft.com/office/drawing/2014/main" id="{4EE8FF0B-51C5-4D08-B7CD-50E5284AB114}"/>
              </a:ext>
            </a:extLst>
          </p:cNvPr>
          <p:cNvSpPr>
            <a:spLocks xmlns:a="http://schemas.openxmlformats.org/drawingml/2006/main" noGrp="1"/>
          </p:cNvSpPr>
          <p:nvPr/>
        </p:nvSpPr>
        <p:spPr>
          <a:xfrm xmlns:a="http://schemas.openxmlformats.org/drawingml/2006/main">
            <a:off x="6096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380E0275-5A13-41B6-9A73-44B75CF86DE5}"/>
              </a:ext>
            </a:extLst>
          </p:cNvPr>
          <p:cNvSpPr>
            <a:spLocks xmlns:a="http://schemas.openxmlformats.org/drawingml/2006/main" noGrp="1"/>
          </p:cNvSpPr>
          <p:nvPr/>
        </p:nvSpPr>
        <p:spPr>
          <a:xfrm xmlns:a="http://schemas.openxmlformats.org/drawingml/2006/main">
            <a:off x="781050" y="415290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4  Sketch and caption</a:t>
            </a:r>
          </a:p>
        </p:txBody>
      </p:sp>
      <p:sp>
        <p:nvSpPr>
          <p:cNvPr id="17" name="">
            <a:extLst xmlns:a="http://schemas.openxmlformats.org/drawingml/2006/main">
              <a:ext uri="{FF2B5EF4-FFF2-40B4-BE49-F238E27FC236}">
                <a16:creationId xmlns:a16="http://schemas.microsoft.com/office/drawing/2014/main" id="{F33AD237-ED93-48E3-8072-C7C30D776CC5}"/>
              </a:ext>
            </a:extLst>
          </p:cNvPr>
          <p:cNvSpPr>
            <a:spLocks xmlns:a="http://schemas.openxmlformats.org/drawingml/2006/main" noGrp="1"/>
          </p:cNvSpPr>
          <p:nvPr/>
        </p:nvSpPr>
        <p:spPr>
          <a:xfrm xmlns:a="http://schemas.openxmlformats.org/drawingml/2006/main">
            <a:off x="781050" y="462915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18" name="">
            <a:extLst xmlns:a="http://schemas.openxmlformats.org/drawingml/2006/main">
              <a:ext uri="{FF2B5EF4-FFF2-40B4-BE49-F238E27FC236}">
                <a16:creationId xmlns:a16="http://schemas.microsoft.com/office/drawing/2014/main" id="{336F7392-2EBC-4BF4-9DEE-B92ED5D1BE7D}"/>
              </a:ext>
            </a:extLst>
          </p:cNvPr>
          <p:cNvSpPr>
            <a:spLocks xmlns:a="http://schemas.openxmlformats.org/drawingml/2006/main" noGrp="1"/>
          </p:cNvSpPr>
          <p:nvPr/>
        </p:nvSpPr>
        <p:spPr>
          <a:xfrm xmlns:a="http://schemas.openxmlformats.org/drawingml/2006/main">
            <a:off x="4324350" y="401955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64EB5D52-D851-4DBB-AE63-9C0E851631E2}"/>
              </a:ext>
            </a:extLst>
          </p:cNvPr>
          <p:cNvSpPr>
            <a:spLocks xmlns:a="http://schemas.openxmlformats.org/drawingml/2006/main" noGrp="1"/>
          </p:cNvSpPr>
          <p:nvPr/>
        </p:nvSpPr>
        <p:spPr>
          <a:xfrm xmlns:a="http://schemas.openxmlformats.org/drawingml/2006/main">
            <a:off x="4495800" y="415290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5  Sketch and caption</a:t>
            </a:r>
          </a:p>
        </p:txBody>
      </p:sp>
      <p:sp>
        <p:nvSpPr>
          <p:cNvPr id="20" name="">
            <a:extLst xmlns:a="http://schemas.openxmlformats.org/drawingml/2006/main">
              <a:ext uri="{FF2B5EF4-FFF2-40B4-BE49-F238E27FC236}">
                <a16:creationId xmlns:a16="http://schemas.microsoft.com/office/drawing/2014/main" id="{1E93FE98-1BD1-41F4-88C9-248EB8C5FC4F}"/>
              </a:ext>
            </a:extLst>
          </p:cNvPr>
          <p:cNvSpPr>
            <a:spLocks xmlns:a="http://schemas.openxmlformats.org/drawingml/2006/main" noGrp="1"/>
          </p:cNvSpPr>
          <p:nvPr/>
        </p:nvSpPr>
        <p:spPr>
          <a:xfrm xmlns:a="http://schemas.openxmlformats.org/drawingml/2006/main">
            <a:off x="4495800" y="462915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21" name="">
            <a:extLst xmlns:a="http://schemas.openxmlformats.org/drawingml/2006/main">
              <a:ext uri="{FF2B5EF4-FFF2-40B4-BE49-F238E27FC236}">
                <a16:creationId xmlns:a16="http://schemas.microsoft.com/office/drawing/2014/main" id="{372FE8EE-8548-4CD5-BC96-1B8249DF8865}"/>
              </a:ext>
            </a:extLst>
          </p:cNvPr>
          <p:cNvSpPr>
            <a:spLocks xmlns:a="http://schemas.openxmlformats.org/drawingml/2006/main" noGrp="1"/>
          </p:cNvSpPr>
          <p:nvPr/>
        </p:nvSpPr>
        <p:spPr>
          <a:xfrm xmlns:a="http://schemas.openxmlformats.org/drawingml/2006/main">
            <a:off x="80391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B011EFFE-0EF8-4925-A4B0-D973802589E5}"/>
              </a:ext>
            </a:extLst>
          </p:cNvPr>
          <p:cNvSpPr>
            <a:spLocks xmlns:a="http://schemas.openxmlformats.org/drawingml/2006/main" noGrp="1"/>
          </p:cNvSpPr>
          <p:nvPr/>
        </p:nvSpPr>
        <p:spPr>
          <a:xfrm xmlns:a="http://schemas.openxmlformats.org/drawingml/2006/main">
            <a:off x="8210550" y="415290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6  Sketch and caption</a:t>
            </a:r>
          </a:p>
        </p:txBody>
      </p:sp>
      <p:sp>
        <p:nvSpPr>
          <p:cNvPr id="23" name="">
            <a:extLst xmlns:a="http://schemas.openxmlformats.org/drawingml/2006/main">
              <a:ext uri="{FF2B5EF4-FFF2-40B4-BE49-F238E27FC236}">
                <a16:creationId xmlns:a16="http://schemas.microsoft.com/office/drawing/2014/main" id="{E4EC6BF5-75DB-42CF-8B2D-769BE40B2E4F}"/>
              </a:ext>
            </a:extLst>
          </p:cNvPr>
          <p:cNvSpPr>
            <a:spLocks xmlns:a="http://schemas.openxmlformats.org/drawingml/2006/main" noGrp="1"/>
          </p:cNvSpPr>
          <p:nvPr/>
        </p:nvSpPr>
        <p:spPr>
          <a:xfrm xmlns:a="http://schemas.openxmlformats.org/drawingml/2006/main">
            <a:off x="8210550" y="462915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24" name="">
            <a:extLst xmlns:a="http://schemas.openxmlformats.org/drawingml/2006/main">
              <a:ext uri="{FF2B5EF4-FFF2-40B4-BE49-F238E27FC236}">
                <a16:creationId xmlns:a16="http://schemas.microsoft.com/office/drawing/2014/main" id="{E80D216D-92E7-4104-8AB6-508DCF95E131}"/>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79D7EFC2-5CFC-442A-A8CB-38C614D72771}"/>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6" name="">
            <a:extLst xmlns:a="http://schemas.openxmlformats.org/drawingml/2006/main">
              <a:ext uri="{FF2B5EF4-FFF2-40B4-BE49-F238E27FC236}">
                <a16:creationId xmlns:a16="http://schemas.microsoft.com/office/drawing/2014/main" id="{558B5E80-7C3B-4351-B16F-F74EFAB3EF80}"/>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28" name="source-credit">
            <a:extLst xmlns:a="http://schemas.openxmlformats.org/drawingml/2006/main">
              <a:ext uri="{FF2B5EF4-FFF2-40B4-BE49-F238E27FC236}">
                <a16:creationId xmlns:a16="http://schemas.microsoft.com/office/drawing/2014/main" id="{BB49C0D5-F263-4FFB-A00D-BB6F9D81F591}"/>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31f9098ea8094a3d"/>
              </a:rPr>
              <a:t>Geographical Association — classroom guidance — original guidance</a:t>
            </a:r>
          </a:p>
        </p:txBody>
      </p:sp>
    </p:spTree>
    <p:extLst>
      <p:ext uri="{BB962C8B-B14F-4D97-AF65-F5344CB8AC3E}">
        <p14:creationId xmlns:p14="http://schemas.microsoft.com/office/powerpoint/2010/main" val="11387943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2026-10-08T06:09:33.2470000Z</dcterms:created>
  <dcterms:modified xsi:type="dcterms:W3CDTF">2026-10-08T06:09:33.2470000Z</dcterms:modified>
</coreProperties>
</file>