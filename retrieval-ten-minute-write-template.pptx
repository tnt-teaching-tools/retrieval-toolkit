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52440c1923f4cce" /><Relationship Type="http://schemas.openxmlformats.org/officeDocument/2006/relationships/extended-properties" Target="/docProps/app.xml" Id="R09f6d2b0851f4884" /><Relationship Type="http://schemas.openxmlformats.org/officeDocument/2006/relationships/officeDocument" Target="/ppt/presentation.xml" Id="Ra2d33e08423542f6" /></Relationships>
</file>

<file path=ppt/presentation.xml><?xml version="1.0" encoding="utf-8"?>
<p:presentation xmlns:p="http://schemas.openxmlformats.org/presentationml/2006/main">
  <p:sldMasterIdLst>
    <p:sldMasterId xmlns:r="http://schemas.openxmlformats.org/officeDocument/2006/relationships" id="2147483648" r:id="R3490245867c749b5"/>
  </p:sldMasterIdLst>
  <p:notesMasterIdLst>
    <p:notesMasterId xmlns:r="http://schemas.openxmlformats.org/officeDocument/2006/relationships" r:id="R96ea748fdb1648bf"/>
  </p:notesMasterIdLst>
  <p:sldIdLst>
    <p:sldId xmlns:r="http://schemas.openxmlformats.org/officeDocument/2006/relationships" id="256" r:id="R898a54327b14495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80d330283324d41" /><Relationship Type="http://schemas.openxmlformats.org/officeDocument/2006/relationships/slideMaster" Target="/ppt/slideMasters/slideMaster1.xml" Id="R3490245867c749b5" /><Relationship Type="http://schemas.openxmlformats.org/officeDocument/2006/relationships/notesMaster" Target="/ppt/notesMasters/notesMaster1.xml" Id="R96ea748fdb1648bf" /><Relationship Type="http://schemas.openxmlformats.org/officeDocument/2006/relationships/presProps" Target="/ppt/presProps.xml" Id="R481df375f1e547d8" /><Relationship Type="http://schemas.openxmlformats.org/officeDocument/2006/relationships/tableStyles" Target="/ppt/tableStyles.xml" Id="Ra797a14747934640" /><Relationship Type="http://schemas.openxmlformats.org/officeDocument/2006/relationships/slide" Target="/ppt/slides/slide1.xml" Id="R898a54327b14495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caef320507b4c3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b1cca37d2284840" /><Relationship Type="http://schemas.openxmlformats.org/officeDocument/2006/relationships/notesMaster" Target="/ppt/notesMasters/notesMaster1.xml" Id="Rb9037d5958a942a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content. Duplicate the slide for more prompts or checked answers. All labels and response areas are editable. Keep answers hidden until each learner has attempted recall.</a:t>
            </a:r>
          </a:p>
          <a:p xmlns:a="http://schemas.openxmlformats.org/drawingml/2006/main">
            <a:r>
              <a:t/>
            </a:r>
          </a:p>
          <a:p xmlns:a="http://schemas.openxmlformats.org/drawingml/2006/main">
            <a:r>
              <a:t>For bingo, use your own checked clues. For loop cards, ensure each answer matches the previous card and the last question closes the loop. For card activities, print and cut the cards, keeping target words and answers hidden from the respondent. For cloze recall, use the same passage with progressively more gaps.</a:t>
            </a:r>
          </a:p>
          <a:p xmlns:a="http://schemas.openxmlformats.org/drawingml/2006/main">
            <a:r>
              <a:t/>
            </a:r>
          </a:p>
          <a:p xmlns:a="http://schemas.openxmlformats.org/drawingml/2006/main">
            <a:r>
              <a:t>SOURCE AND ACKNOWLEDGEMENT</a:t>
            </a:r>
          </a:p>
          <a:p xmlns:a="http://schemas.openxmlformats.org/drawingml/2006/main">
            <a:r>
              <a:t/>
            </a:r>
          </a:p>
          <a:p xmlns:a="http://schemas.openxmlformats.org/drawingml/2006/main">
            <a:r>
              <a:t>Tom Needham — 10-minute writes classroom example</a:t>
            </a:r>
          </a:p>
          <a:p xmlns:a="http://schemas.openxmlformats.org/drawingml/2006/main">
            <a:r>
              <a:t/>
            </a:r>
          </a:p>
          <a:p xmlns:a="http://schemas.openxmlformats.org/drawingml/2006/main">
            <a:r>
              <a:t>https://tomneedhamteach.wordpress.com/2023/02/03/explicit-instruction-stage-1-retrieval-practice-10-minute-writes/</a:t>
            </a:r>
          </a:p>
          <a:p xmlns:a="http://schemas.openxmlformats.org/drawingml/2006/main">
            <a:r>
              <a:t/>
            </a:r>
          </a:p>
          <a:p xmlns:a="http://schemas.openxmlformats.org/drawingml/2006/main">
            <a:r>
              <a:t>Needham describes ten-minute recall-and-application writes. This shorter classroom adaptation uses a brief closed-note plan, four minutes of writing and checked feedback.</a:t>
            </a:r>
          </a:p>
          <a:p xmlns:a="http://schemas.openxmlformats.org/drawingml/2006/main">
            <a:r>
              <a:t/>
            </a:r>
          </a:p>
          <a:p xmlns:a="http://schemas.openxmlformats.org/drawingml/2006/main">
            <a:r>
              <a:t>Independent classroom adaptation; the source retains its own rights.</a:t>
            </a:r>
          </a:p>
          <a:p xmlns:a="http://schemas.openxmlformats.org/drawingml/2006/main">
            <a:r>
              <a:t/>
            </a:r>
          </a:p>
          <a:p xmlns:a="http://schemas.openxmlformats.org/drawingml/2006/main">
            <a:r>
              <a:t>Full guide: https://tnt-teaching-tools.github.io/retrieval-toolkit/retrieval-ten-minute-write.html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d3601723e0f4d0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eba7c6d52c84fc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5b654dac28b4e6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f02b981f2f8424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0047160d99a48e1"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22092ab45fb479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27242F87-905B-4F2B-BE1F-936977E455DD}"/>
              </a:ext>
            </a:extLst>
          </p:cNvPr>
          <p:cNvSpPr>
            <a:spLocks xmlns:a="http://schemas.openxmlformats.org/drawingml/2006/main" noGrp="1"/>
          </p:cNvSpPr>
          <p:nvPr/>
        </p:nvSpPr>
        <p:spPr>
          <a:xfrm xmlns:a="http://schemas.openxmlformats.org/drawingml/2006/main">
            <a:off x="5791200" y="22098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4BD98E97-4E52-434B-A381-A4273309CA0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5E35D7FD-72FE-468E-89F4-FA07C55A549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A1F5EC98-B332-4C60-AC92-4C0893B743E9}"/>
              </a:ext>
            </a:extLst>
          </p:cNvPr>
          <p:cNvSpPr>
            <a:spLocks xmlns:a="http://schemas.openxmlformats.org/drawingml/2006/main" noGrp="1"/>
          </p:cNvSpPr>
          <p:nvPr/>
        </p:nvSpPr>
        <p:spPr>
          <a:xfrm xmlns:a="http://schemas.openxmlformats.org/drawingml/2006/main">
            <a:off x="5791200" y="24765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34E22616-78E8-428B-8FFD-BD12554E48C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D3B05B45-CA06-4DD7-9837-B653E16E4A33}"/>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1483976-C61E-4EEF-B502-520E2337A3E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C8FE5B40-0980-406D-81A3-94B82038F53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534DB576-6DD9-4643-9F19-1ECA6198119B}"/>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8381C995-7CFE-47E1-90C9-D2BFAC9DC3E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C26002D2-F2C0-45B8-9866-4E6D1490E83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78F29CD4-FA8F-4BBD-A170-10D797646F5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9E7F561C-5AE5-41A4-81BC-E9E918ECA8C0}"/>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4A37B16-7265-48FE-B92D-7845B1049CF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B6AC10D3-0834-4999-8F7C-78A7D20DCF8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b0db050957945e7" /><Relationship Type="http://schemas.openxmlformats.org/officeDocument/2006/relationships/slideLayout" Target="/ppt/slideLayouts/slideLayout1.xml" Id="Rc409ae995bc749d1" /><Relationship Type="http://schemas.openxmlformats.org/officeDocument/2006/relationships/slideLayout" Target="/ppt/slideLayouts/slideLayout2.xml" Id="R6b2c115d333e4644" /><Relationship Type="http://schemas.openxmlformats.org/officeDocument/2006/relationships/slideLayout" Target="/ppt/slideLayouts/slideLayout3.xml" Id="R722e0fae50064712" /><Relationship Type="http://schemas.openxmlformats.org/officeDocument/2006/relationships/slideLayout" Target="/ppt/slideLayouts/slideLayout4.xml" Id="R9265c93dbb3a4641" /><Relationship Type="http://schemas.openxmlformats.org/officeDocument/2006/relationships/slideLayout" Target="/ppt/slideLayouts/slideLayout5.xml" Id="Rc1e4b985f9bf475c" /><Relationship Type="http://schemas.openxmlformats.org/officeDocument/2006/relationships/slideLayout" Target="/ppt/slideLayouts/slideLayout6.xml" Id="Rc6d63cff465e4d8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409ae995bc749d1"/>
    <p:sldLayoutId xmlns:r="http://schemas.openxmlformats.org/officeDocument/2006/relationships" id="2147483650" r:id="R6b2c115d333e4644"/>
    <p:sldLayoutId xmlns:r="http://schemas.openxmlformats.org/officeDocument/2006/relationships" id="2147483651" r:id="R722e0fae50064712"/>
    <p:sldLayoutId xmlns:r="http://schemas.openxmlformats.org/officeDocument/2006/relationships" id="2147483652" r:id="R9265c93dbb3a4641"/>
    <p:sldLayoutId xmlns:r="http://schemas.openxmlformats.org/officeDocument/2006/relationships" id="2147483653" r:id="Rc1e4b985f9bf475c"/>
    <p:sldLayoutId xmlns:r="http://schemas.openxmlformats.org/officeDocument/2006/relationships" id="2147483654" r:id="Rc6d63cff465e4d8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0d3b50af2fc4f9b" /><Relationship Type="http://schemas.openxmlformats.org/officeDocument/2006/relationships/hyperlink" Target="https://tomneedhamteach.wordpress.com/2023/02/03/explicit-instruction-stage-1-retrieval-practice-10-minute-writes/" TargetMode="External" Id="Re93ca24c86a940bd" /><Relationship Type="http://schemas.openxmlformats.org/officeDocument/2006/relationships/notesSlide" Target="/ppt/notesSlides/notesSlide1.xml" Id="Rb5718328d8fd4a03" /></Relationships>
</file>

<file path=ppt/slides/slide1.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6E5409B-270F-47D2-AAEE-46C29289919E}"/>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3300" b="1">
                <a:solidFill>
                  <a:srgbClr val="263C3A"/>
                </a:solidFill>
                <a:latin typeface="DejaVu Sans"/>
                <a:ea typeface="DejaVu Sans"/>
                <a:cs typeface="DejaVu Sans"/>
              </a:defRPr>
            </a:pPr>
            <a:r>
              <a:rPr sz="3300" b="1">
                <a:solidFill>
                  <a:srgbClr val="263C3A"/>
                </a:solidFill>
                <a:latin typeface="DejaVu Sans"/>
                <a:ea typeface="DejaVu Sans"/>
                <a:cs typeface="DejaVu Sans"/>
              </a:rPr>
              <a:t>Short recall write</a:t>
            </a:r>
          </a:p>
        </p:txBody>
      </p:sp>
      <p:sp>
        <p:nvSpPr>
          <p:cNvPr id="2" name="">
            <a:extLst xmlns:a="http://schemas.openxmlformats.org/drawingml/2006/main">
              <a:ext uri="{FF2B5EF4-FFF2-40B4-BE49-F238E27FC236}">
                <a16:creationId xmlns:a16="http://schemas.microsoft.com/office/drawing/2014/main" id="{32ED3233-0A12-4FEE-A777-69146C424FA0}"/>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22EEC39D-9F1F-4F50-8902-4E1634B80D56}"/>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C3166C0-CF2E-4364-94B4-75FAFE955F67}"/>
              </a:ext>
            </a:extLst>
          </p:cNvPr>
          <p:cNvSpPr>
            <a:spLocks xmlns:a="http://schemas.openxmlformats.org/drawingml/2006/main" noGrp="1"/>
          </p:cNvSpPr>
          <p:nvPr/>
        </p:nvSpPr>
        <p:spPr>
          <a:xfrm xmlns:a="http://schemas.openxmlformats.org/drawingml/2006/main">
            <a:off x="609600" y="1828800"/>
            <a:ext cx="542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Recall independently without notes.</a:t>
            </a:r>
          </a:p>
        </p:txBody>
      </p:sp>
      <p:sp>
        <p:nvSpPr>
          <p:cNvPr id="5" name="">
            <a:extLst xmlns:a="http://schemas.openxmlformats.org/drawingml/2006/main">
              <a:ext uri="{FF2B5EF4-FFF2-40B4-BE49-F238E27FC236}">
                <a16:creationId xmlns:a16="http://schemas.microsoft.com/office/drawing/2014/main" id="{F05F69D6-409A-4406-9426-9C8B77E4A475}"/>
              </a:ext>
            </a:extLst>
          </p:cNvPr>
          <p:cNvSpPr>
            <a:spLocks xmlns:a="http://schemas.openxmlformats.org/drawingml/2006/main" noGrp="1"/>
          </p:cNvSpPr>
          <p:nvPr/>
        </p:nvSpPr>
        <p:spPr>
          <a:xfrm xmlns:a="http://schemas.openxmlformats.org/drawingml/2006/main">
            <a:off x="6191250" y="1828800"/>
            <a:ext cx="539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Check and improve after feedback.</a:t>
            </a:r>
          </a:p>
        </p:txBody>
      </p:sp>
      <p:sp>
        <p:nvSpPr>
          <p:cNvPr id="6" name="">
            <a:extLst xmlns:a="http://schemas.openxmlformats.org/drawingml/2006/main">
              <a:ext uri="{FF2B5EF4-FFF2-40B4-BE49-F238E27FC236}">
                <a16:creationId xmlns:a16="http://schemas.microsoft.com/office/drawing/2014/main" id="{1DBCE1CD-AE2E-496A-BC83-545369D7D766}"/>
              </a:ext>
            </a:extLst>
          </p:cNvPr>
          <p:cNvSpPr>
            <a:spLocks xmlns:a="http://schemas.openxmlformats.org/drawingml/2006/main" noGrp="1"/>
          </p:cNvSpPr>
          <p:nvPr/>
        </p:nvSpPr>
        <p:spPr>
          <a:xfrm xmlns:a="http://schemas.openxmlformats.org/drawingml/2006/main">
            <a:off x="609600" y="2247900"/>
            <a:ext cx="10972800" cy="33718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5B9EA412-D4CA-4817-9B44-8816F35B8E83}"/>
              </a:ext>
            </a:extLst>
          </p:cNvPr>
          <p:cNvSpPr>
            <a:spLocks xmlns:a="http://schemas.openxmlformats.org/drawingml/2006/main" noGrp="1"/>
          </p:cNvSpPr>
          <p:nvPr/>
        </p:nvSpPr>
        <p:spPr>
          <a:xfrm xmlns:a="http://schemas.openxmlformats.org/drawingml/2006/main">
            <a:off x="781050" y="2381250"/>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[Your focused recall question]</a:t>
            </a:r>
          </a:p>
        </p:txBody>
      </p:sp>
      <p:sp>
        <p:nvSpPr>
          <p:cNvPr id="8" name="">
            <a:extLst xmlns:a="http://schemas.openxmlformats.org/drawingml/2006/main">
              <a:ext uri="{FF2B5EF4-FFF2-40B4-BE49-F238E27FC236}">
                <a16:creationId xmlns:a16="http://schemas.microsoft.com/office/drawing/2014/main" id="{B9D61262-8918-4D53-A98D-FBB79058B2A8}"/>
              </a:ext>
            </a:extLst>
          </p:cNvPr>
          <p:cNvSpPr>
            <a:spLocks xmlns:a="http://schemas.openxmlformats.org/drawingml/2006/main" noGrp="1"/>
          </p:cNvSpPr>
          <p:nvPr/>
        </p:nvSpPr>
        <p:spPr>
          <a:xfrm xmlns:a="http://schemas.openxmlformats.org/drawingml/2006/main">
            <a:off x="781050" y="2857500"/>
            <a:ext cx="10629900"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9" name="">
            <a:extLst xmlns:a="http://schemas.openxmlformats.org/drawingml/2006/main">
              <a:ext uri="{FF2B5EF4-FFF2-40B4-BE49-F238E27FC236}">
                <a16:creationId xmlns:a16="http://schemas.microsoft.com/office/drawing/2014/main" id="{E6D87D2A-6D3B-497B-B5E1-D9A8AD8220C2}"/>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C089597C-2DC5-4020-A883-85BD44A0D3EA}"/>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11" name="">
            <a:extLst xmlns:a="http://schemas.openxmlformats.org/drawingml/2006/main">
              <a:ext uri="{FF2B5EF4-FFF2-40B4-BE49-F238E27FC236}">
                <a16:creationId xmlns:a16="http://schemas.microsoft.com/office/drawing/2014/main" id="{0476E7D3-DB0F-49E4-9CD5-1C208497AF4D}"/>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
        <p:nvSpPr>
          <p:cNvPr id="13" name="source-credit">
            <a:extLst xmlns:a="http://schemas.openxmlformats.org/drawingml/2006/main">
              <a:ext uri="{FF2B5EF4-FFF2-40B4-BE49-F238E27FC236}">
                <a16:creationId xmlns:a16="http://schemas.microsoft.com/office/drawing/2014/main" id="{78540D55-A96E-49E5-B5D1-4C1E3A1BE250}"/>
              </a:ext>
            </a:extLst>
          </p:cNvPr>
          <p:cNvSpPr>
            <a:spLocks xmlns:a="http://schemas.openxmlformats.org/drawingml/2006/main" noGrp="1"/>
          </p:cNvSpPr>
          <p:nvPr/>
        </p:nvSpPr>
        <p:spPr>
          <a:xfrm xmlns:a="http://schemas.openxmlformats.org/drawingml/2006/main">
            <a:off x="609600" y="6591300"/>
            <a:ext cx="10972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900">
                <a:solidFill>
                  <a:srgbClr val="687572"/>
                </a:solidFill>
                <a:latin typeface="DejaVu Sans"/>
                <a:ea typeface="DejaVu Sans"/>
                <a:cs typeface="DejaVu Sans"/>
              </a:defRPr>
            </a:pPr>
            <a:r>
              <a:rPr sz="900">
                <a:solidFill>
                  <a:srgbClr val="687572"/>
                </a:solidFill>
                <a:latin typeface="DejaVu Sans"/>
                <a:ea typeface="DejaVu Sans"/>
                <a:cs typeface="DejaVu Sans"/>
              </a:rPr>
              <a:t>Source: </a:t>
            </a:r>
            <a:r>
              <a:rPr sz="900">
                <a:solidFill>
                  <a:srgbClr val="687572"/>
                </a:solidFill>
                <a:latin typeface="DejaVu Sans"/>
                <a:ea typeface="DejaVu Sans"/>
                <a:cs typeface="DejaVu Sans"/>
                <a:hlinkClick xmlns:r="http://schemas.openxmlformats.org/officeDocument/2006/relationships" r:id="Re93ca24c86a940bd"/>
              </a:rPr>
              <a:t>Tom Needham — 10-minute writes classroom example — original guidance</a:t>
            </a:r>
          </a:p>
        </p:txBody>
      </p:sp>
    </p:spTree>
    <p:extLst>
      <p:ext uri="{BB962C8B-B14F-4D97-AF65-F5344CB8AC3E}">
        <p14:creationId xmlns:p14="http://schemas.microsoft.com/office/powerpoint/2010/main" val="95969752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2026-10-08T06:09:55.3300000Z</dcterms:created>
  <dcterms:modified xsi:type="dcterms:W3CDTF">2026-10-08T06:09:55.3300000Z</dcterms:modified>
</coreProperties>
</file>