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c6f2c6c323e4d52" /><Relationship Type="http://schemas.openxmlformats.org/officeDocument/2006/relationships/extended-properties" Target="/docProps/app.xml" Id="R04070d2ce5a848d3" /><Relationship Type="http://schemas.openxmlformats.org/officeDocument/2006/relationships/officeDocument" Target="/ppt/presentation.xml" Id="Rf1a79ec5b99a4d3f" /></Relationships>
</file>

<file path=ppt/presentation.xml><?xml version="1.0" encoding="utf-8"?>
<p:presentation xmlns:p="http://schemas.openxmlformats.org/presentationml/2006/main">
  <p:sldMasterIdLst>
    <p:sldMasterId xmlns:r="http://schemas.openxmlformats.org/officeDocument/2006/relationships" id="2147483648" r:id="Ra6b90a40a1a849fc"/>
  </p:sldMasterIdLst>
  <p:notesMasterIdLst>
    <p:notesMasterId xmlns:r="http://schemas.openxmlformats.org/officeDocument/2006/relationships" r:id="Rf4cf2777bf654c1b"/>
  </p:notesMasterIdLst>
  <p:sldIdLst>
    <p:sldId xmlns:r="http://schemas.openxmlformats.org/officeDocument/2006/relationships" id="256" r:id="Rb555a0822d1d4b6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5f13e8a0ede43f5" /><Relationship Type="http://schemas.openxmlformats.org/officeDocument/2006/relationships/slideMaster" Target="/ppt/slideMasters/slideMaster1.xml" Id="Ra6b90a40a1a849fc" /><Relationship Type="http://schemas.openxmlformats.org/officeDocument/2006/relationships/notesMaster" Target="/ppt/notesMasters/notesMaster1.xml" Id="Rf4cf2777bf654c1b" /><Relationship Type="http://schemas.openxmlformats.org/officeDocument/2006/relationships/presProps" Target="/ppt/presProps.xml" Id="Rfd6d2d21de024bfb" /><Relationship Type="http://schemas.openxmlformats.org/officeDocument/2006/relationships/tableStyles" Target="/ppt/tableStyles.xml" Id="R57d18c25f6464fde" /><Relationship Type="http://schemas.openxmlformats.org/officeDocument/2006/relationships/slide" Target="/ppt/slides/slide1.xml" Id="Rb555a0822d1d4b6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c05472138dc4de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92236336362475a" /><Relationship Type="http://schemas.openxmlformats.org/officeDocument/2006/relationships/notesMaster" Target="/ppt/notesMasters/notesMaster1.xml" Id="R21afa639bc6440e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Replace bracketed text with your own taught prompts and checked answers. All labels and response areas are editable. Give everyone an independent attempt before revealing answers. Duplicate the slide for answers or another prompt. For cards, print the prompt and answer on opposite sides or fold them to keep answers hidden.</a:t>
            </a:r>
          </a:p>
          <a:p xmlns:a="http://schemas.openxmlformats.org/drawingml/2006/main">
            <a:r>
              <a:t/>
            </a:r>
          </a:p>
          <a:p xmlns:a="http://schemas.openxmlformats.org/drawingml/2006/main">
            <a:r>
              <a:t>SOURCE AND ACKNOWLEDGEMENT</a:t>
            </a:r>
          </a:p>
          <a:p xmlns:a="http://schemas.openxmlformats.org/drawingml/2006/main">
            <a:r>
              <a:t/>
            </a:r>
          </a:p>
          <a:p xmlns:a="http://schemas.openxmlformats.org/drawingml/2006/main">
            <a:r>
              <a:t>Pooja K. Agarwal — classroom guidance</a:t>
            </a:r>
          </a:p>
          <a:p xmlns:a="http://schemas.openxmlformats.org/drawingml/2006/main">
            <a:r>
              <a:t/>
            </a:r>
          </a:p>
          <a:p xmlns:a="http://schemas.openxmlformats.org/drawingml/2006/main">
            <a:r>
              <a:t>https://www.retrievalpractice.org/strategies/2017/free-recall</a:t>
            </a:r>
          </a:p>
          <a:p xmlns:a="http://schemas.openxmlformats.org/drawingml/2006/main">
            <a:r>
              <a:t/>
            </a:r>
          </a:p>
          <a:p xmlns:a="http://schemas.openxmlformats.org/drawingml/2006/main">
            <a:r>
              <a:t>Free recall is a longstanding research method. Credit here recognises Agarwal’s classroom explanation, rather than claiming she invented free recall.</a:t>
            </a:r>
          </a:p>
          <a:p xmlns:a="http://schemas.openxmlformats.org/drawingml/2006/main">
            <a:r>
              <a:t/>
            </a:r>
          </a:p>
          <a:p xmlns:a="http://schemas.openxmlformats.org/drawingml/2006/main">
            <a:r>
              <a:t>Independent classroom adaptation; the source retains its own rights.</a:t>
            </a:r>
          </a:p>
          <a:p xmlns:a="http://schemas.openxmlformats.org/drawingml/2006/main">
            <a:r>
              <a:t/>
            </a:r>
          </a:p>
          <a:p xmlns:a="http://schemas.openxmlformats.org/drawingml/2006/main">
            <a:r>
              <a:t>Full guide: https://tnt-teaching-tools.github.io/retrieval-toolkit/retrieval-brain-dump.html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884cfd32d46406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60169120e0f486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5d97e879a454e3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016e7f6135b491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b10ff67b5ab428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6d4f51ef15d478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27242F87-905B-4F2B-BE1F-936977E455DD}"/>
              </a:ext>
            </a:extLst>
          </p:cNvPr>
          <p:cNvSpPr>
            <a:spLocks xmlns:a="http://schemas.openxmlformats.org/drawingml/2006/main" noGrp="1"/>
          </p:cNvSpPr>
          <p:nvPr/>
        </p:nvSpPr>
        <p:spPr>
          <a:xfrm xmlns:a="http://schemas.openxmlformats.org/drawingml/2006/main">
            <a:off x="5791200" y="22098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4BD98E97-4E52-434B-A381-A4273309CA0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3" name="Subtitle">
            <a:extLst xmlns:a="http://schemas.openxmlformats.org/drawingml/2006/main">
              <a:ext uri="{FF2B5EF4-FFF2-40B4-BE49-F238E27FC236}">
                <a16:creationId xmlns:a16="http://schemas.microsoft.com/office/drawing/2014/main" id="{5E35D7FD-72FE-468E-89F4-FA07C55A549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3" name="Accent rule">
            <a:extLst xmlns:a="http://schemas.openxmlformats.org/drawingml/2006/main">
              <a:ext uri="{FF2B5EF4-FFF2-40B4-BE49-F238E27FC236}">
                <a16:creationId xmlns:a16="http://schemas.microsoft.com/office/drawing/2014/main" id="{A1F5EC98-B332-4C60-AC92-4C0893B743E9}"/>
              </a:ext>
            </a:extLst>
          </p:cNvPr>
          <p:cNvSpPr>
            <a:spLocks xmlns:a="http://schemas.openxmlformats.org/drawingml/2006/main" noGrp="1"/>
          </p:cNvSpPr>
          <p:nvPr/>
        </p:nvSpPr>
        <p:spPr>
          <a:xfrm xmlns:a="http://schemas.openxmlformats.org/drawingml/2006/main">
            <a:off x="5791200" y="24765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Section title">
            <a:extLst xmlns:a="http://schemas.openxmlformats.org/drawingml/2006/main">
              <a:ext uri="{FF2B5EF4-FFF2-40B4-BE49-F238E27FC236}">
                <a16:creationId xmlns:a16="http://schemas.microsoft.com/office/drawing/2014/main" id="{34E22616-78E8-428B-8FFD-BD12554E48C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D3B05B45-CA06-4DD7-9837-B653E16E4A33}"/>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51483976-C61E-4EEF-B502-520E2337A3E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3" name="Body">
            <a:extLst xmlns:a="http://schemas.openxmlformats.org/drawingml/2006/main">
              <a:ext uri="{FF2B5EF4-FFF2-40B4-BE49-F238E27FC236}">
                <a16:creationId xmlns:a16="http://schemas.microsoft.com/office/drawing/2014/main" id="{C8FE5B40-0980-406D-81A3-94B82038F53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5" name="Accent rule">
            <a:extLst xmlns:a="http://schemas.openxmlformats.org/drawingml/2006/main">
              <a:ext uri="{FF2B5EF4-FFF2-40B4-BE49-F238E27FC236}">
                <a16:creationId xmlns:a16="http://schemas.microsoft.com/office/drawing/2014/main" id="{534DB576-6DD9-4643-9F19-1ECA6198119B}"/>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8381C995-7CFE-47E1-90C9-D2BFAC9DC3E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C26002D2-F2C0-45B8-9866-4E6D1490E83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4" name="Right column">
            <a:extLst xmlns:a="http://schemas.openxmlformats.org/drawingml/2006/main">
              <a:ext uri="{FF2B5EF4-FFF2-40B4-BE49-F238E27FC236}">
                <a16:creationId xmlns:a16="http://schemas.microsoft.com/office/drawing/2014/main" id="{78F29CD4-FA8F-4BBD-A170-10D797646F5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9E7F561C-5AE5-41A4-81BC-E9E918ECA8C0}"/>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54A37B16-7265-48FE-B92D-7845B1049CF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B6AC10D3-0834-4999-8F7C-78A7D20DCF8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0c67ae054a24b0e" /><Relationship Type="http://schemas.openxmlformats.org/officeDocument/2006/relationships/slideLayout" Target="/ppt/slideLayouts/slideLayout1.xml" Id="R83f726d654994f52" /><Relationship Type="http://schemas.openxmlformats.org/officeDocument/2006/relationships/slideLayout" Target="/ppt/slideLayouts/slideLayout2.xml" Id="Ree0ffc06196448ce" /><Relationship Type="http://schemas.openxmlformats.org/officeDocument/2006/relationships/slideLayout" Target="/ppt/slideLayouts/slideLayout3.xml" Id="R41945343a68d42eb" /><Relationship Type="http://schemas.openxmlformats.org/officeDocument/2006/relationships/slideLayout" Target="/ppt/slideLayouts/slideLayout4.xml" Id="R57ec64c86a3849f0" /><Relationship Type="http://schemas.openxmlformats.org/officeDocument/2006/relationships/slideLayout" Target="/ppt/slideLayouts/slideLayout5.xml" Id="Rb699fea769fa4b8d" /><Relationship Type="http://schemas.openxmlformats.org/officeDocument/2006/relationships/slideLayout" Target="/ppt/slideLayouts/slideLayout6.xml" Id="R320a4f6168a0464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3f726d654994f52"/>
    <p:sldLayoutId xmlns:r="http://schemas.openxmlformats.org/officeDocument/2006/relationships" id="2147483650" r:id="Ree0ffc06196448ce"/>
    <p:sldLayoutId xmlns:r="http://schemas.openxmlformats.org/officeDocument/2006/relationships" id="2147483651" r:id="R41945343a68d42eb"/>
    <p:sldLayoutId xmlns:r="http://schemas.openxmlformats.org/officeDocument/2006/relationships" id="2147483652" r:id="R57ec64c86a3849f0"/>
    <p:sldLayoutId xmlns:r="http://schemas.openxmlformats.org/officeDocument/2006/relationships" id="2147483653" r:id="Rb699fea769fa4b8d"/>
    <p:sldLayoutId xmlns:r="http://schemas.openxmlformats.org/officeDocument/2006/relationships" id="2147483654" r:id="R320a4f6168a0464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e8949522fca48bb" /><Relationship Type="http://schemas.openxmlformats.org/officeDocument/2006/relationships/hyperlink" Target="https://www.retrievalpractice.org/strategies/2017/free-recall" TargetMode="External" Id="R5581d40919a64916" /><Relationship Type="http://schemas.openxmlformats.org/officeDocument/2006/relationships/notesSlide" Target="/ppt/notesSlides/notesSlide1.xml" Id="Rbfd82e0c30c04feb" /></Relationships>
</file>

<file path=ppt/slides/slide1.xml><?xml version="1.0" encoding="utf-8"?>
<p:sld xmlns:p="http://schemas.openxmlformats.org/presentationml/2006/main">
  <p:cSld>
    <p:bg>
      <p:bgPr>
        <a:solidFill xmlns:a="http://schemas.openxmlformats.org/drawingml/2006/main">
          <a:srgbClr val="FFFDF5"/>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35ADE340-A98E-4AF1-80C4-500860FD10A7}"/>
              </a:ext>
            </a:extLst>
          </p:cNvPr>
          <p:cNvSpPr>
            <a:spLocks xmlns:a="http://schemas.openxmlformats.org/drawingml/2006/main" noGrp="1"/>
          </p:cNvSpPr>
          <p:nvPr/>
        </p:nvSpPr>
        <p:spPr>
          <a:xfrm xmlns:a="http://schemas.openxmlformats.org/drawingml/2006/main">
            <a:off x="609600" y="3238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450" b="1">
                <a:solidFill>
                  <a:srgbClr val="263C3A"/>
                </a:solidFill>
                <a:latin typeface="DejaVu Sans"/>
                <a:ea typeface="DejaVu Sans"/>
                <a:cs typeface="DejaVu Sans"/>
              </a:defRPr>
            </a:pPr>
            <a:r>
              <a:rPr sz="3450" b="1">
                <a:solidFill>
                  <a:srgbClr val="263C3A"/>
                </a:solidFill>
                <a:latin typeface="DejaVu Sans"/>
                <a:ea typeface="DejaVu Sans"/>
                <a:cs typeface="DejaVu Sans"/>
              </a:rPr>
              <a:t>Brain dump</a:t>
            </a:r>
          </a:p>
        </p:txBody>
      </p:sp>
      <p:sp>
        <p:nvSpPr>
          <p:cNvPr id="2" name="">
            <a:extLst xmlns:a="http://schemas.openxmlformats.org/drawingml/2006/main">
              <a:ext uri="{FF2B5EF4-FFF2-40B4-BE49-F238E27FC236}">
                <a16:creationId xmlns:a16="http://schemas.microsoft.com/office/drawing/2014/main" id="{BED7E4D4-3006-4EE7-9CB8-57619850A63F}"/>
              </a:ext>
            </a:extLst>
          </p:cNvPr>
          <p:cNvSpPr>
            <a:spLocks xmlns:a="http://schemas.openxmlformats.org/drawingml/2006/main" noGrp="1"/>
          </p:cNvSpPr>
          <p:nvPr/>
        </p:nvSpPr>
        <p:spPr>
          <a:xfrm xmlns:a="http://schemas.openxmlformats.org/drawingml/2006/main">
            <a:off x="609600" y="10858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75" b="0">
                <a:solidFill>
                  <a:srgbClr val="687572"/>
                </a:solidFill>
                <a:latin typeface="DejaVu Sans"/>
                <a:ea typeface="DejaVu Sans"/>
                <a:cs typeface="DejaVu Sans"/>
              </a:defRPr>
            </a:pPr>
            <a:r>
              <a:rPr sz="2175" b="0">
                <a:solidFill>
                  <a:srgbClr val="687572"/>
                </a:solidFill>
                <a:latin typeface="DejaVu Sans"/>
                <a:ea typeface="DejaVu Sans"/>
                <a:cs typeface="DejaVu Sans"/>
              </a:rPr>
              <a:t>[Your topic or retrieval focus]</a:t>
            </a:r>
          </a:p>
        </p:txBody>
      </p:sp>
      <p:sp>
        <p:nvSpPr>
          <p:cNvPr id="3" name="">
            <a:extLst xmlns:a="http://schemas.openxmlformats.org/drawingml/2006/main">
              <a:ext uri="{FF2B5EF4-FFF2-40B4-BE49-F238E27FC236}">
                <a16:creationId xmlns:a16="http://schemas.microsoft.com/office/drawing/2014/main" id="{0934B3D0-1ED8-4469-958A-C6E1EC348A7B}"/>
              </a:ext>
            </a:extLst>
          </p:cNvPr>
          <p:cNvSpPr>
            <a:spLocks xmlns:a="http://schemas.openxmlformats.org/drawingml/2006/main" noGrp="1"/>
          </p:cNvSpPr>
          <p:nvPr/>
        </p:nvSpPr>
        <p:spPr>
          <a:xfrm xmlns:a="http://schemas.openxmlformats.org/drawingml/2006/main">
            <a:off x="609600" y="1676400"/>
            <a:ext cx="10972800" cy="19050"/>
          </a:xfrm>
          <a:prstGeom xmlns:a="http://schemas.openxmlformats.org/drawingml/2006/main" prst="rect">
            <a:avLst/>
          </a:prstGeom>
          <a:solidFill xmlns:a="http://schemas.openxmlformats.org/drawingml/2006/main">
            <a:srgbClr val="A9BDB7"/>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66B70D9-AE15-46CE-AF5D-15366041CE45}"/>
              </a:ext>
            </a:extLst>
          </p:cNvPr>
          <p:cNvSpPr>
            <a:spLocks xmlns:a="http://schemas.openxmlformats.org/drawingml/2006/main" noGrp="1"/>
          </p:cNvSpPr>
          <p:nvPr/>
        </p:nvSpPr>
        <p:spPr>
          <a:xfrm xmlns:a="http://schemas.openxmlformats.org/drawingml/2006/main">
            <a:off x="609600" y="1828800"/>
            <a:ext cx="447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1">
                <a:solidFill>
                  <a:srgbClr val="263C3A"/>
                </a:solidFill>
                <a:latin typeface="DejaVu Sans"/>
                <a:ea typeface="DejaVu Sans"/>
                <a:cs typeface="DejaVu Sans"/>
              </a:defRPr>
            </a:pPr>
            <a:r>
              <a:rPr sz="1575" b="1">
                <a:solidFill>
                  <a:srgbClr val="263C3A"/>
                </a:solidFill>
                <a:latin typeface="DejaVu Sans"/>
                <a:ea typeface="DejaVu Sans"/>
                <a:cs typeface="DejaVu Sans"/>
              </a:rPr>
              <a:t>01  Recall from memory</a:t>
            </a:r>
          </a:p>
        </p:txBody>
      </p:sp>
      <p:sp>
        <p:nvSpPr>
          <p:cNvPr id="5" name="">
            <a:extLst xmlns:a="http://schemas.openxmlformats.org/drawingml/2006/main">
              <a:ext uri="{FF2B5EF4-FFF2-40B4-BE49-F238E27FC236}">
                <a16:creationId xmlns:a16="http://schemas.microsoft.com/office/drawing/2014/main" id="{1F493A79-BF7B-4193-B2AE-94D3C2C5852B}"/>
              </a:ext>
            </a:extLst>
          </p:cNvPr>
          <p:cNvSpPr>
            <a:spLocks xmlns:a="http://schemas.openxmlformats.org/drawingml/2006/main" noGrp="1"/>
          </p:cNvSpPr>
          <p:nvPr/>
        </p:nvSpPr>
        <p:spPr>
          <a:xfrm xmlns:a="http://schemas.openxmlformats.org/drawingml/2006/main">
            <a:off x="6286500" y="1828800"/>
            <a:ext cx="504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1">
                <a:solidFill>
                  <a:srgbClr val="263C3A"/>
                </a:solidFill>
                <a:latin typeface="DejaVu Sans"/>
                <a:ea typeface="DejaVu Sans"/>
                <a:cs typeface="DejaVu Sans"/>
              </a:defRPr>
            </a:pPr>
            <a:r>
              <a:rPr sz="1575" b="1">
                <a:solidFill>
                  <a:srgbClr val="263C3A"/>
                </a:solidFill>
                <a:latin typeface="DejaVu Sans"/>
                <a:ea typeface="DejaVu Sans"/>
                <a:cs typeface="DejaVu Sans"/>
              </a:rPr>
              <a:t>02  Check and improve</a:t>
            </a:r>
          </a:p>
        </p:txBody>
      </p:sp>
      <p:sp>
        <p:nvSpPr>
          <p:cNvPr id="6" name="">
            <a:extLst xmlns:a="http://schemas.openxmlformats.org/drawingml/2006/main">
              <a:ext uri="{FF2B5EF4-FFF2-40B4-BE49-F238E27FC236}">
                <a16:creationId xmlns:a16="http://schemas.microsoft.com/office/drawing/2014/main" id="{471E217B-17E7-4A3B-A66E-16EC849C0C86}"/>
              </a:ext>
            </a:extLst>
          </p:cNvPr>
          <p:cNvSpPr>
            <a:spLocks xmlns:a="http://schemas.openxmlformats.org/drawingml/2006/main" noGrp="1"/>
          </p:cNvSpPr>
          <p:nvPr/>
        </p:nvSpPr>
        <p:spPr>
          <a:xfrm xmlns:a="http://schemas.openxmlformats.org/drawingml/2006/main">
            <a:off x="609600" y="2247900"/>
            <a:ext cx="10972800" cy="2762250"/>
          </a:xfrm>
          <a:prstGeom xmlns:a="http://schemas.openxmlformats.org/drawingml/2006/main" prst="rect">
            <a:avLst/>
          </a:prstGeom>
          <a:solidFill xmlns:a="http://schemas.openxmlformats.org/drawingml/2006/main">
            <a:srgbClr val="EDF2F5"/>
          </a:solidFill>
          <a:ln xmlns:a="http://schemas.openxmlformats.org/drawingml/2006/main" w="9525">
            <a:solidFill>
              <a:srgbClr val="D4DFDB"/>
            </a:solidFill>
          </a:ln>
        </p:spPr>
      </p:sp>
      <p:sp>
        <p:nvSpPr>
          <p:cNvPr id="7" name="">
            <a:extLst xmlns:a="http://schemas.openxmlformats.org/drawingml/2006/main">
              <a:ext uri="{FF2B5EF4-FFF2-40B4-BE49-F238E27FC236}">
                <a16:creationId xmlns:a16="http://schemas.microsoft.com/office/drawing/2014/main" id="{8CA1DA19-54D4-431C-B47A-D88990BD20E2}"/>
              </a:ext>
            </a:extLst>
          </p:cNvPr>
          <p:cNvSpPr>
            <a:spLocks xmlns:a="http://schemas.openxmlformats.org/drawingml/2006/main" noGrp="1"/>
          </p:cNvSpPr>
          <p:nvPr/>
        </p:nvSpPr>
        <p:spPr>
          <a:xfrm xmlns:a="http://schemas.openxmlformats.org/drawingml/2006/main">
            <a:off x="800100" y="2419350"/>
            <a:ext cx="381000" cy="381000"/>
          </a:xfrm>
          <a:prstGeom xmlns:a="http://schemas.openxmlformats.org/drawingml/2006/main" prst="ellipse">
            <a:avLst/>
          </a:prstGeom>
          <a:solidFill xmlns:a="http://schemas.openxmlformats.org/drawingml/2006/main">
            <a:srgbClr val="FFFFFF"/>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06422415-EC80-4A97-BCFE-272D0172F166}"/>
              </a:ext>
            </a:extLst>
          </p:cNvPr>
          <p:cNvSpPr>
            <a:spLocks xmlns:a="http://schemas.openxmlformats.org/drawingml/2006/main" noGrp="1"/>
          </p:cNvSpPr>
          <p:nvPr/>
        </p:nvSpPr>
        <p:spPr>
          <a:xfrm xmlns:a="http://schemas.openxmlformats.org/drawingml/2006/main">
            <a:off x="857250" y="2486025"/>
            <a:ext cx="342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rgbClr val="263C3A"/>
                </a:solidFill>
                <a:latin typeface="DejaVu Sans"/>
                <a:ea typeface="DejaVu Sans"/>
                <a:cs typeface="DejaVu Sans"/>
              </a:defRPr>
            </a:pPr>
            <a:r>
              <a:rPr sz="1350" b="1">
                <a:solidFill>
                  <a:srgbClr val="263C3A"/>
                </a:solidFill>
                <a:latin typeface="DejaVu Sans"/>
                <a:ea typeface="DejaVu Sans"/>
                <a:cs typeface="DejaVu Sans"/>
              </a:rPr>
              <a:t>01</a:t>
            </a:r>
          </a:p>
        </p:txBody>
      </p:sp>
      <p:sp>
        <p:nvSpPr>
          <p:cNvPr id="9" name="">
            <a:extLst xmlns:a="http://schemas.openxmlformats.org/drawingml/2006/main">
              <a:ext uri="{FF2B5EF4-FFF2-40B4-BE49-F238E27FC236}">
                <a16:creationId xmlns:a16="http://schemas.microsoft.com/office/drawing/2014/main" id="{ADE85D0B-979B-4C47-BB4E-6F717DC943D9}"/>
              </a:ext>
            </a:extLst>
          </p:cNvPr>
          <p:cNvSpPr>
            <a:spLocks xmlns:a="http://schemas.openxmlformats.org/drawingml/2006/main" noGrp="1"/>
          </p:cNvSpPr>
          <p:nvPr/>
        </p:nvSpPr>
        <p:spPr>
          <a:xfrm xmlns:a="http://schemas.openxmlformats.org/drawingml/2006/main">
            <a:off x="1352550" y="2466975"/>
            <a:ext cx="100393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725" b="1">
                <a:solidFill>
                  <a:srgbClr val="263C3A"/>
                </a:solidFill>
                <a:latin typeface="DejaVu Sans"/>
                <a:ea typeface="DejaVu Sans"/>
                <a:cs typeface="DejaVu Sans"/>
              </a:defRPr>
            </a:pPr>
            <a:r>
              <a:rPr sz="1725" b="1">
                <a:solidFill>
                  <a:srgbClr val="263C3A"/>
                </a:solidFill>
                <a:latin typeface="DejaVu Sans"/>
                <a:ea typeface="DejaVu Sans"/>
                <a:cs typeface="DejaVu Sans"/>
              </a:rPr>
              <a:t>What can you remember?</a:t>
            </a:r>
          </a:p>
        </p:txBody>
      </p:sp>
      <p:sp>
        <p:nvSpPr>
          <p:cNvPr id="10" name="">
            <a:extLst xmlns:a="http://schemas.openxmlformats.org/drawingml/2006/main">
              <a:ext uri="{FF2B5EF4-FFF2-40B4-BE49-F238E27FC236}">
                <a16:creationId xmlns:a16="http://schemas.microsoft.com/office/drawing/2014/main" id="{A82ED4D3-A921-491F-9E8F-062622355DFA}"/>
              </a:ext>
            </a:extLst>
          </p:cNvPr>
          <p:cNvSpPr>
            <a:spLocks xmlns:a="http://schemas.openxmlformats.org/drawingml/2006/main" noGrp="1"/>
          </p:cNvSpPr>
          <p:nvPr/>
        </p:nvSpPr>
        <p:spPr>
          <a:xfrm xmlns:a="http://schemas.openxmlformats.org/drawingml/2006/main">
            <a:off x="819150" y="2990850"/>
            <a:ext cx="1055370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950" b="0">
                <a:solidFill>
                  <a:srgbClr val="687572"/>
                </a:solidFill>
                <a:latin typeface="DejaVu Sans"/>
                <a:ea typeface="DejaVu Sans"/>
                <a:cs typeface="DejaVu Sans"/>
              </a:defRPr>
            </a:pPr>
            <a:r>
              <a:rPr sz="1950" b="0">
                <a:solidFill>
                  <a:srgbClr val="687572"/>
                </a:solidFill>
                <a:latin typeface="DejaVu Sans"/>
                <a:ea typeface="DejaVu Sans"/>
                <a:cs typeface="DejaVu Sans"/>
              </a:rPr>
              <a:t>[Your recall focus or headings]</a:t>
            </a:r>
          </a:p>
        </p:txBody>
      </p:sp>
      <p:sp>
        <p:nvSpPr>
          <p:cNvPr id="11" name="">
            <a:extLst xmlns:a="http://schemas.openxmlformats.org/drawingml/2006/main">
              <a:ext uri="{FF2B5EF4-FFF2-40B4-BE49-F238E27FC236}">
                <a16:creationId xmlns:a16="http://schemas.microsoft.com/office/drawing/2014/main" id="{5C7D2C46-3E82-4394-B19A-2E1D95F70264}"/>
              </a:ext>
            </a:extLst>
          </p:cNvPr>
          <p:cNvSpPr>
            <a:spLocks xmlns:a="http://schemas.openxmlformats.org/drawingml/2006/main" noGrp="1"/>
          </p:cNvSpPr>
          <p:nvPr/>
        </p:nvSpPr>
        <p:spPr>
          <a:xfrm xmlns:a="http://schemas.openxmlformats.org/drawingml/2006/main">
            <a:off x="609600" y="5267325"/>
            <a:ext cx="10972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950" b="0">
                <a:solidFill>
                  <a:srgbClr val="263C3A"/>
                </a:solidFill>
                <a:latin typeface="DejaVu Sans"/>
                <a:ea typeface="DejaVu Sans"/>
                <a:cs typeface="DejaVu Sans"/>
              </a:defRPr>
            </a:pPr>
            <a:r>
              <a:rPr sz="1950" b="0">
                <a:solidFill>
                  <a:srgbClr val="263C3A"/>
                </a:solidFill>
                <a:latin typeface="DejaVu Sans"/>
                <a:ea typeface="DejaVu Sans"/>
                <a:cs typeface="DejaVu Sans"/>
              </a:rPr>
              <a:t>Write, sketch and connect ideas from memory.</a:t>
            </a:r>
          </a:p>
        </p:txBody>
      </p:sp>
      <p:sp>
        <p:nvSpPr>
          <p:cNvPr id="12" name="">
            <a:extLst xmlns:a="http://schemas.openxmlformats.org/drawingml/2006/main">
              <a:ext uri="{FF2B5EF4-FFF2-40B4-BE49-F238E27FC236}">
                <a16:creationId xmlns:a16="http://schemas.microsoft.com/office/drawing/2014/main" id="{C6CE889B-5008-4A98-AB48-3962B891ECF7}"/>
              </a:ext>
            </a:extLst>
          </p:cNvPr>
          <p:cNvSpPr>
            <a:spLocks xmlns:a="http://schemas.openxmlformats.org/drawingml/2006/main" noGrp="1"/>
          </p:cNvSpPr>
          <p:nvPr/>
        </p:nvSpPr>
        <p:spPr>
          <a:xfrm xmlns:a="http://schemas.openxmlformats.org/drawingml/2006/main">
            <a:off x="609600" y="5953125"/>
            <a:ext cx="10972800" cy="9525"/>
          </a:xfrm>
          <a:prstGeom xmlns:a="http://schemas.openxmlformats.org/drawingml/2006/main" prst="rect">
            <a:avLst/>
          </a:prstGeom>
          <a:solidFill xmlns:a="http://schemas.openxmlformats.org/drawingml/2006/main">
            <a:srgbClr val="A9BDB7"/>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FD047181-144B-4BF5-AE08-6C85E81D7AF3}"/>
              </a:ext>
            </a:extLst>
          </p:cNvPr>
          <p:cNvSpPr>
            <a:spLocks xmlns:a="http://schemas.openxmlformats.org/drawingml/2006/main" noGrp="1"/>
          </p:cNvSpPr>
          <p:nvPr/>
        </p:nvSpPr>
        <p:spPr>
          <a:xfrm xmlns:a="http://schemas.openxmlformats.org/drawingml/2006/main">
            <a:off x="609600" y="6191250"/>
            <a:ext cx="323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Time: [Minutes]</a:t>
            </a:r>
          </a:p>
        </p:txBody>
      </p:sp>
      <p:sp>
        <p:nvSpPr>
          <p:cNvPr id="14" name="">
            <a:extLst xmlns:a="http://schemas.openxmlformats.org/drawingml/2006/main">
              <a:ext uri="{FF2B5EF4-FFF2-40B4-BE49-F238E27FC236}">
                <a16:creationId xmlns:a16="http://schemas.microsoft.com/office/drawing/2014/main" id="{91104FB0-7577-47C5-B781-8726ACEAF78C}"/>
              </a:ext>
            </a:extLst>
          </p:cNvPr>
          <p:cNvSpPr>
            <a:spLocks xmlns:a="http://schemas.openxmlformats.org/drawingml/2006/main" noGrp="1"/>
          </p:cNvSpPr>
          <p:nvPr/>
        </p:nvSpPr>
        <p:spPr>
          <a:xfrm xmlns:a="http://schemas.openxmlformats.org/drawingml/2006/main">
            <a:off x="4286250" y="6191250"/>
            <a:ext cx="72961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Feedback: [Your checking routine]</a:t>
            </a:r>
          </a:p>
        </p:txBody>
      </p:sp>
      <p:sp>
        <p:nvSpPr>
          <p:cNvPr id="16" name="source-credit">
            <a:extLst xmlns:a="http://schemas.openxmlformats.org/drawingml/2006/main">
              <a:ext uri="{FF2B5EF4-FFF2-40B4-BE49-F238E27FC236}">
                <a16:creationId xmlns:a16="http://schemas.microsoft.com/office/drawing/2014/main" id="{870E99D9-63E5-4C82-B0A5-F4883A14CCF8}"/>
              </a:ext>
            </a:extLst>
          </p:cNvPr>
          <p:cNvSpPr>
            <a:spLocks xmlns:a="http://schemas.openxmlformats.org/drawingml/2006/main" noGrp="1"/>
          </p:cNvSpPr>
          <p:nvPr/>
        </p:nvSpPr>
        <p:spPr>
          <a:xfrm xmlns:a="http://schemas.openxmlformats.org/drawingml/2006/main">
            <a:off x="609600" y="6591300"/>
            <a:ext cx="10972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900">
                <a:solidFill>
                  <a:srgbClr val="687572"/>
                </a:solidFill>
                <a:latin typeface="DejaVu Sans"/>
                <a:ea typeface="DejaVu Sans"/>
                <a:cs typeface="DejaVu Sans"/>
              </a:defRPr>
            </a:pPr>
            <a:r>
              <a:rPr sz="900">
                <a:solidFill>
                  <a:srgbClr val="687572"/>
                </a:solidFill>
                <a:latin typeface="DejaVu Sans"/>
                <a:ea typeface="DejaVu Sans"/>
                <a:cs typeface="DejaVu Sans"/>
              </a:rPr>
              <a:t>Source: </a:t>
            </a:r>
            <a:r>
              <a:rPr sz="900">
                <a:solidFill>
                  <a:srgbClr val="687572"/>
                </a:solidFill>
                <a:latin typeface="DejaVu Sans"/>
                <a:ea typeface="DejaVu Sans"/>
                <a:cs typeface="DejaVu Sans"/>
                <a:hlinkClick xmlns:r="http://schemas.openxmlformats.org/officeDocument/2006/relationships" r:id="R5581d40919a64916"/>
              </a:rPr>
              <a:t>Pooja K. Agarwal — classroom guidance — original guidance</a:t>
            </a:r>
          </a:p>
        </p:txBody>
      </p:sp>
    </p:spTree>
    <p:extLst>
      <p:ext uri="{BB962C8B-B14F-4D97-AF65-F5344CB8AC3E}">
        <p14:creationId xmlns:p14="http://schemas.microsoft.com/office/powerpoint/2010/main" val="3139585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2026-10-08T06:08:23.2230000Z</dcterms:created>
  <dcterms:modified xsi:type="dcterms:W3CDTF">2026-10-08T06:08:23.2230000Z</dcterms:modified>
</coreProperties>
</file>