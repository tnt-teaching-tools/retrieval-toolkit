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428e9d75fd42f3" /><Relationship Type="http://schemas.openxmlformats.org/officeDocument/2006/relationships/extended-properties" Target="/docProps/app.xml" Id="R07a882ba02594e9d" /><Relationship Type="http://schemas.openxmlformats.org/officeDocument/2006/relationships/officeDocument" Target="/ppt/presentation.xml" Id="R7419ffcf37a340b3" /></Relationships>
</file>

<file path=ppt/presentation.xml><?xml version="1.0" encoding="utf-8"?>
<p:presentation xmlns:p="http://schemas.openxmlformats.org/presentationml/2006/main">
  <p:sldMasterIdLst>
    <p:sldMasterId xmlns:r="http://schemas.openxmlformats.org/officeDocument/2006/relationships" id="2147483648" r:id="R0b33d9f897cb481c"/>
  </p:sldMasterIdLst>
  <p:notesMasterIdLst>
    <p:notesMasterId xmlns:r="http://schemas.openxmlformats.org/officeDocument/2006/relationships" r:id="R2a2ef0fc80c241ab"/>
  </p:notesMasterIdLst>
  <p:sldIdLst>
    <p:sldId xmlns:r="http://schemas.openxmlformats.org/officeDocument/2006/relationships" id="256" r:id="Rcf6426c147814c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374efe74794353" /><Relationship Type="http://schemas.openxmlformats.org/officeDocument/2006/relationships/slideMaster" Target="/ppt/slideMasters/slideMaster1.xml" Id="R0b33d9f897cb481c" /><Relationship Type="http://schemas.openxmlformats.org/officeDocument/2006/relationships/notesMaster" Target="/ppt/notesMasters/notesMaster1.xml" Id="R2a2ef0fc80c241ab" /><Relationship Type="http://schemas.openxmlformats.org/officeDocument/2006/relationships/presProps" Target="/ppt/presProps.xml" Id="Rfaf9f5e2bbe24375" /><Relationship Type="http://schemas.openxmlformats.org/officeDocument/2006/relationships/tableStyles" Target="/ppt/tableStyles.xml" Id="R7e81b9b746994ca3" /><Relationship Type="http://schemas.openxmlformats.org/officeDocument/2006/relationships/slide" Target="/ppt/slides/slide1.xml" Id="Rcf6426c147814c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fa75d322e346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654885a8134f10" /><Relationship Type="http://schemas.openxmlformats.org/officeDocument/2006/relationships/notesMaster" Target="/ppt/notesMasters/notesMaster1.xml" Id="R200af71c540442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Shared placemat structure; TNT retrieval adaptation</a:t>
            </a:r>
          </a:p>
          <a:p xmlns:a="http://schemas.openxmlformats.org/drawingml/2006/main">
            <a:r>
              <a:t/>
            </a:r>
          </a:p>
          <a:p xmlns:a="http://schemas.openxmlformats.org/drawingml/2006/main">
            <a:r>
              <a:t>https://pdf.retrievalpractice.org/RetrievalPracticeGuide.pdf</a:t>
            </a:r>
          </a:p>
          <a:p xmlns:a="http://schemas.openxmlformats.org/drawingml/2006/main">
            <a:r>
              <a:t/>
            </a:r>
          </a:p>
          <a:p xmlns:a="http://schemas.openxmlformats.org/drawingml/2006/main">
            <a:r>
              <a:t>This uses a shared cooperative placemat layout: separate spaces for individual writing and a centre for agreed ideas. It differs from Kate Jones’s prompt-based Retrieval Practice Placemat, which she describes in her TILE article. No sole originator is verified for the cooperative layout. This guide adds independent recall and an individual retry.</a:t>
            </a:r>
          </a:p>
          <a:p xmlns:a="http://schemas.openxmlformats.org/drawingml/2006/main">
            <a:r>
              <a:t/>
            </a:r>
          </a:p>
          <a:p xmlns:a="http://schemas.openxmlformats.org/drawingml/2006/main">
            <a:r>
              <a:t>Related example: Kate Jones — prompt-based Retrieval Practice Placemat</a:t>
            </a:r>
          </a:p>
          <a:p xmlns:a="http://schemas.openxmlformats.org/drawingml/2006/main">
            <a:r>
              <a:t>https://tile.psy.gla.ac.uk/2019/12/03/tile-share-best-practice-retrieval-practice-research-and-resources-for-every-classroom-by-kate-jones/</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https://tnt-teaching-tools.github.io/retrieval-toolkit/retrieval-retrieval-placemat.html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aa242e69d94b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3d5589e0c248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c1b71266ae42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f6d8cf6f0d4a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e43d7594c74d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0db148fe6549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d2fda232f941aa" /><Relationship Type="http://schemas.openxmlformats.org/officeDocument/2006/relationships/slideLayout" Target="/ppt/slideLayouts/slideLayout1.xml" Id="R48eeb61999bf4ed3" /><Relationship Type="http://schemas.openxmlformats.org/officeDocument/2006/relationships/slideLayout" Target="/ppt/slideLayouts/slideLayout2.xml" Id="R5608e5ae5deb4980" /><Relationship Type="http://schemas.openxmlformats.org/officeDocument/2006/relationships/slideLayout" Target="/ppt/slideLayouts/slideLayout3.xml" Id="Rb766e90ffd614781" /><Relationship Type="http://schemas.openxmlformats.org/officeDocument/2006/relationships/slideLayout" Target="/ppt/slideLayouts/slideLayout4.xml" Id="Rbb0aa0e5066f4119" /><Relationship Type="http://schemas.openxmlformats.org/officeDocument/2006/relationships/slideLayout" Target="/ppt/slideLayouts/slideLayout5.xml" Id="R77757cebc7514c98" /><Relationship Type="http://schemas.openxmlformats.org/officeDocument/2006/relationships/slideLayout" Target="/ppt/slideLayouts/slideLayout6.xml" Id="R0a53a529d4ad45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eeb61999bf4ed3"/>
    <p:sldLayoutId xmlns:r="http://schemas.openxmlformats.org/officeDocument/2006/relationships" id="2147483650" r:id="R5608e5ae5deb4980"/>
    <p:sldLayoutId xmlns:r="http://schemas.openxmlformats.org/officeDocument/2006/relationships" id="2147483651" r:id="Rb766e90ffd614781"/>
    <p:sldLayoutId xmlns:r="http://schemas.openxmlformats.org/officeDocument/2006/relationships" id="2147483652" r:id="Rbb0aa0e5066f4119"/>
    <p:sldLayoutId xmlns:r="http://schemas.openxmlformats.org/officeDocument/2006/relationships" id="2147483653" r:id="R77757cebc7514c98"/>
    <p:sldLayoutId xmlns:r="http://schemas.openxmlformats.org/officeDocument/2006/relationships" id="2147483654" r:id="R0a53a529d4ad45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97555f0f8d43fc" /><Relationship Type="http://schemas.openxmlformats.org/officeDocument/2006/relationships/hyperlink" Target="https://pdf.retrievalpractice.org/RetrievalPracticeGuide.pdf" TargetMode="External" Id="R9bb4e84fa71643dd" /><Relationship Type="http://schemas.openxmlformats.org/officeDocument/2006/relationships/notesSlide" Target="/ppt/notesSlides/notesSlide1.xml" Id="R6bbfa37fc2c04cb5"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7ED5850-F804-4E89-A059-631F4CA2E939}"/>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Group recall placemat</a:t>
            </a:r>
          </a:p>
        </p:txBody>
      </p:sp>
      <p:sp>
        <p:nvSpPr>
          <p:cNvPr id="2" name="">
            <a:extLst xmlns:a="http://schemas.openxmlformats.org/drawingml/2006/main">
              <a:ext uri="{FF2B5EF4-FFF2-40B4-BE49-F238E27FC236}">
                <a16:creationId xmlns:a16="http://schemas.microsoft.com/office/drawing/2014/main" id="{72B8F12C-E194-4A04-8DB9-980FB6D03455}"/>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39D4144E-ABAA-4EEE-96D0-36326058760E}"/>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57EAF7-E54E-453D-8D76-DC811552FAB9}"/>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AA084FB4-C601-461C-A624-E6CD0FEC3DF6}"/>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07136C1F-E316-4428-831C-5AA7DB2942E6}"/>
              </a:ext>
            </a:extLst>
          </p:cNvPr>
          <p:cNvSpPr>
            <a:spLocks xmlns:a="http://schemas.openxmlformats.org/drawingml/2006/main" noGrp="1"/>
          </p:cNvSpPr>
          <p:nvPr/>
        </p:nvSpPr>
        <p:spPr>
          <a:xfrm xmlns:a="http://schemas.openxmlformats.org/drawingml/2006/main">
            <a:off x="609600" y="2247900"/>
            <a:ext cx="5400675" cy="1343025"/>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1BA1F3CA-DCD8-4981-9966-2457BADF3439}"/>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083121E-44F6-4CE9-9DF3-9CA4ECC246D7}"/>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24ECA872-90AA-4351-AD61-F10B23CDA43F}"/>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Learner 1</a:t>
            </a:r>
          </a:p>
        </p:txBody>
      </p:sp>
      <p:sp>
        <p:nvSpPr>
          <p:cNvPr id="10" name="">
            <a:extLst xmlns:a="http://schemas.openxmlformats.org/drawingml/2006/main">
              <a:ext uri="{FF2B5EF4-FFF2-40B4-BE49-F238E27FC236}">
                <a16:creationId xmlns:a16="http://schemas.microsoft.com/office/drawing/2014/main" id="{8957AE9F-BFA3-4D31-B704-0D769D52DBF7}"/>
              </a:ext>
            </a:extLst>
          </p:cNvPr>
          <p:cNvSpPr>
            <a:spLocks xmlns:a="http://schemas.openxmlformats.org/drawingml/2006/main" noGrp="1"/>
          </p:cNvSpPr>
          <p:nvPr/>
        </p:nvSpPr>
        <p:spPr>
          <a:xfrm xmlns:a="http://schemas.openxmlformats.org/drawingml/2006/main">
            <a:off x="819150" y="2990850"/>
            <a:ext cx="4981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Independent recall</a:t>
            </a:r>
          </a:p>
        </p:txBody>
      </p:sp>
      <p:sp>
        <p:nvSpPr>
          <p:cNvPr id="11" name="">
            <a:extLst xmlns:a="http://schemas.openxmlformats.org/drawingml/2006/main">
              <a:ext uri="{FF2B5EF4-FFF2-40B4-BE49-F238E27FC236}">
                <a16:creationId xmlns:a16="http://schemas.microsoft.com/office/drawing/2014/main" id="{1359C188-73C1-443D-832C-FE85CB9C9A34}"/>
              </a:ext>
            </a:extLst>
          </p:cNvPr>
          <p:cNvSpPr>
            <a:spLocks xmlns:a="http://schemas.openxmlformats.org/drawingml/2006/main" noGrp="1"/>
          </p:cNvSpPr>
          <p:nvPr/>
        </p:nvSpPr>
        <p:spPr>
          <a:xfrm xmlns:a="http://schemas.openxmlformats.org/drawingml/2006/main">
            <a:off x="6181725" y="2247900"/>
            <a:ext cx="5400675" cy="1343025"/>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89BEADAB-DA7F-40AE-8D6C-ED5AE926281A}"/>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599E7A3-E7B8-4828-A400-16698F513AF6}"/>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A7E15FE3-6422-46FB-AFC4-887546C7840F}"/>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Learner 2</a:t>
            </a:r>
          </a:p>
        </p:txBody>
      </p:sp>
      <p:sp>
        <p:nvSpPr>
          <p:cNvPr id="15" name="">
            <a:extLst xmlns:a="http://schemas.openxmlformats.org/drawingml/2006/main">
              <a:ext uri="{FF2B5EF4-FFF2-40B4-BE49-F238E27FC236}">
                <a16:creationId xmlns:a16="http://schemas.microsoft.com/office/drawing/2014/main" id="{4E8A2E18-2F48-4EBA-A011-64809143BCD5}"/>
              </a:ext>
            </a:extLst>
          </p:cNvPr>
          <p:cNvSpPr>
            <a:spLocks xmlns:a="http://schemas.openxmlformats.org/drawingml/2006/main" noGrp="1"/>
          </p:cNvSpPr>
          <p:nvPr/>
        </p:nvSpPr>
        <p:spPr>
          <a:xfrm xmlns:a="http://schemas.openxmlformats.org/drawingml/2006/main">
            <a:off x="6391275" y="2990850"/>
            <a:ext cx="4981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Independent recall</a:t>
            </a:r>
          </a:p>
        </p:txBody>
      </p:sp>
      <p:sp>
        <p:nvSpPr>
          <p:cNvPr id="16" name="">
            <a:extLst xmlns:a="http://schemas.openxmlformats.org/drawingml/2006/main">
              <a:ext uri="{FF2B5EF4-FFF2-40B4-BE49-F238E27FC236}">
                <a16:creationId xmlns:a16="http://schemas.microsoft.com/office/drawing/2014/main" id="{1F20F1AB-AF23-4FBF-A30F-C79FAFE06FD5}"/>
              </a:ext>
            </a:extLst>
          </p:cNvPr>
          <p:cNvSpPr>
            <a:spLocks xmlns:a="http://schemas.openxmlformats.org/drawingml/2006/main" noGrp="1"/>
          </p:cNvSpPr>
          <p:nvPr/>
        </p:nvSpPr>
        <p:spPr>
          <a:xfrm xmlns:a="http://schemas.openxmlformats.org/drawingml/2006/main">
            <a:off x="609600" y="3762375"/>
            <a:ext cx="5400675" cy="1343025"/>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AA95D6CD-2081-4A34-BF91-8D0C581B3FB9}"/>
              </a:ext>
            </a:extLst>
          </p:cNvPr>
          <p:cNvSpPr>
            <a:spLocks xmlns:a="http://schemas.openxmlformats.org/drawingml/2006/main" noGrp="1"/>
          </p:cNvSpPr>
          <p:nvPr/>
        </p:nvSpPr>
        <p:spPr>
          <a:xfrm xmlns:a="http://schemas.openxmlformats.org/drawingml/2006/main">
            <a:off x="800100" y="3933825"/>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B8528A2-DC0E-4DD6-B435-3F09D02C94A1}"/>
              </a:ext>
            </a:extLst>
          </p:cNvPr>
          <p:cNvSpPr>
            <a:spLocks xmlns:a="http://schemas.openxmlformats.org/drawingml/2006/main" noGrp="1"/>
          </p:cNvSpPr>
          <p:nvPr/>
        </p:nvSpPr>
        <p:spPr>
          <a:xfrm xmlns:a="http://schemas.openxmlformats.org/drawingml/2006/main">
            <a:off x="857250" y="40005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602F0665-A1AB-4F65-89CE-D6C2B6C6BB72}"/>
              </a:ext>
            </a:extLst>
          </p:cNvPr>
          <p:cNvSpPr>
            <a:spLocks xmlns:a="http://schemas.openxmlformats.org/drawingml/2006/main" noGrp="1"/>
          </p:cNvSpPr>
          <p:nvPr/>
        </p:nvSpPr>
        <p:spPr>
          <a:xfrm xmlns:a="http://schemas.openxmlformats.org/drawingml/2006/main">
            <a:off x="1352550" y="3981450"/>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Learner 3</a:t>
            </a:r>
          </a:p>
        </p:txBody>
      </p:sp>
      <p:sp>
        <p:nvSpPr>
          <p:cNvPr id="20" name="">
            <a:extLst xmlns:a="http://schemas.openxmlformats.org/drawingml/2006/main">
              <a:ext uri="{FF2B5EF4-FFF2-40B4-BE49-F238E27FC236}">
                <a16:creationId xmlns:a16="http://schemas.microsoft.com/office/drawing/2014/main" id="{82E34D48-787D-47DE-B132-B836E2CA8580}"/>
              </a:ext>
            </a:extLst>
          </p:cNvPr>
          <p:cNvSpPr>
            <a:spLocks xmlns:a="http://schemas.openxmlformats.org/drawingml/2006/main" noGrp="1"/>
          </p:cNvSpPr>
          <p:nvPr/>
        </p:nvSpPr>
        <p:spPr>
          <a:xfrm xmlns:a="http://schemas.openxmlformats.org/drawingml/2006/main">
            <a:off x="819150" y="4505325"/>
            <a:ext cx="4981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Independent recall</a:t>
            </a:r>
          </a:p>
        </p:txBody>
      </p:sp>
      <p:sp>
        <p:nvSpPr>
          <p:cNvPr id="21" name="">
            <a:extLst xmlns:a="http://schemas.openxmlformats.org/drawingml/2006/main">
              <a:ext uri="{FF2B5EF4-FFF2-40B4-BE49-F238E27FC236}">
                <a16:creationId xmlns:a16="http://schemas.microsoft.com/office/drawing/2014/main" id="{35D8FEDF-DE0E-4157-8294-094DBC1ED3C5}"/>
              </a:ext>
            </a:extLst>
          </p:cNvPr>
          <p:cNvSpPr>
            <a:spLocks xmlns:a="http://schemas.openxmlformats.org/drawingml/2006/main" noGrp="1"/>
          </p:cNvSpPr>
          <p:nvPr/>
        </p:nvSpPr>
        <p:spPr>
          <a:xfrm xmlns:a="http://schemas.openxmlformats.org/drawingml/2006/main">
            <a:off x="6181725" y="3762375"/>
            <a:ext cx="5400675" cy="1343025"/>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050922B8-98B9-401C-8A28-125301F72EAC}"/>
              </a:ext>
            </a:extLst>
          </p:cNvPr>
          <p:cNvSpPr>
            <a:spLocks xmlns:a="http://schemas.openxmlformats.org/drawingml/2006/main" noGrp="1"/>
          </p:cNvSpPr>
          <p:nvPr/>
        </p:nvSpPr>
        <p:spPr>
          <a:xfrm xmlns:a="http://schemas.openxmlformats.org/drawingml/2006/main">
            <a:off x="6372225" y="3933825"/>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6DA577E-9B82-4BA0-8567-866547B47EE1}"/>
              </a:ext>
            </a:extLst>
          </p:cNvPr>
          <p:cNvSpPr>
            <a:spLocks xmlns:a="http://schemas.openxmlformats.org/drawingml/2006/main" noGrp="1"/>
          </p:cNvSpPr>
          <p:nvPr/>
        </p:nvSpPr>
        <p:spPr>
          <a:xfrm xmlns:a="http://schemas.openxmlformats.org/drawingml/2006/main">
            <a:off x="6429375" y="40005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51F687E0-662E-456A-8422-0A727E438AEE}"/>
              </a:ext>
            </a:extLst>
          </p:cNvPr>
          <p:cNvSpPr>
            <a:spLocks xmlns:a="http://schemas.openxmlformats.org/drawingml/2006/main" noGrp="1"/>
          </p:cNvSpPr>
          <p:nvPr/>
        </p:nvSpPr>
        <p:spPr>
          <a:xfrm xmlns:a="http://schemas.openxmlformats.org/drawingml/2006/main">
            <a:off x="6924675" y="3981450"/>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Learner 4</a:t>
            </a:r>
          </a:p>
        </p:txBody>
      </p:sp>
      <p:sp>
        <p:nvSpPr>
          <p:cNvPr id="25" name="">
            <a:extLst xmlns:a="http://schemas.openxmlformats.org/drawingml/2006/main">
              <a:ext uri="{FF2B5EF4-FFF2-40B4-BE49-F238E27FC236}">
                <a16:creationId xmlns:a16="http://schemas.microsoft.com/office/drawing/2014/main" id="{8CFBC060-861B-42D4-9F99-20D074BF9998}"/>
              </a:ext>
            </a:extLst>
          </p:cNvPr>
          <p:cNvSpPr>
            <a:spLocks xmlns:a="http://schemas.openxmlformats.org/drawingml/2006/main" noGrp="1"/>
          </p:cNvSpPr>
          <p:nvPr/>
        </p:nvSpPr>
        <p:spPr>
          <a:xfrm xmlns:a="http://schemas.openxmlformats.org/drawingml/2006/main">
            <a:off x="6391275" y="4505325"/>
            <a:ext cx="4981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Independent recall</a:t>
            </a:r>
          </a:p>
        </p:txBody>
      </p:sp>
      <p:sp>
        <p:nvSpPr>
          <p:cNvPr id="26" name="">
            <a:extLst xmlns:a="http://schemas.openxmlformats.org/drawingml/2006/main">
              <a:ext uri="{FF2B5EF4-FFF2-40B4-BE49-F238E27FC236}">
                <a16:creationId xmlns:a16="http://schemas.microsoft.com/office/drawing/2014/main" id="{E1B6691A-AAB8-4C37-A638-3A231631C889}"/>
              </a:ext>
            </a:extLst>
          </p:cNvPr>
          <p:cNvSpPr>
            <a:spLocks xmlns:a="http://schemas.openxmlformats.org/drawingml/2006/main" noGrp="1"/>
          </p:cNvSpPr>
          <p:nvPr/>
        </p:nvSpPr>
        <p:spPr>
          <a:xfrm xmlns:a="http://schemas.openxmlformats.org/drawingml/2006/main">
            <a:off x="609600" y="5276850"/>
            <a:ext cx="10972800" cy="438150"/>
          </a:xfrm>
          <a:prstGeom xmlns:a="http://schemas.openxmlformats.org/drawingml/2006/main" prst="rect">
            <a:avLst/>
          </a:prstGeom>
          <a:solidFill xmlns:a="http://schemas.openxmlformats.org/drawingml/2006/main">
            <a:srgbClr val="F5EBC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6D544D6-B109-4EB0-8F15-D6080B838C5B}"/>
              </a:ext>
            </a:extLst>
          </p:cNvPr>
          <p:cNvSpPr>
            <a:spLocks xmlns:a="http://schemas.openxmlformats.org/drawingml/2006/main" noGrp="1"/>
          </p:cNvSpPr>
          <p:nvPr/>
        </p:nvSpPr>
        <p:spPr>
          <a:xfrm xmlns:a="http://schemas.openxmlformats.org/drawingml/2006/main">
            <a:off x="781050" y="5362575"/>
            <a:ext cx="10629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263C3A"/>
                </a:solidFill>
                <a:latin typeface="DejaVu Sans"/>
                <a:ea typeface="DejaVu Sans"/>
                <a:cs typeface="DejaVu Sans"/>
              </a:defRPr>
            </a:pPr>
            <a:r>
              <a:rPr sz="1575" b="0">
                <a:solidFill>
                  <a:srgbClr val="263C3A"/>
                </a:solidFill>
                <a:latin typeface="DejaVu Sans"/>
                <a:ea typeface="DejaVu Sans"/>
                <a:cs typeface="DejaVu Sans"/>
              </a:rPr>
              <a:t>Shared ideas after discussion: [Your instructions]</a:t>
            </a:r>
          </a:p>
        </p:txBody>
      </p:sp>
      <p:sp>
        <p:nvSpPr>
          <p:cNvPr id="28" name="">
            <a:extLst xmlns:a="http://schemas.openxmlformats.org/drawingml/2006/main">
              <a:ext uri="{FF2B5EF4-FFF2-40B4-BE49-F238E27FC236}">
                <a16:creationId xmlns:a16="http://schemas.microsoft.com/office/drawing/2014/main" id="{A5ED43A7-4488-4D2A-99F3-A8CD9D67DC3B}"/>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E7932AE-C04E-4977-9D46-5B1F7645855A}"/>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30" name="">
            <a:extLst xmlns:a="http://schemas.openxmlformats.org/drawingml/2006/main">
              <a:ext uri="{FF2B5EF4-FFF2-40B4-BE49-F238E27FC236}">
                <a16:creationId xmlns:a16="http://schemas.microsoft.com/office/drawing/2014/main" id="{7841E92F-1EFB-47D6-978E-AD0D81E14E93}"/>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32" name="source-credit">
            <a:extLst xmlns:a="http://schemas.openxmlformats.org/drawingml/2006/main">
              <a:ext uri="{FF2B5EF4-FFF2-40B4-BE49-F238E27FC236}">
                <a16:creationId xmlns:a16="http://schemas.microsoft.com/office/drawing/2014/main" id="{F8CA5BBF-6473-49FD-8567-6F7333F0197B}"/>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9bb4e84fa71643dd"/>
              </a:rPr>
              <a:t>Shared placemat structure; TNT retrieval adaptation — original guidance</a:t>
            </a:r>
          </a:p>
        </p:txBody>
      </p:sp>
    </p:spTree>
    <p:extLst>
      <p:ext uri="{BB962C8B-B14F-4D97-AF65-F5344CB8AC3E}">
        <p14:creationId xmlns:p14="http://schemas.microsoft.com/office/powerpoint/2010/main" val="1854463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2026-10-08T06:08:48.4910000Z</dcterms:created>
  <dcterms:modified xsi:type="dcterms:W3CDTF">2026-10-08T06:08:48.4910000Z</dcterms:modified>
</coreProperties>
</file>