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5bfe8a20bdb4b9f" /><Relationship Type="http://schemas.openxmlformats.org/officeDocument/2006/relationships/extended-properties" Target="/docProps/app.xml" Id="R7b4114275b0b4d65" /><Relationship Type="http://schemas.openxmlformats.org/officeDocument/2006/relationships/officeDocument" Target="/ppt/presentation.xml" Id="R991716e0d10348b4" /></Relationships>
</file>

<file path=ppt/presentation.xml><?xml version="1.0" encoding="utf-8"?>
<p:presentation xmlns:p="http://schemas.openxmlformats.org/presentationml/2006/main">
  <p:sldMasterIdLst>
    <p:sldMasterId xmlns:r="http://schemas.openxmlformats.org/officeDocument/2006/relationships" id="2147483648" r:id="Rc1c02d40db784218"/>
  </p:sldMasterIdLst>
  <p:notesMasterIdLst>
    <p:notesMasterId xmlns:r="http://schemas.openxmlformats.org/officeDocument/2006/relationships" r:id="Rad4cafc89fc74eea"/>
  </p:notesMasterIdLst>
  <p:sldIdLst>
    <p:sldId xmlns:r="http://schemas.openxmlformats.org/officeDocument/2006/relationships" id="256" r:id="Rd1e54f99de7e400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3f7b192704a4486" /><Relationship Type="http://schemas.openxmlformats.org/officeDocument/2006/relationships/slideMaster" Target="/ppt/slideMasters/slideMaster1.xml" Id="Rc1c02d40db784218" /><Relationship Type="http://schemas.openxmlformats.org/officeDocument/2006/relationships/notesMaster" Target="/ppt/notesMasters/notesMaster1.xml" Id="Rad4cafc89fc74eea" /><Relationship Type="http://schemas.openxmlformats.org/officeDocument/2006/relationships/presProps" Target="/ppt/presProps.xml" Id="R4156e04e094f43b3" /><Relationship Type="http://schemas.openxmlformats.org/officeDocument/2006/relationships/tableStyles" Target="/ppt/tableStyles.xml" Id="R41606bce0f75475f" /><Relationship Type="http://schemas.openxmlformats.org/officeDocument/2006/relationships/slide" Target="/ppt/slides/slide1.xml" Id="Rd1e54f99de7e400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08e06a8c47f447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b95c300195b499b" /><Relationship Type="http://schemas.openxmlformats.org/officeDocument/2006/relationships/notesMaster" Target="/ppt/notesMasters/notesMaster1.xml" Id="Re8758f35d53449d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Eric Mazur — Peer Instruction</a:t>
            </a:r>
          </a:p>
          <a:p xmlns:a="http://schemas.openxmlformats.org/drawingml/2006/main">
            <a:r>
              <a:t/>
            </a:r>
          </a:p>
          <a:p xmlns:a="http://schemas.openxmlformats.org/drawingml/2006/main">
            <a:r>
              <a:t>https://instructionalmoves.gse.harvard.edu/using-peer-instruction-improve-student-learning</a:t>
            </a:r>
          </a:p>
          <a:p xmlns:a="http://schemas.openxmlformats.org/drawingml/2006/main">
            <a:r>
              <a:t/>
            </a:r>
          </a:p>
          <a:p xmlns:a="http://schemas.openxmlformats.org/drawingml/2006/main">
            <a:r>
              <a:t>Mazur describes Peer Instruction in this Harvard teaching resource. This is a simple classroom adaptation using previously taught concepts; the method also supports conceptual reasoning, beyond factual recall.</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https://tnt-teaching-tools.github.io/retrieval-toolkit/retrieval-peer-instruction.html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f0f73bf5664b3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9ef034f9416473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0c4a05baf10451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68e3b19933e4e4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a3391c97d9b4d5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a81bf0b76984b0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a21130e57d64abc" /><Relationship Type="http://schemas.openxmlformats.org/officeDocument/2006/relationships/slideLayout" Target="/ppt/slideLayouts/slideLayout1.xml" Id="R849b45836bdc42cf" /><Relationship Type="http://schemas.openxmlformats.org/officeDocument/2006/relationships/slideLayout" Target="/ppt/slideLayouts/slideLayout2.xml" Id="R17ab14bb5fc54a73" /><Relationship Type="http://schemas.openxmlformats.org/officeDocument/2006/relationships/slideLayout" Target="/ppt/slideLayouts/slideLayout3.xml" Id="R7602a55d07614bf1" /><Relationship Type="http://schemas.openxmlformats.org/officeDocument/2006/relationships/slideLayout" Target="/ppt/slideLayouts/slideLayout4.xml" Id="Rc327a5f4a52e458f" /><Relationship Type="http://schemas.openxmlformats.org/officeDocument/2006/relationships/slideLayout" Target="/ppt/slideLayouts/slideLayout5.xml" Id="Rcd7a2b5a5aca4456" /><Relationship Type="http://schemas.openxmlformats.org/officeDocument/2006/relationships/slideLayout" Target="/ppt/slideLayouts/slideLayout6.xml" Id="Rf07d515fb9ca43d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49b45836bdc42cf"/>
    <p:sldLayoutId xmlns:r="http://schemas.openxmlformats.org/officeDocument/2006/relationships" id="2147483650" r:id="R17ab14bb5fc54a73"/>
    <p:sldLayoutId xmlns:r="http://schemas.openxmlformats.org/officeDocument/2006/relationships" id="2147483651" r:id="R7602a55d07614bf1"/>
    <p:sldLayoutId xmlns:r="http://schemas.openxmlformats.org/officeDocument/2006/relationships" id="2147483652" r:id="Rc327a5f4a52e458f"/>
    <p:sldLayoutId xmlns:r="http://schemas.openxmlformats.org/officeDocument/2006/relationships" id="2147483653" r:id="Rcd7a2b5a5aca4456"/>
    <p:sldLayoutId xmlns:r="http://schemas.openxmlformats.org/officeDocument/2006/relationships" id="2147483654" r:id="Rf07d515fb9ca43d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b69a16a684649dd" /><Relationship Type="http://schemas.openxmlformats.org/officeDocument/2006/relationships/hyperlink" Target="https://instructionalmoves.gse.harvard.edu/using-peer-instruction-improve-student-learning" TargetMode="External" Id="R9cc07b166bfd4ffa" /><Relationship Type="http://schemas.openxmlformats.org/officeDocument/2006/relationships/notesSlide" Target="/ppt/notesSlides/notesSlide1.xml" Id="R43643714a57341f0"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3F64816-1A33-4AD7-B37B-B88A739EF374}"/>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Peer Instruction</a:t>
            </a:r>
          </a:p>
        </p:txBody>
      </p:sp>
      <p:sp>
        <p:nvSpPr>
          <p:cNvPr id="2" name="">
            <a:extLst xmlns:a="http://schemas.openxmlformats.org/drawingml/2006/main">
              <a:ext uri="{FF2B5EF4-FFF2-40B4-BE49-F238E27FC236}">
                <a16:creationId xmlns:a16="http://schemas.microsoft.com/office/drawing/2014/main" id="{A19A0DF1-7B31-4E6A-8544-3BAD425AAD2F}"/>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47BF9629-2B49-432E-A4FC-596F3B928501}"/>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86701CF-9828-4C5F-B557-7FC1C8540177}"/>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52111B7D-20C5-4F16-97C0-29E93AF7854A}"/>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BDF6F69F-2D54-4067-9648-B97474DB4F07}"/>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E429F97A-DB7C-432E-B2B1-197F8E15533E}"/>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Question  [Your conceptual question]</a:t>
            </a:r>
          </a:p>
        </p:txBody>
      </p:sp>
      <p:sp>
        <p:nvSpPr>
          <p:cNvPr id="8" name="">
            <a:extLst xmlns:a="http://schemas.openxmlformats.org/drawingml/2006/main">
              <a:ext uri="{FF2B5EF4-FFF2-40B4-BE49-F238E27FC236}">
                <a16:creationId xmlns:a16="http://schemas.microsoft.com/office/drawing/2014/main" id="{BD1A3308-717D-49AB-983B-6B5908385B23}"/>
              </a:ext>
            </a:extLst>
          </p:cNvPr>
          <p:cNvSpPr>
            <a:spLocks xmlns:a="http://schemas.openxmlformats.org/drawingml/2006/main" noGrp="1"/>
          </p:cNvSpPr>
          <p:nvPr/>
        </p:nvSpPr>
        <p:spPr>
          <a:xfrm xmlns:a="http://schemas.openxmlformats.org/drawingml/2006/main">
            <a:off x="781050"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A3BED153-69AB-4D35-A4DA-DAEDF37C7DC8}"/>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E11B53F1-8E79-4397-A72E-2DDC9D6B426C}"/>
              </a:ext>
            </a:extLst>
          </p:cNvPr>
          <p:cNvSpPr>
            <a:spLocks xmlns:a="http://schemas.openxmlformats.org/drawingml/2006/main" noGrp="1"/>
          </p:cNvSpPr>
          <p:nvPr/>
        </p:nvSpPr>
        <p:spPr>
          <a:xfrm xmlns:a="http://schemas.openxmlformats.org/drawingml/2006/main">
            <a:off x="6353175" y="238125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Choices</a:t>
            </a:r>
          </a:p>
        </p:txBody>
      </p:sp>
      <p:sp>
        <p:nvSpPr>
          <p:cNvPr id="11" name="">
            <a:extLst xmlns:a="http://schemas.openxmlformats.org/drawingml/2006/main">
              <a:ext uri="{FF2B5EF4-FFF2-40B4-BE49-F238E27FC236}">
                <a16:creationId xmlns:a16="http://schemas.microsoft.com/office/drawing/2014/main" id="{3CB4A6D3-A844-478F-8CC7-036F91F4D964}"/>
              </a:ext>
            </a:extLst>
          </p:cNvPr>
          <p:cNvSpPr>
            <a:spLocks xmlns:a="http://schemas.openxmlformats.org/drawingml/2006/main" noGrp="1"/>
          </p:cNvSpPr>
          <p:nvPr/>
        </p:nvSpPr>
        <p:spPr>
          <a:xfrm xmlns:a="http://schemas.openxmlformats.org/drawingml/2006/main">
            <a:off x="6353175" y="278130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 [Option]</a:t>
            </a:r>
          </a:p>
          <a:p xmlns:a="http://schemas.openxmlformats.org/drawingml/2006/main">
            <a:pPr>
              <a:buNone/>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B [Option]</a:t>
            </a:r>
          </a:p>
          <a:p xmlns:a="http://schemas.openxmlformats.org/drawingml/2006/main">
            <a:pPr>
              <a:buNone/>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C [Option]</a:t>
            </a:r>
          </a:p>
          <a:p xmlns:a="http://schemas.openxmlformats.org/drawingml/2006/main">
            <a:pPr>
              <a:buNone/>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D [Option]</a:t>
            </a:r>
          </a:p>
        </p:txBody>
      </p:sp>
      <p:sp>
        <p:nvSpPr>
          <p:cNvPr id="12" name="">
            <a:extLst xmlns:a="http://schemas.openxmlformats.org/drawingml/2006/main">
              <a:ext uri="{FF2B5EF4-FFF2-40B4-BE49-F238E27FC236}">
                <a16:creationId xmlns:a16="http://schemas.microsoft.com/office/drawing/2014/main" id="{C8DD2F88-820B-4C7F-8075-0A33EC701EC7}"/>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0B644C47-72A5-4886-A253-AC25DDBE3917}"/>
              </a:ext>
            </a:extLst>
          </p:cNvPr>
          <p:cNvSpPr>
            <a:spLocks xmlns:a="http://schemas.openxmlformats.org/drawingml/2006/main" noGrp="1"/>
          </p:cNvSpPr>
          <p:nvPr/>
        </p:nvSpPr>
        <p:spPr>
          <a:xfrm xmlns:a="http://schemas.openxmlformats.org/drawingml/2006/main">
            <a:off x="781050"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first choice and reason</a:t>
            </a:r>
          </a:p>
        </p:txBody>
      </p:sp>
      <p:sp>
        <p:nvSpPr>
          <p:cNvPr id="14" name="">
            <a:extLst xmlns:a="http://schemas.openxmlformats.org/drawingml/2006/main">
              <a:ext uri="{FF2B5EF4-FFF2-40B4-BE49-F238E27FC236}">
                <a16:creationId xmlns:a16="http://schemas.microsoft.com/office/drawing/2014/main" id="{6D85498B-2DD9-40B1-8612-7B7A9C27C67B}"/>
              </a:ext>
            </a:extLst>
          </p:cNvPr>
          <p:cNvSpPr>
            <a:spLocks xmlns:a="http://schemas.openxmlformats.org/drawingml/2006/main" noGrp="1"/>
          </p:cNvSpPr>
          <p:nvPr/>
        </p:nvSpPr>
        <p:spPr>
          <a:xfrm xmlns:a="http://schemas.openxmlformats.org/drawingml/2006/main">
            <a:off x="781050"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880045E7-F66C-4481-867D-B7F635A53EC2}"/>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8D32877C-E699-4B02-81E0-5C1F641374B6}"/>
              </a:ext>
            </a:extLst>
          </p:cNvPr>
          <p:cNvSpPr>
            <a:spLocks xmlns:a="http://schemas.openxmlformats.org/drawingml/2006/main" noGrp="1"/>
          </p:cNvSpPr>
          <p:nvPr/>
        </p:nvSpPr>
        <p:spPr>
          <a:xfrm xmlns:a="http://schemas.openxmlformats.org/drawingml/2006/main">
            <a:off x="6353175"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final choice and reason</a:t>
            </a:r>
          </a:p>
        </p:txBody>
      </p:sp>
      <p:sp>
        <p:nvSpPr>
          <p:cNvPr id="17" name="">
            <a:extLst xmlns:a="http://schemas.openxmlformats.org/drawingml/2006/main">
              <a:ext uri="{FF2B5EF4-FFF2-40B4-BE49-F238E27FC236}">
                <a16:creationId xmlns:a16="http://schemas.microsoft.com/office/drawing/2014/main" id="{4CBE17C4-5BB9-455B-967A-A1CAEA354D12}"/>
              </a:ext>
            </a:extLst>
          </p:cNvPr>
          <p:cNvSpPr>
            <a:spLocks xmlns:a="http://schemas.openxmlformats.org/drawingml/2006/main" noGrp="1"/>
          </p:cNvSpPr>
          <p:nvPr/>
        </p:nvSpPr>
        <p:spPr>
          <a:xfrm xmlns:a="http://schemas.openxmlformats.org/drawingml/2006/main">
            <a:off x="6353175"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8" name="">
            <a:extLst xmlns:a="http://schemas.openxmlformats.org/drawingml/2006/main">
              <a:ext uri="{FF2B5EF4-FFF2-40B4-BE49-F238E27FC236}">
                <a16:creationId xmlns:a16="http://schemas.microsoft.com/office/drawing/2014/main" id="{E045589C-637B-45B1-A6D1-3CB092C6DF91}"/>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78A88FF-EAF1-4B8A-A103-03B03005AF5D}"/>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4EA2AD01-BE3A-469C-A088-D0B37A9E6F3D}"/>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22" name="source-credit">
            <a:extLst xmlns:a="http://schemas.openxmlformats.org/drawingml/2006/main">
              <a:ext uri="{FF2B5EF4-FFF2-40B4-BE49-F238E27FC236}">
                <a16:creationId xmlns:a16="http://schemas.microsoft.com/office/drawing/2014/main" id="{0123FB9D-0D5F-40CB-B509-AE684BCD846F}"/>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9cc07b166bfd4ffa"/>
              </a:rPr>
              <a:t>Eric Mazur — Peer Instruction — original guidance</a:t>
            </a:r>
          </a:p>
        </p:txBody>
      </p:sp>
    </p:spTree>
    <p:extLst>
      <p:ext uri="{BB962C8B-B14F-4D97-AF65-F5344CB8AC3E}">
        <p14:creationId xmlns:p14="http://schemas.microsoft.com/office/powerpoint/2010/main" val="16441181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2026-10-08T06:09:42.8090000Z</dcterms:created>
  <dcterms:modified xsi:type="dcterms:W3CDTF">2026-10-08T06:09:42.8090000Z</dcterms:modified>
</coreProperties>
</file>