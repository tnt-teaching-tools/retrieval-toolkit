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d510c55ce1447e" /><Relationship Type="http://schemas.openxmlformats.org/officeDocument/2006/relationships/extended-properties" Target="/docProps/app.xml" Id="R0088d817b1554510" /><Relationship Type="http://schemas.openxmlformats.org/officeDocument/2006/relationships/officeDocument" Target="/ppt/presentation.xml" Id="R22bfcfb8dfb5455e" /></Relationships>
</file>

<file path=ppt/presentation.xml><?xml version="1.0" encoding="utf-8"?>
<p:presentation xmlns:p="http://schemas.openxmlformats.org/presentationml/2006/main">
  <p:sldMasterIdLst>
    <p:sldMasterId xmlns:r="http://schemas.openxmlformats.org/officeDocument/2006/relationships" id="2147483648" r:id="R1583aa9972ef4c51"/>
  </p:sldMasterIdLst>
  <p:notesMasterIdLst>
    <p:notesMasterId xmlns:r="http://schemas.openxmlformats.org/officeDocument/2006/relationships" r:id="R65f6b40f9fad46a4"/>
  </p:notesMasterIdLst>
  <p:sldIdLst>
    <p:sldId xmlns:r="http://schemas.openxmlformats.org/officeDocument/2006/relationships" id="256" r:id="R88155469ba274481"/>
    <p:sldId xmlns:r="http://schemas.openxmlformats.org/officeDocument/2006/relationships" id="257" r:id="R2a5480ff1d994936"/>
    <p:sldId xmlns:r="http://schemas.openxmlformats.org/officeDocument/2006/relationships" id="258" r:id="Rbcfa7ea9372d484d"/>
    <p:sldId xmlns:r="http://schemas.openxmlformats.org/officeDocument/2006/relationships" id="259" r:id="R1873c778ef054623"/>
    <p:sldId xmlns:r="http://schemas.openxmlformats.org/officeDocument/2006/relationships" id="260" r:id="R80fda95230e54ede"/>
    <p:sldId xmlns:r="http://schemas.openxmlformats.org/officeDocument/2006/relationships" id="261" r:id="R6eb9abfc5cd34e4e"/>
    <p:sldId xmlns:r="http://schemas.openxmlformats.org/officeDocument/2006/relationships" id="262" r:id="R84e9b822137d494b"/>
    <p:sldId xmlns:r="http://schemas.openxmlformats.org/officeDocument/2006/relationships" id="263" r:id="R352e9b2ddbd741e6"/>
    <p:sldId xmlns:r="http://schemas.openxmlformats.org/officeDocument/2006/relationships" id="264" r:id="Rda819a3b7d6042e5"/>
    <p:sldId xmlns:r="http://schemas.openxmlformats.org/officeDocument/2006/relationships" id="265" r:id="R72f586f3fcae4a11"/>
    <p:sldId xmlns:r="http://schemas.openxmlformats.org/officeDocument/2006/relationships" id="266" r:id="R14ce46d2603345ce"/>
    <p:sldId xmlns:r="http://schemas.openxmlformats.org/officeDocument/2006/relationships" id="267" r:id="R08468c4053fe45a6"/>
    <p:sldId xmlns:r="http://schemas.openxmlformats.org/officeDocument/2006/relationships" id="268" r:id="Rf729322d130947aa"/>
    <p:sldId xmlns:r="http://schemas.openxmlformats.org/officeDocument/2006/relationships" id="269" r:id="Rc509b13bd0c34b72"/>
    <p:sldId xmlns:r="http://schemas.openxmlformats.org/officeDocument/2006/relationships" id="270" r:id="Rd1008facf4c84413"/>
    <p:sldId xmlns:r="http://schemas.openxmlformats.org/officeDocument/2006/relationships" id="271" r:id="Rdded2b2d0d3c4da7"/>
    <p:sldId xmlns:r="http://schemas.openxmlformats.org/officeDocument/2006/relationships" id="272" r:id="Rf69a8c9e59b641e1"/>
    <p:sldId xmlns:r="http://schemas.openxmlformats.org/officeDocument/2006/relationships" id="273" r:id="R1870cd60610b47f5"/>
    <p:sldId xmlns:r="http://schemas.openxmlformats.org/officeDocument/2006/relationships" id="274" r:id="R3d72b053d9fc45a5"/>
    <p:sldId xmlns:r="http://schemas.openxmlformats.org/officeDocument/2006/relationships" id="275" r:id="Re1f0018520c64c3c"/>
    <p:sldId xmlns:r="http://schemas.openxmlformats.org/officeDocument/2006/relationships" id="276" r:id="Rd396e2b3f3504349"/>
    <p:sldId xmlns:r="http://schemas.openxmlformats.org/officeDocument/2006/relationships" id="277" r:id="R147d9770997546d3"/>
    <p:sldId xmlns:r="http://schemas.openxmlformats.org/officeDocument/2006/relationships" id="278" r:id="R77c95aa08a234646"/>
    <p:sldId xmlns:r="http://schemas.openxmlformats.org/officeDocument/2006/relationships" id="279" r:id="Rf870bf0c17eb4ef8"/>
    <p:sldId xmlns:r="http://schemas.openxmlformats.org/officeDocument/2006/relationships" id="280" r:id="Re15346e78c3b41ae"/>
    <p:sldId xmlns:r="http://schemas.openxmlformats.org/officeDocument/2006/relationships" id="281" r:id="R831c425bd12c4e8a"/>
    <p:sldId xmlns:r="http://schemas.openxmlformats.org/officeDocument/2006/relationships" id="282" r:id="Rc3d68af4a3df42af"/>
    <p:sldId xmlns:r="http://schemas.openxmlformats.org/officeDocument/2006/relationships" id="283" r:id="R9902f5ba3bc24e94"/>
    <p:sldId xmlns:r="http://schemas.openxmlformats.org/officeDocument/2006/relationships" id="284" r:id="Rf07a3edf253246c4"/>
    <p:sldId xmlns:r="http://schemas.openxmlformats.org/officeDocument/2006/relationships" id="285" r:id="R7b340922572742c4"/>
    <p:sldId xmlns:r="http://schemas.openxmlformats.org/officeDocument/2006/relationships" id="286" r:id="R0e7a2cfbc363404d"/>
    <p:sldId xmlns:r="http://schemas.openxmlformats.org/officeDocument/2006/relationships" id="287" r:id="Rac573d3c4fc241e2"/>
    <p:sldId xmlns:r="http://schemas.openxmlformats.org/officeDocument/2006/relationships" id="288" r:id="Rf0546aefd0d241e6"/>
    <p:sldId xmlns:r="http://schemas.openxmlformats.org/officeDocument/2006/relationships" id="289" r:id="Rf77414470e5c49da"/>
    <p:sldId xmlns:r="http://schemas.openxmlformats.org/officeDocument/2006/relationships" id="290" r:id="Rd846d8683db3485e"/>
    <p:sldId xmlns:r="http://schemas.openxmlformats.org/officeDocument/2006/relationships" id="291" r:id="R54b974e2e64d4d79"/>
    <p:sldId xmlns:r="http://schemas.openxmlformats.org/officeDocument/2006/relationships" id="292" r:id="R260d1c055a814a93"/>
    <p:sldId xmlns:r="http://schemas.openxmlformats.org/officeDocument/2006/relationships" id="293" r:id="Rf0c46b9e78e54be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b5bcab667d4f34" /><Relationship Type="http://schemas.openxmlformats.org/officeDocument/2006/relationships/slideMaster" Target="/ppt/slideMasters/slideMaster1.xml" Id="R1583aa9972ef4c51" /><Relationship Type="http://schemas.openxmlformats.org/officeDocument/2006/relationships/notesMaster" Target="/ppt/notesMasters/notesMaster1.xml" Id="R65f6b40f9fad46a4" /><Relationship Type="http://schemas.openxmlformats.org/officeDocument/2006/relationships/presProps" Target="/ppt/presProps.xml" Id="Rc4d5485da4e841f2" /><Relationship Type="http://schemas.openxmlformats.org/officeDocument/2006/relationships/tableStyles" Target="/ppt/tableStyles.xml" Id="R9cb4b32b04944cd5" /><Relationship Type="http://schemas.openxmlformats.org/officeDocument/2006/relationships/slide" Target="/ppt/slides/slide1.xml" Id="R88155469ba274481" /><Relationship Type="http://schemas.openxmlformats.org/officeDocument/2006/relationships/slide" Target="/ppt/slides/slide2.xml" Id="R2a5480ff1d994936" /><Relationship Type="http://schemas.openxmlformats.org/officeDocument/2006/relationships/slide" Target="/ppt/slides/slide3.xml" Id="Rbcfa7ea9372d484d" /><Relationship Type="http://schemas.openxmlformats.org/officeDocument/2006/relationships/slide" Target="/ppt/slides/slide4.xml" Id="R1873c778ef054623" /><Relationship Type="http://schemas.openxmlformats.org/officeDocument/2006/relationships/slide" Target="/ppt/slides/slide5.xml" Id="R80fda95230e54ede" /><Relationship Type="http://schemas.openxmlformats.org/officeDocument/2006/relationships/slide" Target="/ppt/slides/slide6.xml" Id="R6eb9abfc5cd34e4e" /><Relationship Type="http://schemas.openxmlformats.org/officeDocument/2006/relationships/slide" Target="/ppt/slides/slide7.xml" Id="R84e9b822137d494b" /><Relationship Type="http://schemas.openxmlformats.org/officeDocument/2006/relationships/slide" Target="/ppt/slides/slide8.xml" Id="R352e9b2ddbd741e6" /><Relationship Type="http://schemas.openxmlformats.org/officeDocument/2006/relationships/slide" Target="/ppt/slides/slide9.xml" Id="Rda819a3b7d6042e5" /><Relationship Type="http://schemas.openxmlformats.org/officeDocument/2006/relationships/slide" Target="/ppt/slides/slide10.xml" Id="R72f586f3fcae4a11" /><Relationship Type="http://schemas.openxmlformats.org/officeDocument/2006/relationships/slide" Target="/ppt/slides/slide11.xml" Id="R14ce46d2603345ce" /><Relationship Type="http://schemas.openxmlformats.org/officeDocument/2006/relationships/slide" Target="/ppt/slides/slide12.xml" Id="R08468c4053fe45a6" /><Relationship Type="http://schemas.openxmlformats.org/officeDocument/2006/relationships/slide" Target="/ppt/slides/slide13.xml" Id="Rf729322d130947aa" /><Relationship Type="http://schemas.openxmlformats.org/officeDocument/2006/relationships/slide" Target="/ppt/slides/slide14.xml" Id="Rc509b13bd0c34b72" /><Relationship Type="http://schemas.openxmlformats.org/officeDocument/2006/relationships/slide" Target="/ppt/slides/slide15.xml" Id="Rd1008facf4c84413" /><Relationship Type="http://schemas.openxmlformats.org/officeDocument/2006/relationships/slide" Target="/ppt/slides/slide16.xml" Id="Rdded2b2d0d3c4da7" /><Relationship Type="http://schemas.openxmlformats.org/officeDocument/2006/relationships/slide" Target="/ppt/slides/slide17.xml" Id="Rf69a8c9e59b641e1" /><Relationship Type="http://schemas.openxmlformats.org/officeDocument/2006/relationships/slide" Target="/ppt/slides/slide18.xml" Id="R1870cd60610b47f5" /><Relationship Type="http://schemas.openxmlformats.org/officeDocument/2006/relationships/slide" Target="/ppt/slides/slide19.xml" Id="R3d72b053d9fc45a5" /><Relationship Type="http://schemas.openxmlformats.org/officeDocument/2006/relationships/slide" Target="/ppt/slides/slide20.xml" Id="Re1f0018520c64c3c" /><Relationship Type="http://schemas.openxmlformats.org/officeDocument/2006/relationships/slide" Target="/ppt/slides/slide21.xml" Id="Rd396e2b3f3504349" /><Relationship Type="http://schemas.openxmlformats.org/officeDocument/2006/relationships/slide" Target="/ppt/slides/slide22.xml" Id="R147d9770997546d3" /><Relationship Type="http://schemas.openxmlformats.org/officeDocument/2006/relationships/slide" Target="/ppt/slides/slide23.xml" Id="R77c95aa08a234646" /><Relationship Type="http://schemas.openxmlformats.org/officeDocument/2006/relationships/slide" Target="/ppt/slides/slide24.xml" Id="Rf870bf0c17eb4ef8" /><Relationship Type="http://schemas.openxmlformats.org/officeDocument/2006/relationships/slide" Target="/ppt/slides/slide25.xml" Id="Re15346e78c3b41ae" /><Relationship Type="http://schemas.openxmlformats.org/officeDocument/2006/relationships/slide" Target="/ppt/slides/slide26.xml" Id="R831c425bd12c4e8a" /><Relationship Type="http://schemas.openxmlformats.org/officeDocument/2006/relationships/slide" Target="/ppt/slides/slide27.xml" Id="Rc3d68af4a3df42af" /><Relationship Type="http://schemas.openxmlformats.org/officeDocument/2006/relationships/slide" Target="/ppt/slides/slide28.xml" Id="R9902f5ba3bc24e94" /><Relationship Type="http://schemas.openxmlformats.org/officeDocument/2006/relationships/slide" Target="/ppt/slides/slide29.xml" Id="Rf07a3edf253246c4" /><Relationship Type="http://schemas.openxmlformats.org/officeDocument/2006/relationships/slide" Target="/ppt/slides/slide30.xml" Id="R7b340922572742c4" /><Relationship Type="http://schemas.openxmlformats.org/officeDocument/2006/relationships/slide" Target="/ppt/slides/slide31.xml" Id="R0e7a2cfbc363404d" /><Relationship Type="http://schemas.openxmlformats.org/officeDocument/2006/relationships/slide" Target="/ppt/slides/slide32.xml" Id="Rac573d3c4fc241e2" /><Relationship Type="http://schemas.openxmlformats.org/officeDocument/2006/relationships/slide" Target="/ppt/slides/slide33.xml" Id="Rf0546aefd0d241e6" /><Relationship Type="http://schemas.openxmlformats.org/officeDocument/2006/relationships/slide" Target="/ppt/slides/slide34.xml" Id="Rf77414470e5c49da" /><Relationship Type="http://schemas.openxmlformats.org/officeDocument/2006/relationships/slide" Target="/ppt/slides/slide35.xml" Id="Rd846d8683db3485e" /><Relationship Type="http://schemas.openxmlformats.org/officeDocument/2006/relationships/slide" Target="/ppt/slides/slide36.xml" Id="R54b974e2e64d4d79" /><Relationship Type="http://schemas.openxmlformats.org/officeDocument/2006/relationships/slide" Target="/ppt/slides/slide37.xml" Id="R260d1c055a814a93" /><Relationship Type="http://schemas.openxmlformats.org/officeDocument/2006/relationships/slide" Target="/ppt/slides/slide38.xml" Id="Rf0c46b9e78e54be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5ddad5acf640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aa39d8bc0f4947" /><Relationship Type="http://schemas.openxmlformats.org/officeDocument/2006/relationships/notesMaster" Target="/ppt/notesMasters/notesMaster1.xml" Id="Re718abd7f62548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05ea7b21334f7e" /><Relationship Type="http://schemas.openxmlformats.org/officeDocument/2006/relationships/notesMaster" Target="/ppt/notesMasters/notesMaster1.xml" Id="R24401efbbffd45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59cb742fe548a1" /><Relationship Type="http://schemas.openxmlformats.org/officeDocument/2006/relationships/notesMaster" Target="/ppt/notesMasters/notesMaster1.xml" Id="Rd3a45896132a42b9"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3ef11eb4cd4a36" /><Relationship Type="http://schemas.openxmlformats.org/officeDocument/2006/relationships/notesMaster" Target="/ppt/notesMasters/notesMaster1.xml" Id="Rfc83d4f48a7b44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b686bec7f24d2c" /><Relationship Type="http://schemas.openxmlformats.org/officeDocument/2006/relationships/notesMaster" Target="/ppt/notesMasters/notesMaster1.xml" Id="R9dc6443c9cb5444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d7a16c5f399495a" /><Relationship Type="http://schemas.openxmlformats.org/officeDocument/2006/relationships/notesMaster" Target="/ppt/notesMasters/notesMaster1.xml" Id="Rc99213042e584a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6043dccf3b46bf" /><Relationship Type="http://schemas.openxmlformats.org/officeDocument/2006/relationships/notesMaster" Target="/ppt/notesMasters/notesMaster1.xml" Id="R4c59c03c596b4d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809ecce0df44e3d" /><Relationship Type="http://schemas.openxmlformats.org/officeDocument/2006/relationships/notesMaster" Target="/ppt/notesMasters/notesMaster1.xml" Id="R41cdee34bdac4e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c73a5ab52e48f7" /><Relationship Type="http://schemas.openxmlformats.org/officeDocument/2006/relationships/notesMaster" Target="/ppt/notesMasters/notesMaster1.xml" Id="R5a0acfcb4b31494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f140c2b6204370" /><Relationship Type="http://schemas.openxmlformats.org/officeDocument/2006/relationships/notesMaster" Target="/ppt/notesMasters/notesMaster1.xml" Id="Rd27541ec5cac4be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97ca4e5d7c453c" /><Relationship Type="http://schemas.openxmlformats.org/officeDocument/2006/relationships/notesMaster" Target="/ppt/notesMasters/notesMaster1.xml" Id="R4de74237036f415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56e86ab555412d" /><Relationship Type="http://schemas.openxmlformats.org/officeDocument/2006/relationships/notesMaster" Target="/ppt/notesMasters/notesMaster1.xml" Id="R059db4aa3a31453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ebec741f94a46b4" /><Relationship Type="http://schemas.openxmlformats.org/officeDocument/2006/relationships/notesMaster" Target="/ppt/notesMasters/notesMaster1.xml" Id="R64c20f454fa144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db61158c4143e2" /><Relationship Type="http://schemas.openxmlformats.org/officeDocument/2006/relationships/notesMaster" Target="/ppt/notesMasters/notesMaster1.xml" Id="R5d22e15ff8cb4b5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294ad0f2d0d48a4" /><Relationship Type="http://schemas.openxmlformats.org/officeDocument/2006/relationships/notesMaster" Target="/ppt/notesMasters/notesMaster1.xml" Id="R6a897ff88ae246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f7190589f144dc3" /><Relationship Type="http://schemas.openxmlformats.org/officeDocument/2006/relationships/notesMaster" Target="/ppt/notesMasters/notesMaster1.xml" Id="Rad0c29da0afa41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6670ab112c2442c" /><Relationship Type="http://schemas.openxmlformats.org/officeDocument/2006/relationships/notesMaster" Target="/ppt/notesMasters/notesMaster1.xml" Id="R6da798696d68431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eacfb8abfa347f0" /><Relationship Type="http://schemas.openxmlformats.org/officeDocument/2006/relationships/notesMaster" Target="/ppt/notesMasters/notesMaster1.xml" Id="R727bf82c059943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ca7ca98e0864d21" /><Relationship Type="http://schemas.openxmlformats.org/officeDocument/2006/relationships/notesMaster" Target="/ppt/notesMasters/notesMaster1.xml" Id="Rcaf2bf6d9cac484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98d3c76715243d0" /><Relationship Type="http://schemas.openxmlformats.org/officeDocument/2006/relationships/notesMaster" Target="/ppt/notesMasters/notesMaster1.xml" Id="Rafa32ba84a8043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1a66f9f12947e1" /><Relationship Type="http://schemas.openxmlformats.org/officeDocument/2006/relationships/notesMaster" Target="/ppt/notesMasters/notesMaster1.xml" Id="Rf1af2134f4b44e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3b0689de4b4c31" /><Relationship Type="http://schemas.openxmlformats.org/officeDocument/2006/relationships/notesMaster" Target="/ppt/notesMasters/notesMaster1.xml" Id="R190c1f682f804ea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6411317e3f84a74" /><Relationship Type="http://schemas.openxmlformats.org/officeDocument/2006/relationships/notesMaster" Target="/ppt/notesMasters/notesMaster1.xml" Id="Rb779ef42a5f54dd2"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6c013ef89ec4b85" /><Relationship Type="http://schemas.openxmlformats.org/officeDocument/2006/relationships/notesMaster" Target="/ppt/notesMasters/notesMaster1.xml" Id="R615bf80b33f547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27daa6716a461e" /><Relationship Type="http://schemas.openxmlformats.org/officeDocument/2006/relationships/notesMaster" Target="/ppt/notesMasters/notesMaster1.xml" Id="R963168255e98456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e2c8418d0784a6f" /><Relationship Type="http://schemas.openxmlformats.org/officeDocument/2006/relationships/notesMaster" Target="/ppt/notesMasters/notesMaster1.xml" Id="Rc29ee594b16a44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8c42bdd24d4b57" /><Relationship Type="http://schemas.openxmlformats.org/officeDocument/2006/relationships/notesMaster" Target="/ppt/notesMasters/notesMaster1.xml" Id="R95eb275d453f410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ea75771ef104476" /><Relationship Type="http://schemas.openxmlformats.org/officeDocument/2006/relationships/notesMaster" Target="/ppt/notesMasters/notesMaster1.xml" Id="Rb891b695940c4ed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b41e99b1ce44138" /><Relationship Type="http://schemas.openxmlformats.org/officeDocument/2006/relationships/notesMaster" Target="/ppt/notesMasters/notesMaster1.xml" Id="R1699830bf8024a8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b0fb1fd780b4bea" /><Relationship Type="http://schemas.openxmlformats.org/officeDocument/2006/relationships/notesMaster" Target="/ppt/notesMasters/notesMaster1.xml" Id="R3fb49fdbf0fc4f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6d886438f61408b" /><Relationship Type="http://schemas.openxmlformats.org/officeDocument/2006/relationships/notesMaster" Target="/ppt/notesMasters/notesMaster1.xml" Id="Rc09512d9d4da4b5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869294bd06413f" /><Relationship Type="http://schemas.openxmlformats.org/officeDocument/2006/relationships/notesMaster" Target="/ppt/notesMasters/notesMaster1.xml" Id="R50df00c8fb8646b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e5d9262dc614c37" /><Relationship Type="http://schemas.openxmlformats.org/officeDocument/2006/relationships/notesMaster" Target="/ppt/notesMasters/notesMaster1.xml" Id="R8c2d04a35c1748d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5e716a0c61b4b23" /><Relationship Type="http://schemas.openxmlformats.org/officeDocument/2006/relationships/notesMaster" Target="/ppt/notesMasters/notesMaster1.xml" Id="Rd87516ef81874a5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f509c827a5c4273" /><Relationship Type="http://schemas.openxmlformats.org/officeDocument/2006/relationships/notesMaster" Target="/ppt/notesMasters/notesMaster1.xml" Id="R5a043ee45216488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39c7d8697a1406b" /><Relationship Type="http://schemas.openxmlformats.org/officeDocument/2006/relationships/notesMaster" Target="/ppt/notesMasters/notesMaster1.xml" Id="Rb80f0c7a00a041c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2e36278bf994d05" /><Relationship Type="http://schemas.openxmlformats.org/officeDocument/2006/relationships/notesMaster" Target="/ppt/notesMasters/notesMaster1.xml" Id="R77ca0038eaa4402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4d1f0f1d45947cf" /><Relationship Type="http://schemas.openxmlformats.org/officeDocument/2006/relationships/notesMaster" Target="/ppt/notesMasters/notesMaster1.xml" Id="Rbc015ff7439641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 classroom guidance</a:t>
            </a:r>
          </a:p>
          <a:p xmlns:a="http://schemas.openxmlformats.org/drawingml/2006/main">
            <a:r>
              <a:t/>
            </a:r>
          </a:p>
          <a:p xmlns:a="http://schemas.openxmlformats.org/drawingml/2006/main">
            <a:r>
              <a:t>https://www.retrievalpractice.org/strategies/2017/free-recall</a:t>
            </a:r>
          </a:p>
          <a:p xmlns:a="http://schemas.openxmlformats.org/drawingml/2006/main">
            <a:r>
              <a:t/>
            </a:r>
          </a:p>
          <a:p xmlns:a="http://schemas.openxmlformats.org/drawingml/2006/main">
            <a:r>
              <a:t>Free recall is a longstanding research method. Credit here recognises Agarwal’s classroom explanation, rather than claiming she invented free recall.</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https://tnt-teaching-tools.github.io/retrieval-toolkit/retrieval-brain-dump.html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 named classroom strategy</a:t>
            </a:r>
          </a:p>
          <a:p xmlns:a="http://schemas.openxmlformats.org/drawingml/2006/main">
            <a:r>
              <a:t/>
            </a:r>
          </a:p>
          <a:p xmlns:a="http://schemas.openxmlformats.org/drawingml/2006/main">
            <a:r>
              <a:t>https://www.retrievalpractice.org/strategies/2018/two-things</a:t>
            </a:r>
          </a:p>
          <a:p xmlns:a="http://schemas.openxmlformats.org/drawingml/2006/main">
            <a:r>
              <a:t/>
            </a:r>
          </a:p>
          <a:p xmlns:a="http://schemas.openxmlformats.org/drawingml/2006/main">
            <a:r>
              <a:t>Agarwal shares this strategy as “Two Things”. This guide adds a teacher check and a later revisit.</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https://tnt-teaching-tools.github.io/retrieval-toolkit/retrieval-two-things.html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published classroom resource</a:t>
            </a:r>
          </a:p>
          <a:p xmlns:a="http://schemas.openxmlformats.org/drawingml/2006/main">
            <a:r>
              <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Jones describes this activity in her retrieval practice resources. This is a TNT classroom adaptation with seated sharing and teacher verification.</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https://tnt-teaching-tools.github.io/retrieval-toolkit/retrieval-cops-and-robbers.html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Retrieval Practice Challenge Grids</a:t>
            </a:r>
          </a:p>
          <a:p xmlns:a="http://schemas.openxmlformats.org/drawingml/2006/main">
            <a:r>
              <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Jones links her challenge grid to content taught at different times. TNT uses time labels as well as colour and keeps points optional.</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https://tnt-teaching-tools.github.io/retrieval-toolkit/retrieval-challenge-grid.html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Adam Boxer — Retrieval Roulette</a:t>
            </a:r>
          </a:p>
          <a:p xmlns:a="http://schemas.openxmlformats.org/drawingml/2006/main">
            <a:r>
              <a:t/>
            </a:r>
          </a:p>
          <a:p xmlns:a="http://schemas.openxmlformats.org/drawingml/2006/main">
            <a:r>
              <a:t>https://achemicalorthodoxy.co.uk/2017/05/04/the-retrieval-roulette/</a:t>
            </a:r>
          </a:p>
          <a:p xmlns:a="http://schemas.openxmlformats.org/drawingml/2006/main">
            <a:r>
              <a:t/>
            </a:r>
          </a:p>
          <a:p xmlns:a="http://schemas.openxmlformats.org/drawingml/2006/main">
            <a:r>
              <a:t>Boxer published Retrieval Roulette in 2017. His tool selects questions; the TNT activity wheel selects activity formats and is a separate feature.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https://tnt-teaching-tools.github.io/retrieval-toolkit/retrieval-retrieval-roulette.html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 flashcard guidance</a:t>
            </a:r>
          </a:p>
          <a:p xmlns:a="http://schemas.openxmlformats.org/drawingml/2006/main">
            <a:r>
              <a:t/>
            </a:r>
          </a:p>
          <a:p xmlns:a="http://schemas.openxmlformats.org/drawingml/2006/main">
            <a:r>
              <a:t>https://www.retrievalpractice.org/strategies/2019/11/18/flashcards</a:t>
            </a:r>
          </a:p>
          <a:p xmlns:a="http://schemas.openxmlformats.org/drawingml/2006/main">
            <a:r>
              <a:t/>
            </a:r>
          </a:p>
          <a:p xmlns:a="http://schemas.openxmlformats.org/drawingml/2006/main">
            <a:r>
              <a:t>Flashcards are a shared study method. Agarwal is credited for the linked retrieval guidance; the short classroom format is a TNT adaptation.</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https://tnt-teaching-tools.github.io/retrieval-toolkit/retrieval-flashcard-sprint.html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Janell R. Blunt — linked classroom guidance</a:t>
            </a:r>
          </a:p>
          <a:p xmlns:a="http://schemas.openxmlformats.org/drawingml/2006/main">
            <a:r>
              <a:t/>
            </a:r>
          </a:p>
          <a:p xmlns:a="http://schemas.openxmlformats.org/drawingml/2006/main">
            <a:r>
              <a:t>https://www.retrievalpractice.org/strategies/white-boards</a:t>
            </a:r>
          </a:p>
          <a:p xmlns:a="http://schemas.openxmlformats.org/drawingml/2006/main">
            <a:r>
              <a:t/>
            </a:r>
          </a:p>
          <a:p xmlns:a="http://schemas.openxmlformats.org/drawingml/2006/main">
            <a:r>
              <a:t>Mini whiteboards are a shared classroom tool. Blunt is credited for the linked retrieval guidance, not as the inventor of whiteboards.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https://tnt-teaching-tools.github.io/retrieval-toolkit/retrieval-whiteboard-recall.html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Shared concept-mapping method; public explanation by The Learning Scientists</a:t>
            </a:r>
          </a:p>
          <a:p xmlns:a="http://schemas.openxmlformats.org/drawingml/2006/main">
            <a:r>
              <a:t/>
            </a:r>
          </a:p>
          <a:p xmlns:a="http://schemas.openxmlformats.org/drawingml/2006/main">
            <a:r>
              <a:t>https://www.learningscientists.org/blog/2016/2/29-1</a:t>
            </a:r>
          </a:p>
          <a:p xmlns:a="http://schemas.openxmlformats.org/drawingml/2006/main">
            <a:r>
              <a:t/>
            </a:r>
          </a:p>
          <a:p xmlns:a="http://schemas.openxmlformats.org/drawingml/2006/main">
            <a:r>
              <a:t>No sole creator is claimed for this memory-first classroom variant. The Learning Scientists explain retrieval-based concept mapping and link to research by Karpicke and Blunt (2011), and Blunt and Karpicke (2014). The organiser here is an independent classroom adaptation.</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https://tnt-teaching-tools.github.io/retrieval-toolkit/retrieval-concept-map.html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Shared visual-cue method; TNT classroom adaptation</a:t>
            </a:r>
          </a:p>
          <a:p xmlns:a="http://schemas.openxmlformats.org/drawingml/2006/main">
            <a:r>
              <a:t/>
            </a:r>
          </a:p>
          <a:p xmlns:a="http://schemas.openxmlformats.org/drawingml/2006/main">
            <a:r>
              <a:t>https://pdf.retrievalpractice.org/RetrievalPracticeGuide.pdf</a:t>
            </a:r>
          </a:p>
          <a:p xmlns:a="http://schemas.openxmlformats.org/drawingml/2006/main">
            <a:r>
              <a:t/>
            </a:r>
          </a:p>
          <a:p xmlns:a="http://schemas.openxmlformats.org/drawingml/2006/main">
            <a:r>
              <a:t>No single originator is verified for this broad routine. The link supports retrieval principles rather than establishing ownership of picture prompts.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https://tnt-teaching-tools.github.io/retrieval-toolkit/retrieval-picture-prompts.html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published List It! classroom strategy</a:t>
            </a:r>
          </a:p>
          <a:p xmlns:a="http://schemas.openxmlformats.org/drawingml/2006/main">
            <a:r>
              <a:t/>
            </a:r>
          </a:p>
          <a:p xmlns:a="http://schemas.openxmlformats.org/drawingml/2006/main">
            <a:r>
              <a:t>https://www.tesol.org/blog/posts/9-ways-to-do-retrieval-practice-in-the-classroom/</a:t>
            </a:r>
          </a:p>
          <a:p xmlns:a="http://schemas.openxmlformats.org/drawingml/2006/main">
            <a:r>
              <a:t/>
            </a:r>
          </a:p>
          <a:p xmlns:a="http://schemas.openxmlformats.org/drawingml/2006/main">
            <a:r>
              <a:t>Hall Houston describes List It! in his TESOL article and attributes the published classroom example to Kate Jones’s Retrieval Practice (2019). Listing from memory is a wider shared routine. This independently written adaptation adds a bounded category, an explanation and teacher checking.</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https://tnt-teaching-tools.github.io/retrieval-toolkit/retrieval-list-it.html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Shared placemat structure; TNT retrieval adaptation</a:t>
            </a:r>
          </a:p>
          <a:p xmlns:a="http://schemas.openxmlformats.org/drawingml/2006/main">
            <a:r>
              <a:t/>
            </a:r>
          </a:p>
          <a:p xmlns:a="http://schemas.openxmlformats.org/drawingml/2006/main">
            <a:r>
              <a:t>https://pdf.retrievalpractice.org/RetrievalPracticeGuide.pdf</a:t>
            </a:r>
          </a:p>
          <a:p xmlns:a="http://schemas.openxmlformats.org/drawingml/2006/main">
            <a:r>
              <a:t/>
            </a:r>
          </a:p>
          <a:p xmlns:a="http://schemas.openxmlformats.org/drawingml/2006/main">
            <a:r>
              <a:t>This uses a shared cooperative placemat layout: separate spaces for individual writing and a centre for agreed ideas. It differs from Kate Jones’s prompt-based Retrieval Practice Placemat, which she describes in her TILE article. No sole originator is verified for the cooperative layout. This guide adds independent recall and an individual retry.</a:t>
            </a:r>
          </a:p>
          <a:p xmlns:a="http://schemas.openxmlformats.org/drawingml/2006/main">
            <a:r>
              <a:t/>
            </a:r>
          </a:p>
          <a:p xmlns:a="http://schemas.openxmlformats.org/drawingml/2006/main">
            <a:r>
              <a:t>Related example: Kate Jones — prompt-based Retrieval Practice Placemat</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https://tnt-teaching-tools.github.io/retrieval-toolkit/retrieval-retrieval-placemat.html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Shared dice-selection format; TNT classroom adaptation</a:t>
            </a:r>
          </a:p>
          <a:p xmlns:a="http://schemas.openxmlformats.org/drawingml/2006/main">
            <a:r>
              <a:t/>
            </a:r>
          </a:p>
          <a:p xmlns:a="http://schemas.openxmlformats.org/drawingml/2006/main">
            <a:r>
              <a:t>https://pdf.retrievalpractice.org/RetrievalPracticeGuide.pdf</a:t>
            </a:r>
          </a:p>
          <a:p xmlns:a="http://schemas.openxmlformats.org/drawingml/2006/main">
            <a:r>
              <a:t/>
            </a:r>
          </a:p>
          <a:p xmlns:a="http://schemas.openxmlformats.org/drawingml/2006/main">
            <a:r>
              <a:t>No sole creator is verified for this generic dice format. Random selection changes the format; learning depends on retrieval and feedback.</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https://tnt-teaching-tools.github.io/retrieval-toolkit/retrieval-roll-and-retrieve.html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prompts and checked answers. All labels and response areas are editable. Give everyone an independent attempt before revealing answers. Duplicate the slide for answers or another prompt. For cards, print the prompt and answer on opposite sides or fold them to keep answers hidden.</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Becky Russell — revision clock; acknowledged by Kate Jones</a:t>
            </a:r>
          </a:p>
          <a:p xmlns:a="http://schemas.openxmlformats.org/drawingml/2006/main">
            <a:r>
              <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In her TILE article, Kate Jones credits Becky Russell (@Geogblog) with creating and sharing the revision clock. This independently written adaptation uses fewer sections, flexible timings and checked feedback.</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https://tnt-teaching-tools.github.io/retrieval-toolkit/retrieval-retrieval-clock.html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 retrieval adaptation of Think–Pair–Share</a:t>
            </a:r>
          </a:p>
          <a:p xmlns:a="http://schemas.openxmlformats.org/drawingml/2006/main">
            <a:r>
              <a:t/>
            </a:r>
          </a:p>
          <a:p xmlns:a="http://schemas.openxmlformats.org/drawingml/2006/main">
            <a:r>
              <a:t>https://www.retrievalpractice.org/strategies/2018/think-pair-share</a:t>
            </a:r>
          </a:p>
          <a:p xmlns:a="http://schemas.openxmlformats.org/drawingml/2006/main">
            <a:r>
              <a:t/>
            </a:r>
          </a:p>
          <a:p xmlns:a="http://schemas.openxmlformats.org/drawingml/2006/main">
            <a:r>
              <a:t>Think–Pair–Share is a shared classroom structure. This version follows Agarwal’s retrieval guidance; it does not claim she invented the original structure.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https://tnt-teaching-tools.github.io/retrieval-toolkit/retrieval-think-pair-share.html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James M. Lang — Connection Notebooks; explained by Pooja K. Agarwal</a:t>
            </a:r>
          </a:p>
          <a:p xmlns:a="http://schemas.openxmlformats.org/drawingml/2006/main">
            <a:r>
              <a:t/>
            </a:r>
          </a:p>
          <a:p xmlns:a="http://schemas.openxmlformats.org/drawingml/2006/main">
            <a:r>
              <a:t>https://www.retrievalpractice.org/strategies/2018/8/31/connection-notebooks</a:t>
            </a:r>
          </a:p>
          <a:p xmlns:a="http://schemas.openxmlformats.org/drawingml/2006/main">
            <a:r>
              <a:t/>
            </a:r>
          </a:p>
          <a:p xmlns:a="http://schemas.openxmlformats.org/drawingml/2006/main">
            <a:r>
              <a:t>Agarwal attributes Connection Notebooks to James M. Lang. This classroom adaptation recalls earlier taught knowledge and checks accuracy before extending a connection.</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https://tnt-teaching-tools.github.io/retrieval-toolkit/retrieval-connection-notebook.html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Pooja K. Agarwal &amp; Patrice M. Bain — mini-quiz classroom guidance</a:t>
            </a:r>
          </a:p>
          <a:p xmlns:a="http://schemas.openxmlformats.org/drawingml/2006/main">
            <a:r>
              <a:t/>
            </a:r>
          </a:p>
          <a:p xmlns:a="http://schemas.openxmlformats.org/drawingml/2006/main">
            <a:r>
              <a:t>https://www.retrievalpractice.org/strategies/groupwork</a:t>
            </a:r>
          </a:p>
          <a:p xmlns:a="http://schemas.openxmlformats.org/drawingml/2006/main">
            <a:r>
              <a:t/>
            </a:r>
          </a:p>
          <a:p xmlns:a="http://schemas.openxmlformats.org/drawingml/2006/main">
            <a:r>
              <a:t>Mini-quizzes are a longstanding teaching routine. Agarwal and Bain’s Powerful Teaching includes this approach; this guide credits their classroom guidance rather than claiming they invented quizzes.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https://tnt-teaching-tools.github.io/retrieval-toolkit/retrieval-quick-quiz.html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Retrieval Relay, Seneca CPD</a:t>
            </a:r>
          </a:p>
          <a:p xmlns:a="http://schemas.openxmlformats.org/drawingml/2006/main">
            <a:r>
              <a:t/>
            </a:r>
          </a:p>
          <a:p xmlns:a="http://schemas.openxmlformats.org/drawingml/2006/main">
            <a:r>
              <a:t>https://tile.psy.gla.ac.uk/2019/12/03/tile-share-best-practice-retrieval-practice-research-and-resources-for-every-classroom-by-kate-jones/</a:t>
            </a:r>
          </a:p>
          <a:p xmlns:a="http://schemas.openxmlformats.org/drawingml/2006/main">
            <a:r>
              <a:t/>
            </a:r>
          </a:p>
          <a:p xmlns:a="http://schemas.openxmlformats.org/drawingml/2006/main">
            <a:r>
              <a:t>Kate Jones describes Retrieval Relay Race in her public TILE article and her Seneca CPD. This independently written seated adaptation adds an individual response before each team turn and prioritises accuracy over speed.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https://tnt-teaching-tools.github.io/retrieval-toolkit/retrieval-retrieval-relay.html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Hall Houston — published classroom activity</a:t>
            </a:r>
          </a:p>
          <a:p xmlns:a="http://schemas.openxmlformats.org/drawingml/2006/main">
            <a:r>
              <a:t/>
            </a:r>
          </a:p>
          <a:p xmlns:a="http://schemas.openxmlformats.org/drawingml/2006/main">
            <a:r>
              <a:t>https://www.tesol.org/blog/posts/9-ways-to-do-retrieval-practice-in-the-classroom/</a:t>
            </a:r>
          </a:p>
          <a:p xmlns:a="http://schemas.openxmlformats.org/drawingml/2006/main">
            <a:r>
              <a:t/>
            </a:r>
          </a:p>
          <a:p xmlns:a="http://schemas.openxmlformats.org/drawingml/2006/main">
            <a:r>
              <a:t>Hall Houston identifies this activity as his own in the linked TESOL blog. This subject-neutral adaptation adds individual thinking and teacher-checked feedback.</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https://tnt-teaching-tools.github.io/retrieval-toolkit/retrieval-sticky-note-quiz.html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Hall Houston — published classroom activity</a:t>
            </a:r>
          </a:p>
          <a:p xmlns:a="http://schemas.openxmlformats.org/drawingml/2006/main">
            <a:r>
              <a:t/>
            </a:r>
          </a:p>
          <a:p xmlns:a="http://schemas.openxmlformats.org/drawingml/2006/main">
            <a:r>
              <a:t>https://www.tesol.org/blog/posts/9-ways-to-do-retrieval-practice-in-the-classroom/</a:t>
            </a:r>
          </a:p>
          <a:p xmlns:a="http://schemas.openxmlformats.org/drawingml/2006/main">
            <a:r>
              <a:t/>
            </a:r>
          </a:p>
          <a:p xmlns:a="http://schemas.openxmlformats.org/drawingml/2006/main">
            <a:r>
              <a:t>Hall Houston identifies this activity as his own in the linked TESOL blog. This subject-neutral adaptation adds individual thinking and teacher-checked feedback.</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https://tnt-teaching-tools.github.io/retrieval-toolkit/retrieval-retrieval-role-play.html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published Walkabout Bingo; summarised by Hall Houston</a:t>
            </a:r>
          </a:p>
          <a:p xmlns:a="http://schemas.openxmlformats.org/drawingml/2006/main">
            <a:r>
              <a:t/>
            </a:r>
          </a:p>
          <a:p xmlns:a="http://schemas.openxmlformats.org/drawingml/2006/main">
            <a:r>
              <a:t>https://www.tesol.org/blog/posts/9-ways-to-do-retrieval-practice-in-the-classroom/</a:t>
            </a:r>
          </a:p>
          <a:p xmlns:a="http://schemas.openxmlformats.org/drawingml/2006/main">
            <a:r>
              <a:t/>
            </a:r>
          </a:p>
          <a:p xmlns:a="http://schemas.openxmlformats.org/drawingml/2006/main">
            <a:r>
              <a:t>Houston attributes Walkabout Bingo to Jones’s Retrieval Practice book. This adaptation adds a private first attempt and a final individual recall, and removes the race to finish.</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https://tnt-teaching-tools.github.io/retrieval-toolkit/retrieval-walkabout-bingo.html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Laura Webb — published classroom example</a:t>
            </a:r>
          </a:p>
          <a:p xmlns:a="http://schemas.openxmlformats.org/drawingml/2006/main">
            <a:r>
              <a:t/>
            </a:r>
          </a:p>
          <a:p xmlns:a="http://schemas.openxmlformats.org/drawingml/2006/main">
            <a:r>
              <a:t>https://teachingtoptens.wordpress.com/2018/09/28/ten-testing-strategies-a-range-of-activities-for-varying-retrieval-practice/</a:t>
            </a:r>
          </a:p>
          <a:p xmlns:a="http://schemas.openxmlformats.org/drawingml/2006/main">
            <a:r>
              <a:t/>
            </a:r>
          </a:p>
          <a:p xmlns:a="http://schemas.openxmlformats.org/drawingml/2006/main">
            <a:r>
              <a:t>Laura Webb describes using this routine in her classroom. Credit recognises her published example, not a verified claim to invent the wider routine.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https://tnt-teaching-tools.github.io/retrieval-toolkit/retrieval-recall-bingo.html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Laura Webb — published classroom example</a:t>
            </a:r>
          </a:p>
          <a:p xmlns:a="http://schemas.openxmlformats.org/drawingml/2006/main">
            <a:r>
              <a:t/>
            </a:r>
          </a:p>
          <a:p xmlns:a="http://schemas.openxmlformats.org/drawingml/2006/main">
            <a:r>
              <a:t>https://teachingtoptens.wordpress.com/2018/09/28/ten-testing-strategies-a-range-of-activities-for-varying-retrieval-practice/</a:t>
            </a:r>
          </a:p>
          <a:p xmlns:a="http://schemas.openxmlformats.org/drawingml/2006/main">
            <a:r>
              <a:t/>
            </a:r>
          </a:p>
          <a:p xmlns:a="http://schemas.openxmlformats.org/drawingml/2006/main">
            <a:r>
              <a:t>Laura Webb describes using this routine in her classroom. Credit recognises her published example, not a verified claim to invent the wider routine.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https://tnt-teaching-tools.github.io/retrieval-toolkit/retrieval-fading-cloze.html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Laura Webb — published classroom example</a:t>
            </a:r>
          </a:p>
          <a:p xmlns:a="http://schemas.openxmlformats.org/drawingml/2006/main">
            <a:r>
              <a:t/>
            </a:r>
          </a:p>
          <a:p xmlns:a="http://schemas.openxmlformats.org/drawingml/2006/main">
            <a:r>
              <a:t>https://teachingtoptens.wordpress.com/2018/09/28/ten-testing-strategies-a-range-of-activities-for-varying-retrieval-practice/</a:t>
            </a:r>
          </a:p>
          <a:p xmlns:a="http://schemas.openxmlformats.org/drawingml/2006/main">
            <a:r>
              <a:t/>
            </a:r>
          </a:p>
          <a:p xmlns:a="http://schemas.openxmlformats.org/drawingml/2006/main">
            <a:r>
              <a:t>Laura Webb describes using this routine in her classroom. Credit recognises her published example, not a verified claim to invent the wider routine.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https://tnt-teaching-tools.github.io/retrieval-toolkit/retrieval-multiple-choice-reasons.html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Jenny Campbell — published classroom example, Collins</a:t>
            </a:r>
          </a:p>
          <a:p xmlns:a="http://schemas.openxmlformats.org/drawingml/2006/main">
            <a:r>
              <a:t/>
            </a:r>
          </a:p>
          <a:p xmlns:a="http://schemas.openxmlformats.org/drawingml/2006/main">
            <a:r>
              <a:t>https://collins.co.uk/blogs/collins-schools/retrieval-strategies-in-the-classroom</a:t>
            </a:r>
          </a:p>
          <a:p xmlns:a="http://schemas.openxmlformats.org/drawingml/2006/main">
            <a:r>
              <a:t/>
            </a:r>
          </a:p>
          <a:p xmlns:a="http://schemas.openxmlformats.org/drawingml/2006/main">
            <a:r>
              <a:t>Campbell describes this approach in her classroom blog. The original inventor of the wider routine is not verified; this guide adapts it for any taught topic.</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https://tnt-teaching-tools.github.io/retrieval-toolkit/retrieval-odd-one-out.html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Jenny Campbell — published classroom example, Collins</a:t>
            </a:r>
          </a:p>
          <a:p xmlns:a="http://schemas.openxmlformats.org/drawingml/2006/main">
            <a:r>
              <a:t/>
            </a:r>
          </a:p>
          <a:p xmlns:a="http://schemas.openxmlformats.org/drawingml/2006/main">
            <a:r>
              <a:t>https://collins.co.uk/blogs/collins-schools/retrieval-strategies-in-the-classroom</a:t>
            </a:r>
          </a:p>
          <a:p xmlns:a="http://schemas.openxmlformats.org/drawingml/2006/main">
            <a:r>
              <a:t/>
            </a:r>
          </a:p>
          <a:p xmlns:a="http://schemas.openxmlformats.org/drawingml/2006/main">
            <a:r>
              <a:t>Campbell describes this approach in her classroom blog. The original inventor of the wider routine is not verified; this guide adapts it for any taught topic.</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https://tnt-teaching-tools.github.io/retrieval-toolkit/retrieval-retrieval-quilt.html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Aidan Severs — classroom guidance</a:t>
            </a:r>
          </a:p>
          <a:p xmlns:a="http://schemas.openxmlformats.org/drawingml/2006/main">
            <a:r>
              <a:t/>
            </a:r>
          </a:p>
          <a:p xmlns:a="http://schemas.openxmlformats.org/drawingml/2006/main">
            <a:r>
              <a:t>https://www.aidansevers.com/post/no-quiz-retrieval-practice-techniques</a:t>
            </a:r>
          </a:p>
          <a:p xmlns:a="http://schemas.openxmlformats.org/drawingml/2006/main">
            <a:r>
              <a:t/>
            </a:r>
          </a:p>
          <a:p xmlns:a="http://schemas.openxmlformats.org/drawingml/2006/main">
            <a:r>
              <a:t>Severs discusses this shared classroom routine as a retrieval option. This adaptation requires recall before peers or visible answers provide support. The original creator is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https://tnt-teaching-tools.github.io/retrieval-toolkit/retrieval-recall-sort.html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Aidan Severs — classroom guidance</a:t>
            </a:r>
          </a:p>
          <a:p xmlns:a="http://schemas.openxmlformats.org/drawingml/2006/main">
            <a:r>
              <a:t/>
            </a:r>
          </a:p>
          <a:p xmlns:a="http://schemas.openxmlformats.org/drawingml/2006/main">
            <a:r>
              <a:t>https://www.aidansevers.com/post/no-quiz-retrieval-practice-techniques</a:t>
            </a:r>
          </a:p>
          <a:p xmlns:a="http://schemas.openxmlformats.org/drawingml/2006/main">
            <a:r>
              <a:t/>
            </a:r>
          </a:p>
          <a:p xmlns:a="http://schemas.openxmlformats.org/drawingml/2006/main">
            <a:r>
              <a:t>Severs discusses this shared classroom routine as a retrieval option. This adaptation requires recall before peers or visible answers provide support. The original creator is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https://tnt-teaching-tools.github.io/retrieval-toolkit/retrieval-loop-card-retrieval.html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Lindsey Albracht, Baruch College — teaching guide</a:t>
            </a:r>
          </a:p>
          <a:p xmlns:a="http://schemas.openxmlformats.org/drawingml/2006/main">
            <a:r>
              <a:t/>
            </a:r>
          </a:p>
          <a:p xmlns:a="http://schemas.openxmlformats.org/drawingml/2006/main">
            <a:r>
              <a:t>https://blogs.baruch.cuny.edu/activelearning/ink-shedding/</a:t>
            </a:r>
          </a:p>
          <a:p xmlns:a="http://schemas.openxmlformats.org/drawingml/2006/main">
            <a:r>
              <a:t/>
            </a:r>
          </a:p>
          <a:p xmlns:a="http://schemas.openxmlformats.org/drawingml/2006/main">
            <a:r>
              <a:t>Inkshedding was developed by Russ Hunt and Jim Reither. Lindsey Albracht’s Baruch College guide explains a classroom version for reviewing earlier material through written dialogue. The linked guide describes a longer discussion activity; this short retrieval adaptation asks students to recall previously taught content without notes before exchanging writing, then check accuracy.</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https://tnt-teaching-tools.github.io/retrieval-toolkit/retrieval-inkshedding.html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Geographical Association — classroom guidance</a:t>
            </a:r>
          </a:p>
          <a:p xmlns:a="http://schemas.openxmlformats.org/drawingml/2006/main">
            <a:r>
              <a:t/>
            </a:r>
          </a:p>
          <a:p xmlns:a="http://schemas.openxmlformats.org/drawingml/2006/main">
            <a:r>
              <a:t>https://geography.org.uk/ite/initial-teacher-education/geography-support-for-trainees-and-ects/learning-to-teach-secondary-geography/ite-trainees-classroom-practice/practice/retrieval-practice/</a:t>
            </a:r>
          </a:p>
          <a:p xmlns:a="http://schemas.openxmlformats.org/drawingml/2006/main">
            <a:r>
              <a:t/>
            </a:r>
          </a:p>
          <a:p xmlns:a="http://schemas.openxmlformats.org/drawingml/2006/main">
            <a:r>
              <a:t>The Geographical Association describes this shared routine. Here it is adapted for processes or ideas in any subject, with the content recalled before reference materials are opened. Original creator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https://tnt-teaching-tools.github.io/retrieval-toolkit/retrieval-memory-storyboard.html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Kate Jones — cued retrieval guidance, Evidence Based Education</a:t>
            </a:r>
          </a:p>
          <a:p xmlns:a="http://schemas.openxmlformats.org/drawingml/2006/main">
            <a:r>
              <a:t/>
            </a:r>
          </a:p>
          <a:p xmlns:a="http://schemas.openxmlformats.org/drawingml/2006/main">
            <a:r>
              <a:t>https://evidencebased.education/resource/cues-to-support-retrieval-practice/</a:t>
            </a:r>
          </a:p>
          <a:p xmlns:a="http://schemas.openxmlformats.org/drawingml/2006/main">
            <a:r>
              <a:t/>
            </a:r>
          </a:p>
          <a:p xmlns:a="http://schemas.openxmlformats.org/drawingml/2006/main">
            <a:r>
              <a:t>Jones gives an unlabelled diagram as an example of a retrieval cue. This guide adapts that example across subjects; the original inventor of diagram labelling is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https://tnt-teaching-tools.github.io/retrieval-toolkit/retrieval-blank-diagram.html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The Learning Scientists — drawing from memory guidance</a:t>
            </a:r>
          </a:p>
          <a:p xmlns:a="http://schemas.openxmlformats.org/drawingml/2006/main">
            <a:r>
              <a:t/>
            </a:r>
          </a:p>
          <a:p xmlns:a="http://schemas.openxmlformats.org/drawingml/2006/main">
            <a:r>
              <a:t>https://www.learningscientists.org/blog/2016/2/29-1</a:t>
            </a:r>
          </a:p>
          <a:p xmlns:a="http://schemas.openxmlformats.org/drawingml/2006/main">
            <a:r>
              <a:t/>
            </a:r>
          </a:p>
          <a:p xmlns:a="http://schemas.openxmlformats.org/drawingml/2006/main">
            <a:r>
              <a:t>The Learning Scientists describe drawing from memory as a retrieval format. This guide is a classroom adaptation, not a claim that the authors invented drawing or that drawing always outperforms other formats.</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https://tnt-teaching-tools.github.io/retrieval-toolkit/retrieval-draw-from-memory.html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Judith C. Hochman &amp; Natalie Wexler — The Writing Revolution; Bradford Research School adaptation</a:t>
            </a:r>
          </a:p>
          <a:p xmlns:a="http://schemas.openxmlformats.org/drawingml/2006/main">
            <a:r>
              <a:t/>
            </a:r>
          </a:p>
          <a:p xmlns:a="http://schemas.openxmlformats.org/drawingml/2006/main">
            <a:r>
              <a:t>https://researchschool.org.uk/bradford/news/retrieval-practice-higher-order-thinking</a:t>
            </a:r>
          </a:p>
          <a:p xmlns:a="http://schemas.openxmlformats.org/drawingml/2006/main">
            <a:r>
              <a:t/>
            </a:r>
          </a:p>
          <a:p xmlns:a="http://schemas.openxmlformats.org/drawingml/2006/main">
            <a:r>
              <a:t>The because/but/so writing routine is associated with Hochman and Wexler’s The Writing Revolution. Bradford Research School describes adapting it for retrieval and elaboration. This guide follows that combined purpose.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https://tnt-teaching-tools.github.io/retrieval-toolkit/retrieval-because-but-so.html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Eric Mazur — Peer Instruction</a:t>
            </a:r>
          </a:p>
          <a:p xmlns:a="http://schemas.openxmlformats.org/drawingml/2006/main">
            <a:r>
              <a:t/>
            </a:r>
          </a:p>
          <a:p xmlns:a="http://schemas.openxmlformats.org/drawingml/2006/main">
            <a:r>
              <a:t>https://instructionalmoves.gse.harvard.edu/using-peer-instruction-improve-student-learning</a:t>
            </a:r>
          </a:p>
          <a:p xmlns:a="http://schemas.openxmlformats.org/drawingml/2006/main">
            <a:r>
              <a:t/>
            </a:r>
          </a:p>
          <a:p xmlns:a="http://schemas.openxmlformats.org/drawingml/2006/main">
            <a:r>
              <a:t>Mazur describes Peer Instruction in this Harvard teaching resource. This is a simple classroom adaptation using previously taught concepts; the method also supports conceptual reasoning, beyond factual recall.</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https://tnt-teaching-tools.github.io/retrieval-toolkit/retrieval-peer-instruction.html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Geographical Association — classroom guidance</a:t>
            </a:r>
          </a:p>
          <a:p xmlns:a="http://schemas.openxmlformats.org/drawingml/2006/main">
            <a:r>
              <a:t/>
            </a:r>
          </a:p>
          <a:p xmlns:a="http://schemas.openxmlformats.org/drawingml/2006/main">
            <a:r>
              <a:t>https://geography.org.uk/ite/initial-teacher-education/geography-support-for-trainees-and-ects/learning-to-teach-secondary-geography/ite-trainees-classroom-practice/practice/retrieval-practice/</a:t>
            </a:r>
          </a:p>
          <a:p xmlns:a="http://schemas.openxmlformats.org/drawingml/2006/main">
            <a:r>
              <a:t/>
            </a:r>
          </a:p>
          <a:p xmlns:a="http://schemas.openxmlformats.org/drawingml/2006/main">
            <a:r>
              <a:t>The Geographical Association describes this shared routine. Here it is adapted for processes or ideas in any subject, with the content recalled before reference materials are opened. Original creator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https://tnt-teaching-tools.github.io/retrieval-toolkit/retrieval-taboo-explanations.html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Marilee Sprenger — published classroom example, MiddleWeb</a:t>
            </a:r>
          </a:p>
          <a:p xmlns:a="http://schemas.openxmlformats.org/drawingml/2006/main">
            <a:r>
              <a:t/>
            </a:r>
          </a:p>
          <a:p xmlns:a="http://schemas.openxmlformats.org/drawingml/2006/main">
            <a:r>
              <a:t>https://www.middleweb.com/39762/getting-test-ready-try-some-retrieval-practice/</a:t>
            </a:r>
          </a:p>
          <a:p xmlns:a="http://schemas.openxmlformats.org/drawingml/2006/main">
            <a:r>
              <a:t/>
            </a:r>
          </a:p>
          <a:p xmlns:a="http://schemas.openxmlformats.org/drawingml/2006/main">
            <a:r>
              <a:t>Sprenger describes this classroom format. This adaptation makes the first attempt closed-note and adds checked feedback and a later revisit. The original inventor of the wider routine is not verified.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https://tnt-teaching-tools.github.io/retrieval-toolkit/retrieval-elevator-explanation.html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Dorothy Frayer &amp; colleagues — Frayer model; retrieval example by Marilee Sprenger</a:t>
            </a:r>
          </a:p>
          <a:p xmlns:a="http://schemas.openxmlformats.org/drawingml/2006/main">
            <a:r>
              <a:t/>
            </a:r>
          </a:p>
          <a:p xmlns:a="http://schemas.openxmlformats.org/drawingml/2006/main">
            <a:r>
              <a:t>https://www.middleweb.com/39762/getting-test-ready-try-some-retrieval-practice/</a:t>
            </a:r>
          </a:p>
          <a:p xmlns:a="http://schemas.openxmlformats.org/drawingml/2006/main">
            <a:r>
              <a:t/>
            </a:r>
          </a:p>
          <a:p xmlns:a="http://schemas.openxmlformats.org/drawingml/2006/main">
            <a:r>
              <a:t>Sprenger credits Dorothy Frayer and colleagues with the organiser and describes using it for retrieval. This guide uses its definition, characteristics, examples and non-examples structure with notes closed.</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https://tnt-teaching-tools.github.io/retrieval-toolkit/retrieval-frayer-recall.html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The Learning Scientists — elaboration combined with retrieval</a:t>
            </a:r>
          </a:p>
          <a:p xmlns:a="http://schemas.openxmlformats.org/drawingml/2006/main">
            <a:r>
              <a:t/>
            </a:r>
          </a:p>
          <a:p xmlns:a="http://schemas.openxmlformats.org/drawingml/2006/main">
            <a:r>
              <a:t>https://www.learningscientists.org/blog/2017/9/14-1</a:t>
            </a:r>
          </a:p>
          <a:p xmlns:a="http://schemas.openxmlformats.org/drawingml/2006/main">
            <a:r>
              <a:t/>
            </a:r>
          </a:p>
          <a:p xmlns:a="http://schemas.openxmlformats.org/drawingml/2006/main">
            <a:r>
              <a:t>This guide adapts the Learning Scientists’ explanation of combining retrieval with elaboration. It is a shared learning approach, not a newly invented named activity.</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https://tnt-teaching-tools.github.io/retrieval-toolkit/retrieval-how-and-why.html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Tom Needham — 10-minute writes classroom example</a:t>
            </a:r>
          </a:p>
          <a:p xmlns:a="http://schemas.openxmlformats.org/drawingml/2006/main">
            <a:r>
              <a:t/>
            </a:r>
          </a:p>
          <a:p xmlns:a="http://schemas.openxmlformats.org/drawingml/2006/main">
            <a:r>
              <a:t>https://tomneedhamteach.wordpress.com/2023/02/03/explicit-instruction-stage-1-retrieval-practice-10-minute-writes/</a:t>
            </a:r>
          </a:p>
          <a:p xmlns:a="http://schemas.openxmlformats.org/drawingml/2006/main">
            <a:r>
              <a:t/>
            </a:r>
          </a:p>
          <a:p xmlns:a="http://schemas.openxmlformats.org/drawingml/2006/main">
            <a:r>
              <a:t>Needham describes ten-minute recall-and-application writes. This shorter classroom adaptation uses a brief closed-note plan, four minutes of writing and checked feedback.</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https://tnt-teaching-tools.github.io/retrieval-toolkit/retrieval-ten-minute-write.html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9f8a0bbf7149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7be1b44f4b843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262ef1759145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e2f591f2281408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a12be693a8c47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af8ebff4af40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0a74252b1d4ee9" /><Relationship Type="http://schemas.openxmlformats.org/officeDocument/2006/relationships/slideLayout" Target="/ppt/slideLayouts/slideLayout1.xml" Id="Re8f5223449ba4b1b" /><Relationship Type="http://schemas.openxmlformats.org/officeDocument/2006/relationships/slideLayout" Target="/ppt/slideLayouts/slideLayout2.xml" Id="R269eba9396b3447c" /><Relationship Type="http://schemas.openxmlformats.org/officeDocument/2006/relationships/slideLayout" Target="/ppt/slideLayouts/slideLayout3.xml" Id="Rd0a22b5da38340a5" /><Relationship Type="http://schemas.openxmlformats.org/officeDocument/2006/relationships/slideLayout" Target="/ppt/slideLayouts/slideLayout4.xml" Id="R48fa99b066e143a7" /><Relationship Type="http://schemas.openxmlformats.org/officeDocument/2006/relationships/slideLayout" Target="/ppt/slideLayouts/slideLayout5.xml" Id="R199c6cfd3e3d450c" /><Relationship Type="http://schemas.openxmlformats.org/officeDocument/2006/relationships/slideLayout" Target="/ppt/slideLayouts/slideLayout6.xml" Id="Rc617ef97ab2144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f5223449ba4b1b"/>
    <p:sldLayoutId xmlns:r="http://schemas.openxmlformats.org/officeDocument/2006/relationships" id="2147483650" r:id="R269eba9396b3447c"/>
    <p:sldLayoutId xmlns:r="http://schemas.openxmlformats.org/officeDocument/2006/relationships" id="2147483651" r:id="Rd0a22b5da38340a5"/>
    <p:sldLayoutId xmlns:r="http://schemas.openxmlformats.org/officeDocument/2006/relationships" id="2147483652" r:id="R48fa99b066e143a7"/>
    <p:sldLayoutId xmlns:r="http://schemas.openxmlformats.org/officeDocument/2006/relationships" id="2147483653" r:id="R199c6cfd3e3d450c"/>
    <p:sldLayoutId xmlns:r="http://schemas.openxmlformats.org/officeDocument/2006/relationships" id="2147483654" r:id="Rc617ef97ab2144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b53eb77861145b2" /><Relationship Type="http://schemas.openxmlformats.org/officeDocument/2006/relationships/hyperlink" Target="https://www.retrievalpractice.org/strategies/2017/free-recall" TargetMode="External" Id="R94a2c15baa9c4224" /><Relationship Type="http://schemas.openxmlformats.org/officeDocument/2006/relationships/notesSlide" Target="/ppt/notesSlides/notesSlide1.xml" Id="R449db287900e49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8ffb8c6ee0e4f79" /><Relationship Type="http://schemas.openxmlformats.org/officeDocument/2006/relationships/hyperlink" Target="https://www.retrievalpractice.org/strategies/2018/two-things" TargetMode="External" Id="R1e2ed3a87e554c0f" /><Relationship Type="http://schemas.openxmlformats.org/officeDocument/2006/relationships/notesSlide" Target="/ppt/notesSlides/notesSlide2.xml" Id="R3f6fc7f2a4b84c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426dc28827499a" /><Relationship Type="http://schemas.openxmlformats.org/officeDocument/2006/relationships/hyperlink" Target="https://tile.psy.gla.ac.uk/2019/12/03/tile-share-best-practice-retrieval-practice-research-and-resources-for-every-classroom-by-kate-jones/" TargetMode="External" Id="Red72290009a149e8" /><Relationship Type="http://schemas.openxmlformats.org/officeDocument/2006/relationships/notesSlide" Target="/ppt/notesSlides/notesSlide3.xml" Id="R4417a86cf47a49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7b99554e2a94660" /><Relationship Type="http://schemas.openxmlformats.org/officeDocument/2006/relationships/hyperlink" Target="https://tile.psy.gla.ac.uk/2019/12/03/tile-share-best-practice-retrieval-practice-research-and-resources-for-every-classroom-by-kate-jones/" TargetMode="External" Id="Rf64a28aaa09d4020" /><Relationship Type="http://schemas.openxmlformats.org/officeDocument/2006/relationships/notesSlide" Target="/ppt/notesSlides/notesSlide4.xml" Id="R70b2329858284d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cb60e147c9c4e70" /><Relationship Type="http://schemas.openxmlformats.org/officeDocument/2006/relationships/hyperlink" Target="https://achemicalorthodoxy.co.uk/2017/05/04/the-retrieval-roulette/" TargetMode="External" Id="Rc8e60bfebbb34c91" /><Relationship Type="http://schemas.openxmlformats.org/officeDocument/2006/relationships/notesSlide" Target="/ppt/notesSlides/notesSlide5.xml" Id="Rd17b78f46629403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6f9baaf6274937" /><Relationship Type="http://schemas.openxmlformats.org/officeDocument/2006/relationships/hyperlink" Target="https://www.retrievalpractice.org/strategies/2019/11/18/flashcards" TargetMode="External" Id="R4d56d06503464a00" /><Relationship Type="http://schemas.openxmlformats.org/officeDocument/2006/relationships/notesSlide" Target="/ppt/notesSlides/notesSlide6.xml" Id="Rfb4770c3517648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33e38a4a6442e8" /><Relationship Type="http://schemas.openxmlformats.org/officeDocument/2006/relationships/hyperlink" Target="https://www.retrievalpractice.org/strategies/white-boards" TargetMode="External" Id="R8c048b4115c848fe" /><Relationship Type="http://schemas.openxmlformats.org/officeDocument/2006/relationships/notesSlide" Target="/ppt/notesSlides/notesSlide7.xml" Id="Rbce774a0918841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d037f341924e8d" /><Relationship Type="http://schemas.openxmlformats.org/officeDocument/2006/relationships/hyperlink" Target="https://www.learningscientists.org/blog/2016/2/29-1" TargetMode="External" Id="R64e874fa5eec4591" /><Relationship Type="http://schemas.openxmlformats.org/officeDocument/2006/relationships/notesSlide" Target="/ppt/notesSlides/notesSlide8.xml" Id="R8b6acd976f3a412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4ab339dec564b4c" /><Relationship Type="http://schemas.openxmlformats.org/officeDocument/2006/relationships/hyperlink" Target="https://pdf.retrievalpractice.org/RetrievalPracticeGuide.pdf" TargetMode="External" Id="R810b0875ab174817" /><Relationship Type="http://schemas.openxmlformats.org/officeDocument/2006/relationships/notesSlide" Target="/ppt/notesSlides/notesSlide9.xml" Id="Rc6cd3eadb9fb43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f5fb92c3b64a8e" /><Relationship Type="http://schemas.openxmlformats.org/officeDocument/2006/relationships/hyperlink" Target="https://www.tesol.org/blog/posts/9-ways-to-do-retrieval-practice-in-the-classroom/" TargetMode="External" Id="Rd5b4d170570b4039" /><Relationship Type="http://schemas.openxmlformats.org/officeDocument/2006/relationships/notesSlide" Target="/ppt/notesSlides/notesSlide10.xml" Id="R1ad2213fd7064d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97b327e2ed34439" /><Relationship Type="http://schemas.openxmlformats.org/officeDocument/2006/relationships/hyperlink" Target="https://pdf.retrievalpractice.org/RetrievalPracticeGuide.pdf" TargetMode="External" Id="Rf092107d10b04393" /><Relationship Type="http://schemas.openxmlformats.org/officeDocument/2006/relationships/notesSlide" Target="/ppt/notesSlides/notesSlide11.xml" Id="R39f0b89f558043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6e579bd9a8a4610" /><Relationship Type="http://schemas.openxmlformats.org/officeDocument/2006/relationships/hyperlink" Target="https://pdf.retrievalpractice.org/RetrievalPracticeGuide.pdf" TargetMode="External" Id="R81570ed132ca402c" /><Relationship Type="http://schemas.openxmlformats.org/officeDocument/2006/relationships/notesSlide" Target="/ppt/notesSlides/notesSlide12.xml" Id="Rc52374219ce541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69b2fcd88924c7a" /><Relationship Type="http://schemas.openxmlformats.org/officeDocument/2006/relationships/hyperlink" Target="https://tile.psy.gla.ac.uk/2019/12/03/tile-share-best-practice-retrieval-practice-research-and-resources-for-every-classroom-by-kate-jones/" TargetMode="External" Id="Rcb115a9a4bb54ebd" /><Relationship Type="http://schemas.openxmlformats.org/officeDocument/2006/relationships/notesSlide" Target="/ppt/notesSlides/notesSlide13.xml" Id="R489c03d322e647d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b06cbf3f727430d" /><Relationship Type="http://schemas.openxmlformats.org/officeDocument/2006/relationships/hyperlink" Target="https://www.retrievalpractice.org/strategies/2018/think-pair-share" TargetMode="External" Id="R4d13751090d844f3" /><Relationship Type="http://schemas.openxmlformats.org/officeDocument/2006/relationships/notesSlide" Target="/ppt/notesSlides/notesSlide14.xml" Id="Ra0bb5348ff7741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d179e4bdf074dcd" /><Relationship Type="http://schemas.openxmlformats.org/officeDocument/2006/relationships/hyperlink" Target="https://www.retrievalpractice.org/strategies/2018/8/31/connection-notebooks" TargetMode="External" Id="R08c16d8201b0499b" /><Relationship Type="http://schemas.openxmlformats.org/officeDocument/2006/relationships/notesSlide" Target="/ppt/notesSlides/notesSlide15.xml" Id="R4c5603acd9fa457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2b583c893ac40cb" /><Relationship Type="http://schemas.openxmlformats.org/officeDocument/2006/relationships/hyperlink" Target="https://www.retrievalpractice.org/strategies/groupwork" TargetMode="External" Id="R1011ded9152f4392" /><Relationship Type="http://schemas.openxmlformats.org/officeDocument/2006/relationships/notesSlide" Target="/ppt/notesSlides/notesSlide16.xml" Id="R2d80b6864d8b498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19e2e8cacf54385" /><Relationship Type="http://schemas.openxmlformats.org/officeDocument/2006/relationships/hyperlink" Target="https://tile.psy.gla.ac.uk/2019/12/03/tile-share-best-practice-retrieval-practice-research-and-resources-for-every-classroom-by-kate-jones/" TargetMode="External" Id="Rd42653881d344cad" /><Relationship Type="http://schemas.openxmlformats.org/officeDocument/2006/relationships/notesSlide" Target="/ppt/notesSlides/notesSlide17.xml" Id="Re44666597f984b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d33de9ca73a4d71" /><Relationship Type="http://schemas.openxmlformats.org/officeDocument/2006/relationships/hyperlink" Target="https://www.tesol.org/blog/posts/9-ways-to-do-retrieval-practice-in-the-classroom/" TargetMode="External" Id="Rbf56bace79174b1a" /><Relationship Type="http://schemas.openxmlformats.org/officeDocument/2006/relationships/notesSlide" Target="/ppt/notesSlides/notesSlide18.xml" Id="Rc77360072ca247d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09d3e75a1804d3c" /><Relationship Type="http://schemas.openxmlformats.org/officeDocument/2006/relationships/hyperlink" Target="https://www.tesol.org/blog/posts/9-ways-to-do-retrieval-practice-in-the-classroom/" TargetMode="External" Id="R206027285ed7477d" /><Relationship Type="http://schemas.openxmlformats.org/officeDocument/2006/relationships/notesSlide" Target="/ppt/notesSlides/notesSlide19.xml" Id="R9d82ba3f71ad47d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e1d8589bae14cdb" /><Relationship Type="http://schemas.openxmlformats.org/officeDocument/2006/relationships/hyperlink" Target="https://www.tesol.org/blog/posts/9-ways-to-do-retrieval-practice-in-the-classroom/" TargetMode="External" Id="R835d138035494be1" /><Relationship Type="http://schemas.openxmlformats.org/officeDocument/2006/relationships/notesSlide" Target="/ppt/notesSlides/notesSlide20.xml" Id="R19fca8246d0e45c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43e0718f4c34460" /><Relationship Type="http://schemas.openxmlformats.org/officeDocument/2006/relationships/hyperlink" Target="https://teachingtoptens.wordpress.com/2018/09/28/ten-testing-strategies-a-range-of-activities-for-varying-retrieval-practice/" TargetMode="External" Id="R942cad5e25db48fd" /><Relationship Type="http://schemas.openxmlformats.org/officeDocument/2006/relationships/notesSlide" Target="/ppt/notesSlides/notesSlide21.xml" Id="R6de4a4e0c2fc43a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8bd3beb38db439c" /><Relationship Type="http://schemas.openxmlformats.org/officeDocument/2006/relationships/hyperlink" Target="https://teachingtoptens.wordpress.com/2018/09/28/ten-testing-strategies-a-range-of-activities-for-varying-retrieval-practice/" TargetMode="External" Id="R03a25f7a073f4bca" /><Relationship Type="http://schemas.openxmlformats.org/officeDocument/2006/relationships/notesSlide" Target="/ppt/notesSlides/notesSlide22.xml" Id="R3854490ae4ba402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6cacb7f8a32e41a0" /><Relationship Type="http://schemas.openxmlformats.org/officeDocument/2006/relationships/hyperlink" Target="https://teachingtoptens.wordpress.com/2018/09/28/ten-testing-strategies-a-range-of-activities-for-varying-retrieval-practice/" TargetMode="External" Id="Rd3b3b858a8104765" /><Relationship Type="http://schemas.openxmlformats.org/officeDocument/2006/relationships/notesSlide" Target="/ppt/notesSlides/notesSlide23.xml" Id="R18b5522c0f9a41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c90736517192454c" /><Relationship Type="http://schemas.openxmlformats.org/officeDocument/2006/relationships/hyperlink" Target="https://collins.co.uk/blogs/collins-schools/retrieval-strategies-in-the-classroom" TargetMode="External" Id="Rc79ddca9e2334adb" /><Relationship Type="http://schemas.openxmlformats.org/officeDocument/2006/relationships/notesSlide" Target="/ppt/notesSlides/notesSlide24.xml" Id="R3d10f326157c4f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197032f0e7e44b6" /><Relationship Type="http://schemas.openxmlformats.org/officeDocument/2006/relationships/hyperlink" Target="https://collins.co.uk/blogs/collins-schools/retrieval-strategies-in-the-classroom" TargetMode="External" Id="R351a0a6b03e74e65" /><Relationship Type="http://schemas.openxmlformats.org/officeDocument/2006/relationships/notesSlide" Target="/ppt/notesSlides/notesSlide25.xml" Id="Rf8b53efe4c61440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293c7b3d43c4ac9" /><Relationship Type="http://schemas.openxmlformats.org/officeDocument/2006/relationships/hyperlink" Target="https://www.aidansevers.com/post/no-quiz-retrieval-practice-techniques" TargetMode="External" Id="R5b41c9be2470436a" /><Relationship Type="http://schemas.openxmlformats.org/officeDocument/2006/relationships/notesSlide" Target="/ppt/notesSlides/notesSlide26.xml" Id="Rdc99bd458a64439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ca975b447734574" /><Relationship Type="http://schemas.openxmlformats.org/officeDocument/2006/relationships/hyperlink" Target="https://www.aidansevers.com/post/no-quiz-retrieval-practice-techniques" TargetMode="External" Id="R05cd21f06cef41c1" /><Relationship Type="http://schemas.openxmlformats.org/officeDocument/2006/relationships/notesSlide" Target="/ppt/notesSlides/notesSlide27.xml" Id="R231e73e9683245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335ea48ea9e84706" /><Relationship Type="http://schemas.openxmlformats.org/officeDocument/2006/relationships/hyperlink" Target="https://blogs.baruch.cuny.edu/activelearning/ink-shedding/" TargetMode="External" Id="R8c19c218c5e94889" /><Relationship Type="http://schemas.openxmlformats.org/officeDocument/2006/relationships/notesSlide" Target="/ppt/notesSlides/notesSlide28.xml" Id="Re755e32378954f2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b4edb0c5f2824be8" /><Relationship Type="http://schemas.openxmlformats.org/officeDocument/2006/relationships/hyperlink" Target="https://geography.org.uk/ite/initial-teacher-education/geography-support-for-trainees-and-ects/learning-to-teach-secondary-geography/ite-trainees-classroom-practice/practice/retrieval-practice/" TargetMode="External" Id="R4b4aa25665754e38" /><Relationship Type="http://schemas.openxmlformats.org/officeDocument/2006/relationships/notesSlide" Target="/ppt/notesSlides/notesSlide29.xml" Id="Rbd275ff8850f4aa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bac9c7250b94f81" /><Relationship Type="http://schemas.openxmlformats.org/officeDocument/2006/relationships/hyperlink" Target="https://evidencebased.education/resource/cues-to-support-retrieval-practice/" TargetMode="External" Id="Rfaed0ba592ed4fef" /><Relationship Type="http://schemas.openxmlformats.org/officeDocument/2006/relationships/notesSlide" Target="/ppt/notesSlides/notesSlide30.xml" Id="R48ba327b1dfb423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d80c38ad7604925" /><Relationship Type="http://schemas.openxmlformats.org/officeDocument/2006/relationships/hyperlink" Target="https://www.learningscientists.org/blog/2016/2/29-1" TargetMode="External" Id="R63974bc760c94146" /><Relationship Type="http://schemas.openxmlformats.org/officeDocument/2006/relationships/notesSlide" Target="/ppt/notesSlides/notesSlide31.xml" Id="Re1b7c87a0c7848b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e88a939abd19464d" /><Relationship Type="http://schemas.openxmlformats.org/officeDocument/2006/relationships/hyperlink" Target="https://researchschool.org.uk/bradford/news/retrieval-practice-higher-order-thinking" TargetMode="External" Id="Rc70c31b42bbb4ca5" /><Relationship Type="http://schemas.openxmlformats.org/officeDocument/2006/relationships/notesSlide" Target="/ppt/notesSlides/notesSlide32.xml" Id="R1f7da5125b41460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c583557e9e74297" /><Relationship Type="http://schemas.openxmlformats.org/officeDocument/2006/relationships/hyperlink" Target="https://instructionalmoves.gse.harvard.edu/using-peer-instruction-improve-student-learning" TargetMode="External" Id="R4b7626f30c234001" /><Relationship Type="http://schemas.openxmlformats.org/officeDocument/2006/relationships/notesSlide" Target="/ppt/notesSlides/notesSlide33.xml" Id="R01bb8337bd6f4bf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e7a7e76b991747c7" /><Relationship Type="http://schemas.openxmlformats.org/officeDocument/2006/relationships/hyperlink" Target="https://geography.org.uk/ite/initial-teacher-education/geography-support-for-trainees-and-ects/learning-to-teach-secondary-geography/ite-trainees-classroom-practice/practice/retrieval-practice/" TargetMode="External" Id="R25a1c850f2804e88" /><Relationship Type="http://schemas.openxmlformats.org/officeDocument/2006/relationships/notesSlide" Target="/ppt/notesSlides/notesSlide34.xml" Id="Rbffe6a1ef46c441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fde5a535ea645dd" /><Relationship Type="http://schemas.openxmlformats.org/officeDocument/2006/relationships/hyperlink" Target="https://www.middleweb.com/39762/getting-test-ready-try-some-retrieval-practice/" TargetMode="External" Id="R60ba5ab23bd74044" /><Relationship Type="http://schemas.openxmlformats.org/officeDocument/2006/relationships/notesSlide" Target="/ppt/notesSlides/notesSlide35.xml" Id="Rb26aac927fc943b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57bd97bc43e740f3" /><Relationship Type="http://schemas.openxmlformats.org/officeDocument/2006/relationships/hyperlink" Target="https://www.middleweb.com/39762/getting-test-ready-try-some-retrieval-practice/" TargetMode="External" Id="Rf07390c6fa3d4972" /><Relationship Type="http://schemas.openxmlformats.org/officeDocument/2006/relationships/notesSlide" Target="/ppt/notesSlides/notesSlide36.xml" Id="Ra04fcd063bc6485e"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824162fce794929" /><Relationship Type="http://schemas.openxmlformats.org/officeDocument/2006/relationships/hyperlink" Target="https://www.learningscientists.org/blog/2017/9/14-1" TargetMode="External" Id="R4d22570a8bb44d4a" /><Relationship Type="http://schemas.openxmlformats.org/officeDocument/2006/relationships/notesSlide" Target="/ppt/notesSlides/notesSlide37.xml" Id="R142f23da493c4dd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72dbccfab2049d9" /><Relationship Type="http://schemas.openxmlformats.org/officeDocument/2006/relationships/hyperlink" Target="https://tomneedhamteach.wordpress.com/2023/02/03/explicit-instruction-stage-1-retrieval-practice-10-minute-writes/" TargetMode="External" Id="R2f146d47c5ba496b" /><Relationship Type="http://schemas.openxmlformats.org/officeDocument/2006/relationships/notesSlide" Target="/ppt/notesSlides/notesSlide38.xml" Id="R518440d809a34e7a"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5ADE340-A98E-4AF1-80C4-500860FD10A7}"/>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Brain dump</a:t>
            </a:r>
          </a:p>
        </p:txBody>
      </p:sp>
      <p:sp>
        <p:nvSpPr>
          <p:cNvPr id="2" name="">
            <a:extLst xmlns:a="http://schemas.openxmlformats.org/drawingml/2006/main">
              <a:ext uri="{FF2B5EF4-FFF2-40B4-BE49-F238E27FC236}">
                <a16:creationId xmlns:a16="http://schemas.microsoft.com/office/drawing/2014/main" id="{BED7E4D4-3006-4EE7-9CB8-57619850A63F}"/>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0934B3D0-1ED8-4469-958A-C6E1EC348A7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6B70D9-AE15-46CE-AF5D-15366041CE45}"/>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1F493A79-BF7B-4193-B2AE-94D3C2C5852B}"/>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471E217B-17E7-4A3B-A66E-16EC849C0C86}"/>
              </a:ext>
            </a:extLst>
          </p:cNvPr>
          <p:cNvSpPr>
            <a:spLocks xmlns:a="http://schemas.openxmlformats.org/drawingml/2006/main" noGrp="1"/>
          </p:cNvSpPr>
          <p:nvPr/>
        </p:nvSpPr>
        <p:spPr>
          <a:xfrm xmlns:a="http://schemas.openxmlformats.org/drawingml/2006/main">
            <a:off x="609600" y="2247900"/>
            <a:ext cx="10972800" cy="27622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CA1DA19-54D4-431C-B47A-D88990BD20E2}"/>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6422415-EC80-4A97-BCFE-272D0172F166}"/>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DE85D0B-979B-4C47-BB4E-6F717DC943D9}"/>
              </a:ext>
            </a:extLst>
          </p:cNvPr>
          <p:cNvSpPr>
            <a:spLocks xmlns:a="http://schemas.openxmlformats.org/drawingml/2006/main" noGrp="1"/>
          </p:cNvSpPr>
          <p:nvPr/>
        </p:nvSpPr>
        <p:spPr>
          <a:xfrm xmlns:a="http://schemas.openxmlformats.org/drawingml/2006/main">
            <a:off x="1352550" y="2466975"/>
            <a:ext cx="1003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What can you remember?</a:t>
            </a:r>
          </a:p>
        </p:txBody>
      </p:sp>
      <p:sp>
        <p:nvSpPr>
          <p:cNvPr id="10" name="">
            <a:extLst xmlns:a="http://schemas.openxmlformats.org/drawingml/2006/main">
              <a:ext uri="{FF2B5EF4-FFF2-40B4-BE49-F238E27FC236}">
                <a16:creationId xmlns:a16="http://schemas.microsoft.com/office/drawing/2014/main" id="{A82ED4D3-A921-491F-9E8F-062622355DFA}"/>
              </a:ext>
            </a:extLst>
          </p:cNvPr>
          <p:cNvSpPr>
            <a:spLocks xmlns:a="http://schemas.openxmlformats.org/drawingml/2006/main" noGrp="1"/>
          </p:cNvSpPr>
          <p:nvPr/>
        </p:nvSpPr>
        <p:spPr>
          <a:xfrm xmlns:a="http://schemas.openxmlformats.org/drawingml/2006/main">
            <a:off x="819150" y="2990850"/>
            <a:ext cx="105537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recall focus or headings]</a:t>
            </a:r>
          </a:p>
        </p:txBody>
      </p:sp>
      <p:sp>
        <p:nvSpPr>
          <p:cNvPr id="11" name="">
            <a:extLst xmlns:a="http://schemas.openxmlformats.org/drawingml/2006/main">
              <a:ext uri="{FF2B5EF4-FFF2-40B4-BE49-F238E27FC236}">
                <a16:creationId xmlns:a16="http://schemas.microsoft.com/office/drawing/2014/main" id="{5C7D2C46-3E82-4394-B19A-2E1D95F70264}"/>
              </a:ext>
            </a:extLst>
          </p:cNvPr>
          <p:cNvSpPr>
            <a:spLocks xmlns:a="http://schemas.openxmlformats.org/drawingml/2006/main" noGrp="1"/>
          </p:cNvSpPr>
          <p:nvPr/>
        </p:nvSpPr>
        <p:spPr>
          <a:xfrm xmlns:a="http://schemas.openxmlformats.org/drawingml/2006/main">
            <a:off x="609600" y="52673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Write, sketch and connect ideas from memory.</a:t>
            </a:r>
          </a:p>
        </p:txBody>
      </p:sp>
      <p:sp>
        <p:nvSpPr>
          <p:cNvPr id="12" name="">
            <a:extLst xmlns:a="http://schemas.openxmlformats.org/drawingml/2006/main">
              <a:ext uri="{FF2B5EF4-FFF2-40B4-BE49-F238E27FC236}">
                <a16:creationId xmlns:a16="http://schemas.microsoft.com/office/drawing/2014/main" id="{C6CE889B-5008-4A98-AB48-3962B891ECF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D047181-144B-4BF5-AE08-6C85E81D7AF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91104FB0-7577-47C5-B781-8726ACEAF78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870E99D9-63E5-4C82-B0A5-F4883A14CCF8}"/>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94a2c15baa9c4224"/>
              </a:rPr>
              <a:t>Pooja K. Agarwal — classroom guidance — original guidance</a:t>
            </a:r>
          </a:p>
        </p:txBody>
      </p:sp>
    </p:spTree>
    <p:extLst>
      <p:ext uri="{BB962C8B-B14F-4D97-AF65-F5344CB8AC3E}">
        <p14:creationId xmlns:p14="http://schemas.microsoft.com/office/powerpoint/2010/main" val="31395853"/>
      </p:ext>
    </p:extLst>
  </p:cSld>
</p:sld>
</file>

<file path=ppt/slides/slide2.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FA4ECA8-5A12-4F97-B0E9-11AC6D42A68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Two things</a:t>
            </a:r>
          </a:p>
        </p:txBody>
      </p:sp>
      <p:sp>
        <p:nvSpPr>
          <p:cNvPr id="2" name="">
            <a:extLst xmlns:a="http://schemas.openxmlformats.org/drawingml/2006/main">
              <a:ext uri="{FF2B5EF4-FFF2-40B4-BE49-F238E27FC236}">
                <a16:creationId xmlns:a16="http://schemas.microsoft.com/office/drawing/2014/main" id="{22AA72FD-9701-43A1-B172-F9F04EA1D166}"/>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24423866-4970-4C70-B6C3-44982E0C81DC}"/>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97B064-8FFC-4FC2-85C1-C097A637E06D}"/>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05D7071B-A8B3-4B50-BB17-3C59624907C0}"/>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F2A5499E-92E0-400F-9E75-8259B63EDDED}"/>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42E32AC8-F941-48FD-A049-2ED0F1BA9703}"/>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9E35D84-E34A-4D37-B80B-7CE3BDF34BFD}"/>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D8E55DDA-478D-41C4-83AC-67F389588293}"/>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First thing I remember</a:t>
            </a:r>
          </a:p>
        </p:txBody>
      </p:sp>
      <p:sp>
        <p:nvSpPr>
          <p:cNvPr id="10" name="">
            <a:extLst xmlns:a="http://schemas.openxmlformats.org/drawingml/2006/main">
              <a:ext uri="{FF2B5EF4-FFF2-40B4-BE49-F238E27FC236}">
                <a16:creationId xmlns:a16="http://schemas.microsoft.com/office/drawing/2014/main" id="{405F1849-D402-494F-8981-9ADE479F56CF}"/>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focus]</a:t>
            </a:r>
          </a:p>
        </p:txBody>
      </p:sp>
      <p:sp>
        <p:nvSpPr>
          <p:cNvPr id="11" name="">
            <a:extLst xmlns:a="http://schemas.openxmlformats.org/drawingml/2006/main">
              <a:ext uri="{FF2B5EF4-FFF2-40B4-BE49-F238E27FC236}">
                <a16:creationId xmlns:a16="http://schemas.microsoft.com/office/drawing/2014/main" id="{D68D5197-72BD-495A-B679-9275984DD633}"/>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DE5E6575-D2D0-4ED3-A5A7-03E93299AF23}"/>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F44990B-1975-469F-BF73-EBEAC805B90A}"/>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44579963-085C-441B-B088-CEC84330D10C}"/>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Second thing I remember</a:t>
            </a:r>
          </a:p>
        </p:txBody>
      </p:sp>
      <p:sp>
        <p:nvSpPr>
          <p:cNvPr id="15" name="">
            <a:extLst xmlns:a="http://schemas.openxmlformats.org/drawingml/2006/main">
              <a:ext uri="{FF2B5EF4-FFF2-40B4-BE49-F238E27FC236}">
                <a16:creationId xmlns:a16="http://schemas.microsoft.com/office/drawing/2014/main" id="{2E773E04-723F-4F45-A43C-AEE9D9931CAC}"/>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focus]</a:t>
            </a:r>
          </a:p>
        </p:txBody>
      </p:sp>
      <p:sp>
        <p:nvSpPr>
          <p:cNvPr id="16" name="">
            <a:extLst xmlns:a="http://schemas.openxmlformats.org/drawingml/2006/main">
              <a:ext uri="{FF2B5EF4-FFF2-40B4-BE49-F238E27FC236}">
                <a16:creationId xmlns:a16="http://schemas.microsoft.com/office/drawing/2014/main" id="{2934985C-04A3-4511-B9BB-74A156DF5A3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5CE409A-BF55-4BBF-9713-0E870533622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615C5123-6047-49F0-8E15-26EAD43430D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0" name="source-credit">
            <a:extLst xmlns:a="http://schemas.openxmlformats.org/drawingml/2006/main">
              <a:ext uri="{FF2B5EF4-FFF2-40B4-BE49-F238E27FC236}">
                <a16:creationId xmlns:a16="http://schemas.microsoft.com/office/drawing/2014/main" id="{67C2B280-335C-4D04-A3C8-701C8BBC544E}"/>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1e2ed3a87e554c0f"/>
              </a:rPr>
              <a:t>Pooja K. Agarwal — named classroom strategy — original guidance</a:t>
            </a:r>
          </a:p>
        </p:txBody>
      </p:sp>
    </p:spTree>
    <p:extLst>
      <p:ext uri="{BB962C8B-B14F-4D97-AF65-F5344CB8AC3E}">
        <p14:creationId xmlns:p14="http://schemas.microsoft.com/office/powerpoint/2010/main" val="165003737"/>
      </p:ext>
    </p:extLst>
  </p:cSld>
</p:sld>
</file>

<file path=ppt/slides/slide3.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DC4B4CC-C5BD-4015-A39B-F1E458E30DE3}"/>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Cops and robbers</a:t>
            </a:r>
          </a:p>
        </p:txBody>
      </p:sp>
      <p:sp>
        <p:nvSpPr>
          <p:cNvPr id="2" name="">
            <a:extLst xmlns:a="http://schemas.openxmlformats.org/drawingml/2006/main">
              <a:ext uri="{FF2B5EF4-FFF2-40B4-BE49-F238E27FC236}">
                <a16:creationId xmlns:a16="http://schemas.microsoft.com/office/drawing/2014/main" id="{A7E9E724-A5CB-4883-AF30-389C8C467E7C}"/>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7EA8003-51EF-4FC4-8522-CEB9A903D7B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727240-A969-49F7-B935-9DA53D049C9F}"/>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419670C9-AED1-4198-9335-545859F5BD01}"/>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C12B61E7-0C83-40B4-9D54-991616B6815E}"/>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18B02E81-B434-4542-ADAA-E2BC82AB18F9}"/>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71DA34A-3EF0-491F-B089-775731844007}"/>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810D4ED0-6C0F-446C-9333-314436B93A3D}"/>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My recall</a:t>
            </a:r>
          </a:p>
        </p:txBody>
      </p:sp>
      <p:sp>
        <p:nvSpPr>
          <p:cNvPr id="10" name="">
            <a:extLst xmlns:a="http://schemas.openxmlformats.org/drawingml/2006/main">
              <a:ext uri="{FF2B5EF4-FFF2-40B4-BE49-F238E27FC236}">
                <a16:creationId xmlns:a16="http://schemas.microsoft.com/office/drawing/2014/main" id="{AA4C2EC3-EA44-4D11-8AED-8A0049BC0A1D}"/>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independent recall focus]</a:t>
            </a:r>
          </a:p>
        </p:txBody>
      </p:sp>
      <p:sp>
        <p:nvSpPr>
          <p:cNvPr id="11" name="">
            <a:extLst xmlns:a="http://schemas.openxmlformats.org/drawingml/2006/main">
              <a:ext uri="{FF2B5EF4-FFF2-40B4-BE49-F238E27FC236}">
                <a16:creationId xmlns:a16="http://schemas.microsoft.com/office/drawing/2014/main" id="{B187E39C-BD6F-4C9A-862A-E65F34433EE6}"/>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350EF7B1-4286-4552-9018-DA62C364368B}"/>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95964E-4C0F-4A89-BC4A-4D18EE001C3C}"/>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D79CAE27-31C3-4781-BDEA-A4B03D3C5651}"/>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From peers</a:t>
            </a:r>
          </a:p>
        </p:txBody>
      </p:sp>
      <p:sp>
        <p:nvSpPr>
          <p:cNvPr id="15" name="">
            <a:extLst xmlns:a="http://schemas.openxmlformats.org/drawingml/2006/main">
              <a:ext uri="{FF2B5EF4-FFF2-40B4-BE49-F238E27FC236}">
                <a16:creationId xmlns:a16="http://schemas.microsoft.com/office/drawing/2014/main" id="{A78E290A-A94C-4325-B609-3A60BA187B34}"/>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sharing instructions]</a:t>
            </a:r>
          </a:p>
        </p:txBody>
      </p:sp>
      <p:sp>
        <p:nvSpPr>
          <p:cNvPr id="16" name="">
            <a:extLst xmlns:a="http://schemas.openxmlformats.org/drawingml/2006/main">
              <a:ext uri="{FF2B5EF4-FFF2-40B4-BE49-F238E27FC236}">
                <a16:creationId xmlns:a16="http://schemas.microsoft.com/office/drawing/2014/main" id="{DC94CB9B-8838-46BA-9D58-4FDB8BC1389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B36D83-45E9-4DF0-8F35-E840EB1DA50B}"/>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C8FAFD3B-A9EE-42B1-8B6D-CE5A0B823C4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0" name="source-credit">
            <a:extLst xmlns:a="http://schemas.openxmlformats.org/drawingml/2006/main">
              <a:ext uri="{FF2B5EF4-FFF2-40B4-BE49-F238E27FC236}">
                <a16:creationId xmlns:a16="http://schemas.microsoft.com/office/drawing/2014/main" id="{5690F3C3-3D74-4EFB-92AD-4544937F1241}"/>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ed72290009a149e8"/>
              </a:rPr>
              <a:t>Kate Jones — published classroom resource — original guidance</a:t>
            </a:r>
          </a:p>
        </p:txBody>
      </p:sp>
    </p:spTree>
    <p:extLst>
      <p:ext uri="{BB962C8B-B14F-4D97-AF65-F5344CB8AC3E}">
        <p14:creationId xmlns:p14="http://schemas.microsoft.com/office/powerpoint/2010/main" val="691838274"/>
      </p:ext>
    </p:extLst>
  </p:cSld>
</p:sld>
</file>

<file path=ppt/slides/slide4.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E2BBAE02-A42E-418F-A476-43710D3050E3}"/>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Retrieval challenge grid</a:t>
            </a:r>
          </a:p>
        </p:txBody>
      </p:sp>
      <p:sp>
        <p:nvSpPr>
          <p:cNvPr id="2" name="">
            <a:extLst xmlns:a="http://schemas.openxmlformats.org/drawingml/2006/main">
              <a:ext uri="{FF2B5EF4-FFF2-40B4-BE49-F238E27FC236}">
                <a16:creationId xmlns:a16="http://schemas.microsoft.com/office/drawing/2014/main" id="{45E27243-9E36-48F8-B2DB-9626A3BC480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6D5854DB-D2A8-4C4A-BACE-890F36C6A4BC}"/>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B9D28B-7D79-43D2-A08B-5DA0112E2ACE}"/>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9F08B302-D73A-4BA4-B489-89A91A97B996}"/>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57634DC5-2EE1-4EA9-865E-1CE3E1C673F2}"/>
              </a:ext>
            </a:extLst>
          </p:cNvPr>
          <p:cNvSpPr>
            <a:spLocks xmlns:a="http://schemas.openxmlformats.org/drawingml/2006/main" noGrp="1"/>
          </p:cNvSpPr>
          <p:nvPr/>
        </p:nvSpPr>
        <p:spPr>
          <a:xfrm xmlns:a="http://schemas.openxmlformats.org/drawingml/2006/main">
            <a:off x="6096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2A729403-A7EB-4868-9E09-61E9902DE8ED}"/>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81CA030-EA90-46C7-8C77-20F07F5970BA}"/>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C11CB193-2B85-4CCD-A879-501B63C28BC4}"/>
              </a:ext>
            </a:extLst>
          </p:cNvPr>
          <p:cNvSpPr>
            <a:spLocks xmlns:a="http://schemas.openxmlformats.org/drawingml/2006/main" noGrp="1"/>
          </p:cNvSpPr>
          <p:nvPr/>
        </p:nvSpPr>
        <p:spPr>
          <a:xfrm xmlns:a="http://schemas.openxmlformats.org/drawingml/2006/main">
            <a:off x="13525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lesson</a:t>
            </a:r>
          </a:p>
        </p:txBody>
      </p:sp>
      <p:sp>
        <p:nvSpPr>
          <p:cNvPr id="10" name="">
            <a:extLst xmlns:a="http://schemas.openxmlformats.org/drawingml/2006/main">
              <a:ext uri="{FF2B5EF4-FFF2-40B4-BE49-F238E27FC236}">
                <a16:creationId xmlns:a16="http://schemas.microsoft.com/office/drawing/2014/main" id="{CBF41510-C643-49FA-AA93-B54641EC2ED5}"/>
              </a:ext>
            </a:extLst>
          </p:cNvPr>
          <p:cNvSpPr>
            <a:spLocks xmlns:a="http://schemas.openxmlformats.org/drawingml/2006/main" noGrp="1"/>
          </p:cNvSpPr>
          <p:nvPr/>
        </p:nvSpPr>
        <p:spPr>
          <a:xfrm xmlns:a="http://schemas.openxmlformats.org/drawingml/2006/main">
            <a:off x="8191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1" name="">
            <a:extLst xmlns:a="http://schemas.openxmlformats.org/drawingml/2006/main">
              <a:ext uri="{FF2B5EF4-FFF2-40B4-BE49-F238E27FC236}">
                <a16:creationId xmlns:a16="http://schemas.microsoft.com/office/drawing/2014/main" id="{E5639D9C-A5EA-43B5-A7DF-5D74E2D41E1E}"/>
              </a:ext>
            </a:extLst>
          </p:cNvPr>
          <p:cNvSpPr>
            <a:spLocks xmlns:a="http://schemas.openxmlformats.org/drawingml/2006/main" noGrp="1"/>
          </p:cNvSpPr>
          <p:nvPr/>
        </p:nvSpPr>
        <p:spPr>
          <a:xfrm xmlns:a="http://schemas.openxmlformats.org/drawingml/2006/main">
            <a:off x="4324350" y="224790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8F8DC454-0BFA-48DD-BE32-8E8F91E41F13}"/>
              </a:ext>
            </a:extLst>
          </p:cNvPr>
          <p:cNvSpPr>
            <a:spLocks xmlns:a="http://schemas.openxmlformats.org/drawingml/2006/main" noGrp="1"/>
          </p:cNvSpPr>
          <p:nvPr/>
        </p:nvSpPr>
        <p:spPr>
          <a:xfrm xmlns:a="http://schemas.openxmlformats.org/drawingml/2006/main">
            <a:off x="451485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2EB7CB0-1C99-4956-B9AB-B342853FAAE1}"/>
              </a:ext>
            </a:extLst>
          </p:cNvPr>
          <p:cNvSpPr>
            <a:spLocks xmlns:a="http://schemas.openxmlformats.org/drawingml/2006/main" noGrp="1"/>
          </p:cNvSpPr>
          <p:nvPr/>
        </p:nvSpPr>
        <p:spPr>
          <a:xfrm xmlns:a="http://schemas.openxmlformats.org/drawingml/2006/main">
            <a:off x="457200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82EDB737-507B-4B02-9DBE-4CA41E85E0B9}"/>
              </a:ext>
            </a:extLst>
          </p:cNvPr>
          <p:cNvSpPr>
            <a:spLocks xmlns:a="http://schemas.openxmlformats.org/drawingml/2006/main" noGrp="1"/>
          </p:cNvSpPr>
          <p:nvPr/>
        </p:nvSpPr>
        <p:spPr>
          <a:xfrm xmlns:a="http://schemas.openxmlformats.org/drawingml/2006/main">
            <a:off x="506730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week</a:t>
            </a:r>
          </a:p>
        </p:txBody>
      </p:sp>
      <p:sp>
        <p:nvSpPr>
          <p:cNvPr id="15" name="">
            <a:extLst xmlns:a="http://schemas.openxmlformats.org/drawingml/2006/main">
              <a:ext uri="{FF2B5EF4-FFF2-40B4-BE49-F238E27FC236}">
                <a16:creationId xmlns:a16="http://schemas.microsoft.com/office/drawing/2014/main" id="{795B61F4-6C55-422F-B869-0168644A207E}"/>
              </a:ext>
            </a:extLst>
          </p:cNvPr>
          <p:cNvSpPr>
            <a:spLocks xmlns:a="http://schemas.openxmlformats.org/drawingml/2006/main" noGrp="1"/>
          </p:cNvSpPr>
          <p:nvPr/>
        </p:nvSpPr>
        <p:spPr>
          <a:xfrm xmlns:a="http://schemas.openxmlformats.org/drawingml/2006/main">
            <a:off x="453390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6" name="">
            <a:extLst xmlns:a="http://schemas.openxmlformats.org/drawingml/2006/main">
              <a:ext uri="{FF2B5EF4-FFF2-40B4-BE49-F238E27FC236}">
                <a16:creationId xmlns:a16="http://schemas.microsoft.com/office/drawing/2014/main" id="{011A5116-9206-43BC-801B-8899F89B0EE4}"/>
              </a:ext>
            </a:extLst>
          </p:cNvPr>
          <p:cNvSpPr>
            <a:spLocks xmlns:a="http://schemas.openxmlformats.org/drawingml/2006/main" noGrp="1"/>
          </p:cNvSpPr>
          <p:nvPr/>
        </p:nvSpPr>
        <p:spPr>
          <a:xfrm xmlns:a="http://schemas.openxmlformats.org/drawingml/2006/main">
            <a:off x="80391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1E61C8D6-8F5D-4291-B5DC-86127F1D5A3A}"/>
              </a:ext>
            </a:extLst>
          </p:cNvPr>
          <p:cNvSpPr>
            <a:spLocks xmlns:a="http://schemas.openxmlformats.org/drawingml/2006/main" noGrp="1"/>
          </p:cNvSpPr>
          <p:nvPr/>
        </p:nvSpPr>
        <p:spPr>
          <a:xfrm xmlns:a="http://schemas.openxmlformats.org/drawingml/2006/main">
            <a:off x="82296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2260840-8545-47F3-81BB-6C12BC47417A}"/>
              </a:ext>
            </a:extLst>
          </p:cNvPr>
          <p:cNvSpPr>
            <a:spLocks xmlns:a="http://schemas.openxmlformats.org/drawingml/2006/main" noGrp="1"/>
          </p:cNvSpPr>
          <p:nvPr/>
        </p:nvSpPr>
        <p:spPr>
          <a:xfrm xmlns:a="http://schemas.openxmlformats.org/drawingml/2006/main">
            <a:off x="82867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9D8540B0-E51D-4420-A5FD-41064C4D6F5B}"/>
              </a:ext>
            </a:extLst>
          </p:cNvPr>
          <p:cNvSpPr>
            <a:spLocks xmlns:a="http://schemas.openxmlformats.org/drawingml/2006/main" noGrp="1"/>
          </p:cNvSpPr>
          <p:nvPr/>
        </p:nvSpPr>
        <p:spPr>
          <a:xfrm xmlns:a="http://schemas.openxmlformats.org/drawingml/2006/main">
            <a:off x="87820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Earlier learning</a:t>
            </a:r>
          </a:p>
        </p:txBody>
      </p:sp>
      <p:sp>
        <p:nvSpPr>
          <p:cNvPr id="20" name="">
            <a:extLst xmlns:a="http://schemas.openxmlformats.org/drawingml/2006/main">
              <a:ext uri="{FF2B5EF4-FFF2-40B4-BE49-F238E27FC236}">
                <a16:creationId xmlns:a16="http://schemas.microsoft.com/office/drawing/2014/main" id="{2831C406-8371-4455-B2EC-D8976A484CAC}"/>
              </a:ext>
            </a:extLst>
          </p:cNvPr>
          <p:cNvSpPr>
            <a:spLocks xmlns:a="http://schemas.openxmlformats.org/drawingml/2006/main" noGrp="1"/>
          </p:cNvSpPr>
          <p:nvPr/>
        </p:nvSpPr>
        <p:spPr>
          <a:xfrm xmlns:a="http://schemas.openxmlformats.org/drawingml/2006/main">
            <a:off x="82486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1" name="">
            <a:extLst xmlns:a="http://schemas.openxmlformats.org/drawingml/2006/main">
              <a:ext uri="{FF2B5EF4-FFF2-40B4-BE49-F238E27FC236}">
                <a16:creationId xmlns:a16="http://schemas.microsoft.com/office/drawing/2014/main" id="{DD023A83-F7ED-44B9-81FA-51C04E0CD911}"/>
              </a:ext>
            </a:extLst>
          </p:cNvPr>
          <p:cNvSpPr>
            <a:spLocks xmlns:a="http://schemas.openxmlformats.org/drawingml/2006/main" noGrp="1"/>
          </p:cNvSpPr>
          <p:nvPr/>
        </p:nvSpPr>
        <p:spPr>
          <a:xfrm xmlns:a="http://schemas.openxmlformats.org/drawingml/2006/main">
            <a:off x="6096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141AE5B8-9C3E-4CA6-A4EC-87629B3DF3DD}"/>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6254626-9EBC-45A5-BF48-62B37A7668D8}"/>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28A649DB-D43A-43A1-A20A-90A1CB30418E}"/>
              </a:ext>
            </a:extLst>
          </p:cNvPr>
          <p:cNvSpPr>
            <a:spLocks xmlns:a="http://schemas.openxmlformats.org/drawingml/2006/main" noGrp="1"/>
          </p:cNvSpPr>
          <p:nvPr/>
        </p:nvSpPr>
        <p:spPr>
          <a:xfrm xmlns:a="http://schemas.openxmlformats.org/drawingml/2006/main">
            <a:off x="13525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lesson</a:t>
            </a:r>
          </a:p>
        </p:txBody>
      </p:sp>
      <p:sp>
        <p:nvSpPr>
          <p:cNvPr id="25" name="">
            <a:extLst xmlns:a="http://schemas.openxmlformats.org/drawingml/2006/main">
              <a:ext uri="{FF2B5EF4-FFF2-40B4-BE49-F238E27FC236}">
                <a16:creationId xmlns:a16="http://schemas.microsoft.com/office/drawing/2014/main" id="{42D86831-CABF-48EE-9345-51135BBE8960}"/>
              </a:ext>
            </a:extLst>
          </p:cNvPr>
          <p:cNvSpPr>
            <a:spLocks xmlns:a="http://schemas.openxmlformats.org/drawingml/2006/main" noGrp="1"/>
          </p:cNvSpPr>
          <p:nvPr/>
        </p:nvSpPr>
        <p:spPr>
          <a:xfrm xmlns:a="http://schemas.openxmlformats.org/drawingml/2006/main">
            <a:off x="8191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6" name="">
            <a:extLst xmlns:a="http://schemas.openxmlformats.org/drawingml/2006/main">
              <a:ext uri="{FF2B5EF4-FFF2-40B4-BE49-F238E27FC236}">
                <a16:creationId xmlns:a16="http://schemas.microsoft.com/office/drawing/2014/main" id="{E4B51D97-75CC-4B20-88D3-0F61F87B509E}"/>
              </a:ext>
            </a:extLst>
          </p:cNvPr>
          <p:cNvSpPr>
            <a:spLocks xmlns:a="http://schemas.openxmlformats.org/drawingml/2006/main" noGrp="1"/>
          </p:cNvSpPr>
          <p:nvPr/>
        </p:nvSpPr>
        <p:spPr>
          <a:xfrm xmlns:a="http://schemas.openxmlformats.org/drawingml/2006/main">
            <a:off x="4324350" y="401955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7" name="">
            <a:extLst xmlns:a="http://schemas.openxmlformats.org/drawingml/2006/main">
              <a:ext uri="{FF2B5EF4-FFF2-40B4-BE49-F238E27FC236}">
                <a16:creationId xmlns:a16="http://schemas.microsoft.com/office/drawing/2014/main" id="{31CCB655-B5E4-45DC-B71C-DE58CAB0D3F4}"/>
              </a:ext>
            </a:extLst>
          </p:cNvPr>
          <p:cNvSpPr>
            <a:spLocks xmlns:a="http://schemas.openxmlformats.org/drawingml/2006/main" noGrp="1"/>
          </p:cNvSpPr>
          <p:nvPr/>
        </p:nvSpPr>
        <p:spPr>
          <a:xfrm xmlns:a="http://schemas.openxmlformats.org/drawingml/2006/main">
            <a:off x="451485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CDA7782B-D419-4DAE-BE3B-2CA0142C3191}"/>
              </a:ext>
            </a:extLst>
          </p:cNvPr>
          <p:cNvSpPr>
            <a:spLocks xmlns:a="http://schemas.openxmlformats.org/drawingml/2006/main" noGrp="1"/>
          </p:cNvSpPr>
          <p:nvPr/>
        </p:nvSpPr>
        <p:spPr>
          <a:xfrm xmlns:a="http://schemas.openxmlformats.org/drawingml/2006/main">
            <a:off x="457200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05</a:t>
            </a:r>
          </a:p>
        </p:txBody>
      </p:sp>
      <p:sp>
        <p:nvSpPr>
          <p:cNvPr id="29" name="">
            <a:extLst xmlns:a="http://schemas.openxmlformats.org/drawingml/2006/main">
              <a:ext uri="{FF2B5EF4-FFF2-40B4-BE49-F238E27FC236}">
                <a16:creationId xmlns:a16="http://schemas.microsoft.com/office/drawing/2014/main" id="{238C64B5-BABA-40F6-81C5-2F5D5A33A514}"/>
              </a:ext>
            </a:extLst>
          </p:cNvPr>
          <p:cNvSpPr>
            <a:spLocks xmlns:a="http://schemas.openxmlformats.org/drawingml/2006/main" noGrp="1"/>
          </p:cNvSpPr>
          <p:nvPr/>
        </p:nvSpPr>
        <p:spPr>
          <a:xfrm xmlns:a="http://schemas.openxmlformats.org/drawingml/2006/main">
            <a:off x="506730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Last week</a:t>
            </a:r>
          </a:p>
        </p:txBody>
      </p:sp>
      <p:sp>
        <p:nvSpPr>
          <p:cNvPr id="30" name="">
            <a:extLst xmlns:a="http://schemas.openxmlformats.org/drawingml/2006/main">
              <a:ext uri="{FF2B5EF4-FFF2-40B4-BE49-F238E27FC236}">
                <a16:creationId xmlns:a16="http://schemas.microsoft.com/office/drawing/2014/main" id="{E2BCD399-7F5A-45D9-84E5-0FCE4B234D94}"/>
              </a:ext>
            </a:extLst>
          </p:cNvPr>
          <p:cNvSpPr>
            <a:spLocks xmlns:a="http://schemas.openxmlformats.org/drawingml/2006/main" noGrp="1"/>
          </p:cNvSpPr>
          <p:nvPr/>
        </p:nvSpPr>
        <p:spPr>
          <a:xfrm xmlns:a="http://schemas.openxmlformats.org/drawingml/2006/main">
            <a:off x="453390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1" name="">
            <a:extLst xmlns:a="http://schemas.openxmlformats.org/drawingml/2006/main">
              <a:ext uri="{FF2B5EF4-FFF2-40B4-BE49-F238E27FC236}">
                <a16:creationId xmlns:a16="http://schemas.microsoft.com/office/drawing/2014/main" id="{EFCC0C14-3C6D-4C64-8467-E8B2DF7B7E03}"/>
              </a:ext>
            </a:extLst>
          </p:cNvPr>
          <p:cNvSpPr>
            <a:spLocks xmlns:a="http://schemas.openxmlformats.org/drawingml/2006/main" noGrp="1"/>
          </p:cNvSpPr>
          <p:nvPr/>
        </p:nvSpPr>
        <p:spPr>
          <a:xfrm xmlns:a="http://schemas.openxmlformats.org/drawingml/2006/main">
            <a:off x="80391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32" name="">
            <a:extLst xmlns:a="http://schemas.openxmlformats.org/drawingml/2006/main">
              <a:ext uri="{FF2B5EF4-FFF2-40B4-BE49-F238E27FC236}">
                <a16:creationId xmlns:a16="http://schemas.microsoft.com/office/drawing/2014/main" id="{6B657ACB-2C06-49F2-A074-56441750C2E8}"/>
              </a:ext>
            </a:extLst>
          </p:cNvPr>
          <p:cNvSpPr>
            <a:spLocks xmlns:a="http://schemas.openxmlformats.org/drawingml/2006/main" noGrp="1"/>
          </p:cNvSpPr>
          <p:nvPr/>
        </p:nvSpPr>
        <p:spPr>
          <a:xfrm xmlns:a="http://schemas.openxmlformats.org/drawingml/2006/main">
            <a:off x="82296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2B6024C-5D99-4B2C-8CDD-DBF17636A70E}"/>
              </a:ext>
            </a:extLst>
          </p:cNvPr>
          <p:cNvSpPr>
            <a:spLocks xmlns:a="http://schemas.openxmlformats.org/drawingml/2006/main" noGrp="1"/>
          </p:cNvSpPr>
          <p:nvPr/>
        </p:nvSpPr>
        <p:spPr>
          <a:xfrm xmlns:a="http://schemas.openxmlformats.org/drawingml/2006/main">
            <a:off x="82867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06</a:t>
            </a:r>
          </a:p>
        </p:txBody>
      </p:sp>
      <p:sp>
        <p:nvSpPr>
          <p:cNvPr id="34" name="">
            <a:extLst xmlns:a="http://schemas.openxmlformats.org/drawingml/2006/main">
              <a:ext uri="{FF2B5EF4-FFF2-40B4-BE49-F238E27FC236}">
                <a16:creationId xmlns:a16="http://schemas.microsoft.com/office/drawing/2014/main" id="{DE8F4061-D556-4F1F-A14A-A7BD9F778A11}"/>
              </a:ext>
            </a:extLst>
          </p:cNvPr>
          <p:cNvSpPr>
            <a:spLocks xmlns:a="http://schemas.openxmlformats.org/drawingml/2006/main" noGrp="1"/>
          </p:cNvSpPr>
          <p:nvPr/>
        </p:nvSpPr>
        <p:spPr>
          <a:xfrm xmlns:a="http://schemas.openxmlformats.org/drawingml/2006/main">
            <a:off x="87820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Earlier learning</a:t>
            </a:r>
          </a:p>
        </p:txBody>
      </p:sp>
      <p:sp>
        <p:nvSpPr>
          <p:cNvPr id="35" name="">
            <a:extLst xmlns:a="http://schemas.openxmlformats.org/drawingml/2006/main">
              <a:ext uri="{FF2B5EF4-FFF2-40B4-BE49-F238E27FC236}">
                <a16:creationId xmlns:a16="http://schemas.microsoft.com/office/drawing/2014/main" id="{0A2439D2-42D5-4052-A061-5E8E4097DF46}"/>
              </a:ext>
            </a:extLst>
          </p:cNvPr>
          <p:cNvSpPr>
            <a:spLocks xmlns:a="http://schemas.openxmlformats.org/drawingml/2006/main" noGrp="1"/>
          </p:cNvSpPr>
          <p:nvPr/>
        </p:nvSpPr>
        <p:spPr>
          <a:xfrm xmlns:a="http://schemas.openxmlformats.org/drawingml/2006/main">
            <a:off x="82486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6" name="">
            <a:extLst xmlns:a="http://schemas.openxmlformats.org/drawingml/2006/main">
              <a:ext uri="{FF2B5EF4-FFF2-40B4-BE49-F238E27FC236}">
                <a16:creationId xmlns:a16="http://schemas.microsoft.com/office/drawing/2014/main" id="{65006D97-FC1C-4F3F-9723-12EF224D5FB6}"/>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F029D17-2407-4561-A7C3-59E7A77EFE34}"/>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8" name="">
            <a:extLst xmlns:a="http://schemas.openxmlformats.org/drawingml/2006/main">
              <a:ext uri="{FF2B5EF4-FFF2-40B4-BE49-F238E27FC236}">
                <a16:creationId xmlns:a16="http://schemas.microsoft.com/office/drawing/2014/main" id="{A414D58D-12C7-451C-9E47-AED7093075A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40" name="source-credit">
            <a:extLst xmlns:a="http://schemas.openxmlformats.org/drawingml/2006/main">
              <a:ext uri="{FF2B5EF4-FFF2-40B4-BE49-F238E27FC236}">
                <a16:creationId xmlns:a16="http://schemas.microsoft.com/office/drawing/2014/main" id="{C3557622-2525-4DA8-8D68-40DE9BB6F8E5}"/>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f64a28aaa09d4020"/>
              </a:rPr>
              <a:t>Kate Jones — Retrieval Practice Challenge Grids — original guidance</a:t>
            </a:r>
          </a:p>
        </p:txBody>
      </p:sp>
    </p:spTree>
    <p:extLst>
      <p:ext uri="{BB962C8B-B14F-4D97-AF65-F5344CB8AC3E}">
        <p14:creationId xmlns:p14="http://schemas.microsoft.com/office/powerpoint/2010/main" val="1229861586"/>
      </p:ext>
    </p:extLst>
  </p:cSld>
</p:sld>
</file>

<file path=ppt/slides/slide5.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57FD904-9475-4233-A3AE-FDA809A391C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Retrieval Roulette</a:t>
            </a:r>
          </a:p>
        </p:txBody>
      </p:sp>
      <p:sp>
        <p:nvSpPr>
          <p:cNvPr id="2" name="">
            <a:extLst xmlns:a="http://schemas.openxmlformats.org/drawingml/2006/main">
              <a:ext uri="{FF2B5EF4-FFF2-40B4-BE49-F238E27FC236}">
                <a16:creationId xmlns:a16="http://schemas.microsoft.com/office/drawing/2014/main" id="{DAAC5D83-443F-4759-9A91-0B31D7AB7342}"/>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80FF2D8D-2F2F-46F9-9144-6D71473A019D}"/>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331510-DDD5-4B6F-ABA0-F9B952129C6C}"/>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4A9E6791-1294-4D20-8BD4-EBBE6D6F4976}"/>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63DED87D-804D-4588-99C8-A419F2D10F7D}"/>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7072A3FB-B208-433E-89D5-F2D6D6DD54E4}"/>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96CDBC9-70A1-4A1C-B5C1-1632161EB5E0}"/>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56C845D2-0182-4059-8566-2E23D4A15147}"/>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1</a:t>
            </a:r>
          </a:p>
        </p:txBody>
      </p:sp>
      <p:sp>
        <p:nvSpPr>
          <p:cNvPr id="10" name="">
            <a:extLst xmlns:a="http://schemas.openxmlformats.org/drawingml/2006/main">
              <a:ext uri="{FF2B5EF4-FFF2-40B4-BE49-F238E27FC236}">
                <a16:creationId xmlns:a16="http://schemas.microsoft.com/office/drawing/2014/main" id="{A8175731-E28C-4540-980E-0463F2A8862C}"/>
              </a:ext>
            </a:extLst>
          </p:cNvPr>
          <p:cNvSpPr>
            <a:spLocks xmlns:a="http://schemas.openxmlformats.org/drawingml/2006/main" noGrp="1"/>
          </p:cNvSpPr>
          <p:nvPr/>
        </p:nvSpPr>
        <p:spPr>
          <a:xfrm xmlns:a="http://schemas.openxmlformats.org/drawingml/2006/main">
            <a:off x="819150"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11" name="">
            <a:extLst xmlns:a="http://schemas.openxmlformats.org/drawingml/2006/main">
              <a:ext uri="{FF2B5EF4-FFF2-40B4-BE49-F238E27FC236}">
                <a16:creationId xmlns:a16="http://schemas.microsoft.com/office/drawing/2014/main" id="{38A73EFF-F3FC-495C-B2EC-DB57AD74C5B5}"/>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24BB038C-EA93-4862-A0CA-D21C0693F1A2}"/>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FD60B5B-600E-4B16-A71D-9E1FF21B251D}"/>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E56FE262-374F-4541-B3D7-12DB23C69295}"/>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2</a:t>
            </a:r>
          </a:p>
        </p:txBody>
      </p:sp>
      <p:sp>
        <p:nvSpPr>
          <p:cNvPr id="15" name="">
            <a:extLst xmlns:a="http://schemas.openxmlformats.org/drawingml/2006/main">
              <a:ext uri="{FF2B5EF4-FFF2-40B4-BE49-F238E27FC236}">
                <a16:creationId xmlns:a16="http://schemas.microsoft.com/office/drawing/2014/main" id="{F79C35F5-1D7B-4B1B-BB0B-AAD1216CAA7A}"/>
              </a:ext>
            </a:extLst>
          </p:cNvPr>
          <p:cNvSpPr>
            <a:spLocks xmlns:a="http://schemas.openxmlformats.org/drawingml/2006/main" noGrp="1"/>
          </p:cNvSpPr>
          <p:nvPr/>
        </p:nvSpPr>
        <p:spPr>
          <a:xfrm xmlns:a="http://schemas.openxmlformats.org/drawingml/2006/main">
            <a:off x="6391275"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16" name="">
            <a:extLst xmlns:a="http://schemas.openxmlformats.org/drawingml/2006/main">
              <a:ext uri="{FF2B5EF4-FFF2-40B4-BE49-F238E27FC236}">
                <a16:creationId xmlns:a16="http://schemas.microsoft.com/office/drawing/2014/main" id="{E6DEAE08-2282-417B-B023-EE3700935117}"/>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DBACF712-721E-4A45-87DD-C436E5B6BDE5}"/>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65EDD95-C9C4-4622-9073-C999AE69B8EB}"/>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61D8A381-B96E-4C54-926A-5142B7BCAA3A}"/>
              </a:ext>
            </a:extLst>
          </p:cNvPr>
          <p:cNvSpPr>
            <a:spLocks xmlns:a="http://schemas.openxmlformats.org/drawingml/2006/main" noGrp="1"/>
          </p:cNvSpPr>
          <p:nvPr/>
        </p:nvSpPr>
        <p:spPr>
          <a:xfrm xmlns:a="http://schemas.openxmlformats.org/drawingml/2006/main">
            <a:off x="1352550"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3</a:t>
            </a:r>
          </a:p>
        </p:txBody>
      </p:sp>
      <p:sp>
        <p:nvSpPr>
          <p:cNvPr id="20" name="">
            <a:extLst xmlns:a="http://schemas.openxmlformats.org/drawingml/2006/main">
              <a:ext uri="{FF2B5EF4-FFF2-40B4-BE49-F238E27FC236}">
                <a16:creationId xmlns:a16="http://schemas.microsoft.com/office/drawing/2014/main" id="{2A44B919-CFE6-4C86-9513-48AE86D9E271}"/>
              </a:ext>
            </a:extLst>
          </p:cNvPr>
          <p:cNvSpPr>
            <a:spLocks xmlns:a="http://schemas.openxmlformats.org/drawingml/2006/main" noGrp="1"/>
          </p:cNvSpPr>
          <p:nvPr/>
        </p:nvSpPr>
        <p:spPr>
          <a:xfrm xmlns:a="http://schemas.openxmlformats.org/drawingml/2006/main">
            <a:off x="819150"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21" name="">
            <a:extLst xmlns:a="http://schemas.openxmlformats.org/drawingml/2006/main">
              <a:ext uri="{FF2B5EF4-FFF2-40B4-BE49-F238E27FC236}">
                <a16:creationId xmlns:a16="http://schemas.microsoft.com/office/drawing/2014/main" id="{9B965FDA-D1DC-47A7-B1E0-7BD57D910A3C}"/>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0D0EB753-EB52-4D9E-A7E4-C4202468EB53}"/>
              </a:ext>
            </a:extLst>
          </p:cNvPr>
          <p:cNvSpPr>
            <a:spLocks xmlns:a="http://schemas.openxmlformats.org/drawingml/2006/main" noGrp="1"/>
          </p:cNvSpPr>
          <p:nvPr/>
        </p:nvSpPr>
        <p:spPr>
          <a:xfrm xmlns:a="http://schemas.openxmlformats.org/drawingml/2006/main">
            <a:off x="6372225"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475406F-E656-4E3D-B9DA-92FCE7D86E73}"/>
              </a:ext>
            </a:extLst>
          </p:cNvPr>
          <p:cNvSpPr>
            <a:spLocks xmlns:a="http://schemas.openxmlformats.org/drawingml/2006/main" noGrp="1"/>
          </p:cNvSpPr>
          <p:nvPr/>
        </p:nvSpPr>
        <p:spPr>
          <a:xfrm xmlns:a="http://schemas.openxmlformats.org/drawingml/2006/main">
            <a:off x="6429375"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3639F398-C627-48B0-A708-CBD6B5563C7B}"/>
              </a:ext>
            </a:extLst>
          </p:cNvPr>
          <p:cNvSpPr>
            <a:spLocks xmlns:a="http://schemas.openxmlformats.org/drawingml/2006/main" noGrp="1"/>
          </p:cNvSpPr>
          <p:nvPr/>
        </p:nvSpPr>
        <p:spPr>
          <a:xfrm xmlns:a="http://schemas.openxmlformats.org/drawingml/2006/main">
            <a:off x="6924675"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4</a:t>
            </a:r>
          </a:p>
        </p:txBody>
      </p:sp>
      <p:sp>
        <p:nvSpPr>
          <p:cNvPr id="25" name="">
            <a:extLst xmlns:a="http://schemas.openxmlformats.org/drawingml/2006/main">
              <a:ext uri="{FF2B5EF4-FFF2-40B4-BE49-F238E27FC236}">
                <a16:creationId xmlns:a16="http://schemas.microsoft.com/office/drawing/2014/main" id="{B953AD76-95A4-4198-906D-EDF0B8AC78B5}"/>
              </a:ext>
            </a:extLst>
          </p:cNvPr>
          <p:cNvSpPr>
            <a:spLocks xmlns:a="http://schemas.openxmlformats.org/drawingml/2006/main" noGrp="1"/>
          </p:cNvSpPr>
          <p:nvPr/>
        </p:nvSpPr>
        <p:spPr>
          <a:xfrm xmlns:a="http://schemas.openxmlformats.org/drawingml/2006/main">
            <a:off x="6391275"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previously taught prompt]</a:t>
            </a:r>
          </a:p>
        </p:txBody>
      </p:sp>
      <p:sp>
        <p:nvSpPr>
          <p:cNvPr id="26" name="">
            <a:extLst xmlns:a="http://schemas.openxmlformats.org/drawingml/2006/main">
              <a:ext uri="{FF2B5EF4-FFF2-40B4-BE49-F238E27FC236}">
                <a16:creationId xmlns:a16="http://schemas.microsoft.com/office/drawing/2014/main" id="{EFF21504-660D-4FC0-9598-2F3F3B5467EB}"/>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BB5F296-B4CB-44A9-877F-FE320122B5EC}"/>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8" name="">
            <a:extLst xmlns:a="http://schemas.openxmlformats.org/drawingml/2006/main">
              <a:ext uri="{FF2B5EF4-FFF2-40B4-BE49-F238E27FC236}">
                <a16:creationId xmlns:a16="http://schemas.microsoft.com/office/drawing/2014/main" id="{2C5EFD5B-0AAC-42C1-9FC5-05C9536277BA}"/>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30" name="source-credit">
            <a:extLst xmlns:a="http://schemas.openxmlformats.org/drawingml/2006/main">
              <a:ext uri="{FF2B5EF4-FFF2-40B4-BE49-F238E27FC236}">
                <a16:creationId xmlns:a16="http://schemas.microsoft.com/office/drawing/2014/main" id="{E1B2C179-0181-4A19-9C8A-76E31DD3CECE}"/>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c8e60bfebbb34c91"/>
              </a:rPr>
              <a:t>Adam Boxer — Retrieval Roulette — original guidance</a:t>
            </a:r>
          </a:p>
        </p:txBody>
      </p:sp>
    </p:spTree>
    <p:extLst>
      <p:ext uri="{BB962C8B-B14F-4D97-AF65-F5344CB8AC3E}">
        <p14:creationId xmlns:p14="http://schemas.microsoft.com/office/powerpoint/2010/main" val="2012480884"/>
      </p:ext>
    </p:extLst>
  </p:cSld>
</p:sld>
</file>

<file path=ppt/slides/slide6.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3145AA0-631E-4DAE-9971-F57899FB4E1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Flashcard practice</a:t>
            </a:r>
          </a:p>
        </p:txBody>
      </p:sp>
      <p:sp>
        <p:nvSpPr>
          <p:cNvPr id="2" name="">
            <a:extLst xmlns:a="http://schemas.openxmlformats.org/drawingml/2006/main">
              <a:ext uri="{FF2B5EF4-FFF2-40B4-BE49-F238E27FC236}">
                <a16:creationId xmlns:a16="http://schemas.microsoft.com/office/drawing/2014/main" id="{4E14A0C6-CCF6-4F36-84CB-1CE3B9291E8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64AF56D-2C82-407D-96EC-280A7893BDF4}"/>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639446-85A0-4E9D-9050-1E4974677EC6}"/>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7E6AC45D-6148-4F04-8B67-A07F9816AA7D}"/>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0DF10FA8-3745-4E8F-8E04-E87CD8F2BA09}"/>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B0F74334-4697-4A4C-AA80-7CECD8FF1EC4}"/>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17509A88-44E9-4DC7-AEF9-BDDCF81B9BCF}"/>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6910A11B-5E8F-452D-B862-95172856761C}"/>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Prompt side</a:t>
            </a:r>
          </a:p>
        </p:txBody>
      </p:sp>
      <p:sp>
        <p:nvSpPr>
          <p:cNvPr id="10" name="">
            <a:extLst xmlns:a="http://schemas.openxmlformats.org/drawingml/2006/main">
              <a:ext uri="{FF2B5EF4-FFF2-40B4-BE49-F238E27FC236}">
                <a16:creationId xmlns:a16="http://schemas.microsoft.com/office/drawing/2014/main" id="{2B3896F5-719D-4FA3-920B-6F1C66CF47C9}"/>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1" name="">
            <a:extLst xmlns:a="http://schemas.openxmlformats.org/drawingml/2006/main">
              <a:ext uri="{FF2B5EF4-FFF2-40B4-BE49-F238E27FC236}">
                <a16:creationId xmlns:a16="http://schemas.microsoft.com/office/drawing/2014/main" id="{C765E228-F84F-41F8-A363-DA5E2CA84BFC}"/>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35911FAE-8933-4DF0-9CF0-E77A5987E6DC}"/>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3BCF6AA-145D-4939-9FAD-5D1CEB5E115E}"/>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50897C9D-5C3B-4F68-9277-93ED05F9F22A}"/>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Answer side</a:t>
            </a:r>
          </a:p>
        </p:txBody>
      </p:sp>
      <p:sp>
        <p:nvSpPr>
          <p:cNvPr id="15" name="">
            <a:extLst xmlns:a="http://schemas.openxmlformats.org/drawingml/2006/main">
              <a:ext uri="{FF2B5EF4-FFF2-40B4-BE49-F238E27FC236}">
                <a16:creationId xmlns:a16="http://schemas.microsoft.com/office/drawing/2014/main" id="{1A513988-C711-441C-856B-4C86778199D7}"/>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checked answer]</a:t>
            </a:r>
          </a:p>
        </p:txBody>
      </p:sp>
      <p:sp>
        <p:nvSpPr>
          <p:cNvPr id="16" name="">
            <a:extLst xmlns:a="http://schemas.openxmlformats.org/drawingml/2006/main">
              <a:ext uri="{FF2B5EF4-FFF2-40B4-BE49-F238E27FC236}">
                <a16:creationId xmlns:a16="http://schemas.microsoft.com/office/drawing/2014/main" id="{D0B6113E-B59F-4D37-9F9D-92653AF8434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88A463-6E57-4187-9467-51B1E73EF14C}"/>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D90B0C99-5248-4998-AF87-C18866F2D11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0" name="source-credit">
            <a:extLst xmlns:a="http://schemas.openxmlformats.org/drawingml/2006/main">
              <a:ext uri="{FF2B5EF4-FFF2-40B4-BE49-F238E27FC236}">
                <a16:creationId xmlns:a16="http://schemas.microsoft.com/office/drawing/2014/main" id="{F8BA36BB-8EDB-4B53-A46B-141995F489F2}"/>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4d56d06503464a00"/>
              </a:rPr>
              <a:t>Pooja K. Agarwal — flashcard guidance — original guidance</a:t>
            </a:r>
          </a:p>
        </p:txBody>
      </p:sp>
    </p:spTree>
    <p:extLst>
      <p:ext uri="{BB962C8B-B14F-4D97-AF65-F5344CB8AC3E}">
        <p14:creationId xmlns:p14="http://schemas.microsoft.com/office/powerpoint/2010/main" val="1959519757"/>
      </p:ext>
    </p:extLst>
  </p:cSld>
</p:sld>
</file>

<file path=ppt/slides/slide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2FB8A3-CAEB-4FCA-B6D9-C3668D25D8A9}"/>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Whiteboard recall</a:t>
            </a:r>
          </a:p>
        </p:txBody>
      </p:sp>
      <p:sp>
        <p:nvSpPr>
          <p:cNvPr id="2" name="">
            <a:extLst xmlns:a="http://schemas.openxmlformats.org/drawingml/2006/main">
              <a:ext uri="{FF2B5EF4-FFF2-40B4-BE49-F238E27FC236}">
                <a16:creationId xmlns:a16="http://schemas.microsoft.com/office/drawing/2014/main" id="{99635D03-44FA-433C-82F2-5572E64CC41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6016C89-43A1-4434-8DDE-6BA45F6A72C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F06FFC-E316-42B5-9DB2-E3CDE885771A}"/>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7D94187B-6F9F-42CA-A30F-CB806930FCAA}"/>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C932F68C-CCAD-4E68-8936-DE4B663EC701}"/>
              </a:ext>
            </a:extLst>
          </p:cNvPr>
          <p:cNvSpPr>
            <a:spLocks xmlns:a="http://schemas.openxmlformats.org/drawingml/2006/main" noGrp="1"/>
          </p:cNvSpPr>
          <p:nvPr/>
        </p:nvSpPr>
        <p:spPr>
          <a:xfrm xmlns:a="http://schemas.openxmlformats.org/drawingml/2006/main">
            <a:off x="609600" y="2247900"/>
            <a:ext cx="10972800" cy="27622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E9981734-AC99-4918-9561-AD1E81B27AF6}"/>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70F55DD-5614-4D42-9EAD-A2198AB46E75}"/>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AF666CA6-EE5F-4B33-A778-BC7A98CCA343}"/>
              </a:ext>
            </a:extLst>
          </p:cNvPr>
          <p:cNvSpPr>
            <a:spLocks xmlns:a="http://schemas.openxmlformats.org/drawingml/2006/main" noGrp="1"/>
          </p:cNvSpPr>
          <p:nvPr/>
        </p:nvSpPr>
        <p:spPr>
          <a:xfrm xmlns:a="http://schemas.openxmlformats.org/drawingml/2006/main">
            <a:off x="1352550" y="2466975"/>
            <a:ext cx="1003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Think first</a:t>
            </a:r>
          </a:p>
        </p:txBody>
      </p:sp>
      <p:sp>
        <p:nvSpPr>
          <p:cNvPr id="10" name="">
            <a:extLst xmlns:a="http://schemas.openxmlformats.org/drawingml/2006/main">
              <a:ext uri="{FF2B5EF4-FFF2-40B4-BE49-F238E27FC236}">
                <a16:creationId xmlns:a16="http://schemas.microsoft.com/office/drawing/2014/main" id="{1E02C850-A181-4044-BCB8-B5A97CDD8FAB}"/>
              </a:ext>
            </a:extLst>
          </p:cNvPr>
          <p:cNvSpPr>
            <a:spLocks xmlns:a="http://schemas.openxmlformats.org/drawingml/2006/main" noGrp="1"/>
          </p:cNvSpPr>
          <p:nvPr/>
        </p:nvSpPr>
        <p:spPr>
          <a:xfrm xmlns:a="http://schemas.openxmlformats.org/drawingml/2006/main">
            <a:off x="819150" y="2990850"/>
            <a:ext cx="105537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retrieval prompt]</a:t>
            </a:r>
          </a:p>
        </p:txBody>
      </p:sp>
      <p:sp>
        <p:nvSpPr>
          <p:cNvPr id="11" name="">
            <a:extLst xmlns:a="http://schemas.openxmlformats.org/drawingml/2006/main">
              <a:ext uri="{FF2B5EF4-FFF2-40B4-BE49-F238E27FC236}">
                <a16:creationId xmlns:a16="http://schemas.microsoft.com/office/drawing/2014/main" id="{027E9413-3038-40A8-BE81-FF54B6D477ED}"/>
              </a:ext>
            </a:extLst>
          </p:cNvPr>
          <p:cNvSpPr>
            <a:spLocks xmlns:a="http://schemas.openxmlformats.org/drawingml/2006/main" noGrp="1"/>
          </p:cNvSpPr>
          <p:nvPr/>
        </p:nvSpPr>
        <p:spPr>
          <a:xfrm xmlns:a="http://schemas.openxmlformats.org/drawingml/2006/main">
            <a:off x="609600" y="52673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Write. Cover your board. Reveal together on the signal.</a:t>
            </a:r>
          </a:p>
        </p:txBody>
      </p:sp>
      <p:sp>
        <p:nvSpPr>
          <p:cNvPr id="12" name="">
            <a:extLst xmlns:a="http://schemas.openxmlformats.org/drawingml/2006/main">
              <a:ext uri="{FF2B5EF4-FFF2-40B4-BE49-F238E27FC236}">
                <a16:creationId xmlns:a16="http://schemas.microsoft.com/office/drawing/2014/main" id="{637BDCE7-C96B-4947-88A8-A8381E154B6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1DF8C80-A941-43E4-813B-A03A926CA4CD}"/>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435DE421-A5E1-4042-A45A-CD81C5CB1092}"/>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1DA0E140-ACD7-43D2-B74C-D55DBB361B67}"/>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8c048b4115c848fe"/>
              </a:rPr>
              <a:t>Janell R. Blunt — linked classroom guidance — original guidance</a:t>
            </a:r>
          </a:p>
        </p:txBody>
      </p:sp>
    </p:spTree>
    <p:extLst>
      <p:ext uri="{BB962C8B-B14F-4D97-AF65-F5344CB8AC3E}">
        <p14:creationId xmlns:p14="http://schemas.microsoft.com/office/powerpoint/2010/main" val="1749855190"/>
      </p:ext>
    </p:extLst>
  </p:cSld>
</p:sld>
</file>

<file path=ppt/slides/slide8.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A7185CB-68B6-4617-B345-6045D1FAC6A4}"/>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Concept map from memory</a:t>
            </a:r>
          </a:p>
        </p:txBody>
      </p:sp>
      <p:sp>
        <p:nvSpPr>
          <p:cNvPr id="2" name="">
            <a:extLst xmlns:a="http://schemas.openxmlformats.org/drawingml/2006/main">
              <a:ext uri="{FF2B5EF4-FFF2-40B4-BE49-F238E27FC236}">
                <a16:creationId xmlns:a16="http://schemas.microsoft.com/office/drawing/2014/main" id="{B70676B7-E696-4E42-ACFD-3111579E7E2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2EA8256-A1C7-4724-BA6E-3C3859109D6A}"/>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3126236-DC26-4A77-92CC-51400E78E3DC}"/>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610C5028-AA77-4523-93CA-905BD5944B21}"/>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5EEB4B79-E40E-4139-9B14-C5E792A9F198}"/>
              </a:ext>
            </a:extLst>
          </p:cNvPr>
          <p:cNvSpPr>
            <a:spLocks xmlns:a="http://schemas.openxmlformats.org/drawingml/2006/main" noGrp="1"/>
          </p:cNvSpPr>
          <p:nvPr/>
        </p:nvSpPr>
        <p:spPr>
          <a:xfrm xmlns:a="http://schemas.openxmlformats.org/drawingml/2006/main">
            <a:off x="4133850" y="2657475"/>
            <a:ext cx="39243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63AF24-85BE-4F4A-AB0D-909FDE5EAFAA}"/>
              </a:ext>
            </a:extLst>
          </p:cNvPr>
          <p:cNvSpPr>
            <a:spLocks xmlns:a="http://schemas.openxmlformats.org/drawingml/2006/main" noGrp="1"/>
          </p:cNvSpPr>
          <p:nvPr/>
        </p:nvSpPr>
        <p:spPr>
          <a:xfrm xmlns:a="http://schemas.openxmlformats.org/drawingml/2006/main">
            <a:off x="6096000" y="2657475"/>
            <a:ext cx="19050" cy="7048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53AEC65-892E-4668-A301-0B95CABFEC9A}"/>
              </a:ext>
            </a:extLst>
          </p:cNvPr>
          <p:cNvSpPr>
            <a:spLocks xmlns:a="http://schemas.openxmlformats.org/drawingml/2006/main" noGrp="1"/>
          </p:cNvSpPr>
          <p:nvPr/>
        </p:nvSpPr>
        <p:spPr>
          <a:xfrm xmlns:a="http://schemas.openxmlformats.org/drawingml/2006/main">
            <a:off x="4133850" y="5114925"/>
            <a:ext cx="39243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E1B790E-7893-4F41-A38C-1CD298635CFD}"/>
              </a:ext>
            </a:extLst>
          </p:cNvPr>
          <p:cNvSpPr>
            <a:spLocks xmlns:a="http://schemas.openxmlformats.org/drawingml/2006/main" noGrp="1"/>
          </p:cNvSpPr>
          <p:nvPr/>
        </p:nvSpPr>
        <p:spPr>
          <a:xfrm xmlns:a="http://schemas.openxmlformats.org/drawingml/2006/main">
            <a:off x="6096000" y="4429125"/>
            <a:ext cx="19050" cy="68580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5847AEB-3E65-4B99-9817-A5BC8BC5CAFD}"/>
              </a:ext>
            </a:extLst>
          </p:cNvPr>
          <p:cNvSpPr>
            <a:spLocks xmlns:a="http://schemas.openxmlformats.org/drawingml/2006/main" noGrp="1"/>
          </p:cNvSpPr>
          <p:nvPr/>
        </p:nvSpPr>
        <p:spPr>
          <a:xfrm xmlns:a="http://schemas.openxmlformats.org/drawingml/2006/main">
            <a:off x="4857750" y="3362325"/>
            <a:ext cx="2476500" cy="1066800"/>
          </a:xfrm>
          <a:prstGeom xmlns:a="http://schemas.openxmlformats.org/drawingml/2006/main" prst="ellipse">
            <a:avLst/>
          </a:prstGeom>
          <a:solidFill xmlns:a="http://schemas.openxmlformats.org/drawingml/2006/main">
            <a:srgbClr val="E7EEE9"/>
          </a:solidFill>
          <a:ln xmlns:a="http://schemas.openxmlformats.org/drawingml/2006/main" w="9525">
            <a:solidFill>
              <a:srgbClr val="A9BDB7"/>
            </a:solidFill>
          </a:ln>
        </p:spPr>
      </p:sp>
      <p:sp>
        <p:nvSpPr>
          <p:cNvPr id="11" name="">
            <a:extLst xmlns:a="http://schemas.openxmlformats.org/drawingml/2006/main">
              <a:ext uri="{FF2B5EF4-FFF2-40B4-BE49-F238E27FC236}">
                <a16:creationId xmlns:a16="http://schemas.microsoft.com/office/drawing/2014/main" id="{4559624F-BA09-48D0-9CB4-739ADF35646F}"/>
              </a:ext>
            </a:extLst>
          </p:cNvPr>
          <p:cNvSpPr>
            <a:spLocks xmlns:a="http://schemas.openxmlformats.org/drawingml/2006/main" noGrp="1"/>
          </p:cNvSpPr>
          <p:nvPr/>
        </p:nvSpPr>
        <p:spPr>
          <a:xfrm xmlns:a="http://schemas.openxmlformats.org/drawingml/2006/main">
            <a:off x="5391150" y="3705225"/>
            <a:ext cx="171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1">
                <a:solidFill>
                  <a:srgbClr val="263C3A"/>
                </a:solidFill>
                <a:latin typeface="DejaVu Sans"/>
                <a:ea typeface="DejaVu Sans"/>
                <a:cs typeface="DejaVu Sans"/>
              </a:defRPr>
            </a:pPr>
            <a:r>
              <a:rPr sz="2175" b="1">
                <a:solidFill>
                  <a:srgbClr val="263C3A"/>
                </a:solidFill>
                <a:latin typeface="DejaVu Sans"/>
                <a:ea typeface="DejaVu Sans"/>
                <a:cs typeface="DejaVu Sans"/>
              </a:rPr>
              <a:t>[Topic]</a:t>
            </a:r>
          </a:p>
        </p:txBody>
      </p:sp>
      <p:sp>
        <p:nvSpPr>
          <p:cNvPr id="12" name="">
            <a:extLst xmlns:a="http://schemas.openxmlformats.org/drawingml/2006/main">
              <a:ext uri="{FF2B5EF4-FFF2-40B4-BE49-F238E27FC236}">
                <a16:creationId xmlns:a16="http://schemas.microsoft.com/office/drawing/2014/main" id="{A05FB665-430E-4B5F-B879-D595D50D15EF}"/>
              </a:ext>
            </a:extLst>
          </p:cNvPr>
          <p:cNvSpPr>
            <a:spLocks xmlns:a="http://schemas.openxmlformats.org/drawingml/2006/main" noGrp="1"/>
          </p:cNvSpPr>
          <p:nvPr/>
        </p:nvSpPr>
        <p:spPr>
          <a:xfrm xmlns:a="http://schemas.openxmlformats.org/drawingml/2006/main">
            <a:off x="609600" y="230505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8A5BEEC8-608C-4A28-B85A-5843674BCBC8}"/>
              </a:ext>
            </a:extLst>
          </p:cNvPr>
          <p:cNvSpPr>
            <a:spLocks xmlns:a="http://schemas.openxmlformats.org/drawingml/2006/main" noGrp="1"/>
          </p:cNvSpPr>
          <p:nvPr/>
        </p:nvSpPr>
        <p:spPr>
          <a:xfrm xmlns:a="http://schemas.openxmlformats.org/drawingml/2006/main">
            <a:off x="800100" y="24955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14" name="">
            <a:extLst xmlns:a="http://schemas.openxmlformats.org/drawingml/2006/main">
              <a:ext uri="{FF2B5EF4-FFF2-40B4-BE49-F238E27FC236}">
                <a16:creationId xmlns:a16="http://schemas.microsoft.com/office/drawing/2014/main" id="{B412975C-FC3D-4AA2-8AA4-3BFC14EF1907}"/>
              </a:ext>
            </a:extLst>
          </p:cNvPr>
          <p:cNvSpPr>
            <a:spLocks xmlns:a="http://schemas.openxmlformats.org/drawingml/2006/main" noGrp="1"/>
          </p:cNvSpPr>
          <p:nvPr/>
        </p:nvSpPr>
        <p:spPr>
          <a:xfrm xmlns:a="http://schemas.openxmlformats.org/drawingml/2006/main">
            <a:off x="8058150" y="230505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A0BC5747-33AC-4A5C-B94B-2EA173870712}"/>
              </a:ext>
            </a:extLst>
          </p:cNvPr>
          <p:cNvSpPr>
            <a:spLocks xmlns:a="http://schemas.openxmlformats.org/drawingml/2006/main" noGrp="1"/>
          </p:cNvSpPr>
          <p:nvPr/>
        </p:nvSpPr>
        <p:spPr>
          <a:xfrm xmlns:a="http://schemas.openxmlformats.org/drawingml/2006/main">
            <a:off x="8248650" y="24955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16" name="">
            <a:extLst xmlns:a="http://schemas.openxmlformats.org/drawingml/2006/main">
              <a:ext uri="{FF2B5EF4-FFF2-40B4-BE49-F238E27FC236}">
                <a16:creationId xmlns:a16="http://schemas.microsoft.com/office/drawing/2014/main" id="{E39AB7EB-B658-47B7-B40C-EB8A586945C0}"/>
              </a:ext>
            </a:extLst>
          </p:cNvPr>
          <p:cNvSpPr>
            <a:spLocks xmlns:a="http://schemas.openxmlformats.org/drawingml/2006/main" noGrp="1"/>
          </p:cNvSpPr>
          <p:nvPr/>
        </p:nvSpPr>
        <p:spPr>
          <a:xfrm xmlns:a="http://schemas.openxmlformats.org/drawingml/2006/main">
            <a:off x="609600" y="476250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C600F26E-A054-45E6-9C60-794FD5934ECE}"/>
              </a:ext>
            </a:extLst>
          </p:cNvPr>
          <p:cNvSpPr>
            <a:spLocks xmlns:a="http://schemas.openxmlformats.org/drawingml/2006/main" noGrp="1"/>
          </p:cNvSpPr>
          <p:nvPr/>
        </p:nvSpPr>
        <p:spPr>
          <a:xfrm xmlns:a="http://schemas.openxmlformats.org/drawingml/2006/main">
            <a:off x="800100" y="49530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18" name="">
            <a:extLst xmlns:a="http://schemas.openxmlformats.org/drawingml/2006/main">
              <a:ext uri="{FF2B5EF4-FFF2-40B4-BE49-F238E27FC236}">
                <a16:creationId xmlns:a16="http://schemas.microsoft.com/office/drawing/2014/main" id="{B5B33750-7F47-4A85-B229-F14FB34C4ACA}"/>
              </a:ext>
            </a:extLst>
          </p:cNvPr>
          <p:cNvSpPr>
            <a:spLocks xmlns:a="http://schemas.openxmlformats.org/drawingml/2006/main" noGrp="1"/>
          </p:cNvSpPr>
          <p:nvPr/>
        </p:nvSpPr>
        <p:spPr>
          <a:xfrm xmlns:a="http://schemas.openxmlformats.org/drawingml/2006/main">
            <a:off x="8058150" y="4762500"/>
            <a:ext cx="3524250" cy="704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C97F3613-84F4-4FD4-A4F3-94EEE2DAB424}"/>
              </a:ext>
            </a:extLst>
          </p:cNvPr>
          <p:cNvSpPr>
            <a:spLocks xmlns:a="http://schemas.openxmlformats.org/drawingml/2006/main" noGrp="1"/>
          </p:cNvSpPr>
          <p:nvPr/>
        </p:nvSpPr>
        <p:spPr>
          <a:xfrm xmlns:a="http://schemas.openxmlformats.org/drawingml/2006/main">
            <a:off x="8248650" y="49530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[Idea or concept]</a:t>
            </a:r>
          </a:p>
        </p:txBody>
      </p:sp>
      <p:sp>
        <p:nvSpPr>
          <p:cNvPr id="20" name="">
            <a:extLst xmlns:a="http://schemas.openxmlformats.org/drawingml/2006/main">
              <a:ext uri="{FF2B5EF4-FFF2-40B4-BE49-F238E27FC236}">
                <a16:creationId xmlns:a16="http://schemas.microsoft.com/office/drawing/2014/main" id="{3BA420C0-350E-4B24-90ED-5D2BF9AE7871}"/>
              </a:ext>
            </a:extLst>
          </p:cNvPr>
          <p:cNvSpPr>
            <a:spLocks xmlns:a="http://schemas.openxmlformats.org/drawingml/2006/main" noGrp="1"/>
          </p:cNvSpPr>
          <p:nvPr/>
        </p:nvSpPr>
        <p:spPr>
          <a:xfrm xmlns:a="http://schemas.openxmlformats.org/drawingml/2006/main">
            <a:off x="4048125" y="56197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0">
                <a:solidFill>
                  <a:srgbClr val="687572"/>
                </a:solidFill>
                <a:latin typeface="DejaVu Sans"/>
                <a:ea typeface="DejaVu Sans"/>
                <a:cs typeface="DejaVu Sans"/>
              </a:defRPr>
            </a:pPr>
            <a:r>
              <a:rPr sz="1350" b="0">
                <a:solidFill>
                  <a:srgbClr val="687572"/>
                </a:solidFill>
                <a:latin typeface="DejaVu Sans"/>
                <a:ea typeface="DejaVu Sans"/>
                <a:cs typeface="DejaVu Sans"/>
              </a:rPr>
              <a:t>Add links and label the connections.</a:t>
            </a:r>
          </a:p>
        </p:txBody>
      </p:sp>
      <p:sp>
        <p:nvSpPr>
          <p:cNvPr id="21" name="">
            <a:extLst xmlns:a="http://schemas.openxmlformats.org/drawingml/2006/main">
              <a:ext uri="{FF2B5EF4-FFF2-40B4-BE49-F238E27FC236}">
                <a16:creationId xmlns:a16="http://schemas.microsoft.com/office/drawing/2014/main" id="{A07E0229-E44B-455C-A896-A6DBF3577234}"/>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C96EFC5-8929-4756-A0D3-F4AB04146B77}"/>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3" name="">
            <a:extLst xmlns:a="http://schemas.openxmlformats.org/drawingml/2006/main">
              <a:ext uri="{FF2B5EF4-FFF2-40B4-BE49-F238E27FC236}">
                <a16:creationId xmlns:a16="http://schemas.microsoft.com/office/drawing/2014/main" id="{FD023C3C-D203-46B0-9EE5-74E0B1D0F68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5" name="source-credit">
            <a:extLst xmlns:a="http://schemas.openxmlformats.org/drawingml/2006/main">
              <a:ext uri="{FF2B5EF4-FFF2-40B4-BE49-F238E27FC236}">
                <a16:creationId xmlns:a16="http://schemas.microsoft.com/office/drawing/2014/main" id="{D8D6F2C5-258B-45CE-8C97-452ADAAF8FF4}"/>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64e874fa5eec4591"/>
              </a:rPr>
              <a:t>Shared concept-mapping method; public explanation by The Learning Scientists — original guidance</a:t>
            </a:r>
          </a:p>
        </p:txBody>
      </p:sp>
    </p:spTree>
    <p:extLst>
      <p:ext uri="{BB962C8B-B14F-4D97-AF65-F5344CB8AC3E}">
        <p14:creationId xmlns:p14="http://schemas.microsoft.com/office/powerpoint/2010/main" val="2039792841"/>
      </p:ext>
    </p:extLst>
  </p:cSld>
</p:sld>
</file>

<file path=ppt/slides/slide9.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6E8EB96-E03F-4BAE-8C1C-BC1689D74E0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Picture prompts</a:t>
            </a:r>
          </a:p>
        </p:txBody>
      </p:sp>
      <p:sp>
        <p:nvSpPr>
          <p:cNvPr id="2" name="">
            <a:extLst xmlns:a="http://schemas.openxmlformats.org/drawingml/2006/main">
              <a:ext uri="{FF2B5EF4-FFF2-40B4-BE49-F238E27FC236}">
                <a16:creationId xmlns:a16="http://schemas.microsoft.com/office/drawing/2014/main" id="{8CECBB62-A053-4E04-AF1E-7FA3AC145AE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ED73057-F6DF-4D69-A03A-3C266C385621}"/>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6981272-C5E7-4A20-B96E-C300B2640379}"/>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51922697-E705-4C84-BF98-2420B7A53DC0}"/>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B8FB7B22-90C7-4A45-BF84-49A3AEE6F834}"/>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3AFE01E-88BB-4ADC-BD7F-F58519D681B9}"/>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0FB2BBA-E071-4761-89FE-A1DFDC38F8B3}"/>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B9E41E1F-60BD-4437-A523-D657ADBD3A7B}"/>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Look and recall</a:t>
            </a:r>
          </a:p>
        </p:txBody>
      </p:sp>
      <p:sp>
        <p:nvSpPr>
          <p:cNvPr id="10" name="">
            <a:extLst xmlns:a="http://schemas.openxmlformats.org/drawingml/2006/main">
              <a:ext uri="{FF2B5EF4-FFF2-40B4-BE49-F238E27FC236}">
                <a16:creationId xmlns:a16="http://schemas.microsoft.com/office/drawing/2014/main" id="{BC8F8511-C519-49E6-B2D0-73886F9C3504}"/>
              </a:ext>
            </a:extLst>
          </p:cNvPr>
          <p:cNvSpPr>
            <a:spLocks xmlns:a="http://schemas.openxmlformats.org/drawingml/2006/main" noGrp="1"/>
          </p:cNvSpPr>
          <p:nvPr/>
        </p:nvSpPr>
        <p:spPr>
          <a:xfrm xmlns:a="http://schemas.openxmlformats.org/drawingml/2006/main">
            <a:off x="819150"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[Insert a familiar image]</a:t>
            </a:r>
          </a:p>
        </p:txBody>
      </p:sp>
      <p:sp>
        <p:nvSpPr>
          <p:cNvPr id="11" name="">
            <a:extLst xmlns:a="http://schemas.openxmlformats.org/drawingml/2006/main">
              <a:ext uri="{FF2B5EF4-FFF2-40B4-BE49-F238E27FC236}">
                <a16:creationId xmlns:a16="http://schemas.microsoft.com/office/drawing/2014/main" id="{EB456371-6BD1-447C-96A1-06B9DB378897}"/>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291F93E4-2EDA-4973-AD93-CE0144A5CA3F}"/>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BC1BFE-B27E-4CF9-ADA0-B25F8164D98A}"/>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A8C2E1DF-9F0F-4A16-8DFC-B0E302011535}"/>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Explain what you remember</a:t>
            </a:r>
          </a:p>
        </p:txBody>
      </p:sp>
      <p:sp>
        <p:nvSpPr>
          <p:cNvPr id="15" name="">
            <a:extLst xmlns:a="http://schemas.openxmlformats.org/drawingml/2006/main">
              <a:ext uri="{FF2B5EF4-FFF2-40B4-BE49-F238E27FC236}">
                <a16:creationId xmlns:a16="http://schemas.microsoft.com/office/drawing/2014/main" id="{3960DF70-1B3D-45A2-A173-3895E75E50AA}"/>
              </a:ext>
            </a:extLst>
          </p:cNvPr>
          <p:cNvSpPr>
            <a:spLocks xmlns:a="http://schemas.openxmlformats.org/drawingml/2006/main" noGrp="1"/>
          </p:cNvSpPr>
          <p:nvPr/>
        </p:nvSpPr>
        <p:spPr>
          <a:xfrm xmlns:a="http://schemas.openxmlformats.org/drawingml/2006/main">
            <a:off x="6391275" y="2990850"/>
            <a:ext cx="4981575" cy="2466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recall instructions]</a:t>
            </a:r>
          </a:p>
        </p:txBody>
      </p:sp>
      <p:sp>
        <p:nvSpPr>
          <p:cNvPr id="16" name="">
            <a:extLst xmlns:a="http://schemas.openxmlformats.org/drawingml/2006/main">
              <a:ext uri="{FF2B5EF4-FFF2-40B4-BE49-F238E27FC236}">
                <a16:creationId xmlns:a16="http://schemas.microsoft.com/office/drawing/2014/main" id="{83AFCDD0-4493-4CD5-A23D-8BE04EDF28D7}"/>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28A9EC8-3BEB-4F9A-9CF9-1BA1295AB3D6}"/>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8" name="">
            <a:extLst xmlns:a="http://schemas.openxmlformats.org/drawingml/2006/main">
              <a:ext uri="{FF2B5EF4-FFF2-40B4-BE49-F238E27FC236}">
                <a16:creationId xmlns:a16="http://schemas.microsoft.com/office/drawing/2014/main" id="{A974EE4B-41F6-40E0-B8B0-19A6A95D558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0" name="source-credit">
            <a:extLst xmlns:a="http://schemas.openxmlformats.org/drawingml/2006/main">
              <a:ext uri="{FF2B5EF4-FFF2-40B4-BE49-F238E27FC236}">
                <a16:creationId xmlns:a16="http://schemas.microsoft.com/office/drawing/2014/main" id="{9703E170-A75D-4299-963F-0B84BACB48A9}"/>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810b0875ab174817"/>
              </a:rPr>
              <a:t>Shared visual-cue method; TNT classroom adaptation — original guidance</a:t>
            </a:r>
          </a:p>
        </p:txBody>
      </p:sp>
    </p:spTree>
    <p:extLst>
      <p:ext uri="{BB962C8B-B14F-4D97-AF65-F5344CB8AC3E}">
        <p14:creationId xmlns:p14="http://schemas.microsoft.com/office/powerpoint/2010/main" val="1255484085"/>
      </p:ext>
    </p:extLst>
  </p:cSld>
</p:sld>
</file>

<file path=ppt/slides/slide10.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8EA58A5-E1F8-4800-B091-FC58247E7E71}"/>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List it</a:t>
            </a:r>
          </a:p>
        </p:txBody>
      </p:sp>
      <p:sp>
        <p:nvSpPr>
          <p:cNvPr id="2" name="">
            <a:extLst xmlns:a="http://schemas.openxmlformats.org/drawingml/2006/main">
              <a:ext uri="{FF2B5EF4-FFF2-40B4-BE49-F238E27FC236}">
                <a16:creationId xmlns:a16="http://schemas.microsoft.com/office/drawing/2014/main" id="{A760CCCD-1F04-496C-970B-884636A1514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11133FD0-63D5-49C4-ABC0-FF26F363257A}"/>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B81453-FAD5-48F6-BB87-F2EACED7959A}"/>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EE25131D-53F2-4FFC-96D5-629B210B29BF}"/>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B8E4EBEC-F0C2-4ED0-A0AE-15F3FC3667E2}"/>
              </a:ext>
            </a:extLst>
          </p:cNvPr>
          <p:cNvSpPr>
            <a:spLocks xmlns:a="http://schemas.openxmlformats.org/drawingml/2006/main" noGrp="1"/>
          </p:cNvSpPr>
          <p:nvPr/>
        </p:nvSpPr>
        <p:spPr>
          <a:xfrm xmlns:a="http://schemas.openxmlformats.org/drawingml/2006/main">
            <a:off x="609600" y="2247900"/>
            <a:ext cx="10972800" cy="27622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67AFA343-E44B-4040-927D-46A5A57E7584}"/>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65539A2-2BEE-433A-88C9-457A56FE7977}"/>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FE25C00D-3F1D-4503-8E3E-F1B51E11913D}"/>
              </a:ext>
            </a:extLst>
          </p:cNvPr>
          <p:cNvSpPr>
            <a:spLocks xmlns:a="http://schemas.openxmlformats.org/drawingml/2006/main" noGrp="1"/>
          </p:cNvSpPr>
          <p:nvPr/>
        </p:nvSpPr>
        <p:spPr>
          <a:xfrm xmlns:a="http://schemas.openxmlformats.org/drawingml/2006/main">
            <a:off x="1352550" y="2466975"/>
            <a:ext cx="10039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What belongs in the list?</a:t>
            </a:r>
          </a:p>
        </p:txBody>
      </p:sp>
      <p:sp>
        <p:nvSpPr>
          <p:cNvPr id="10" name="">
            <a:extLst xmlns:a="http://schemas.openxmlformats.org/drawingml/2006/main">
              <a:ext uri="{FF2B5EF4-FFF2-40B4-BE49-F238E27FC236}">
                <a16:creationId xmlns:a16="http://schemas.microsoft.com/office/drawing/2014/main" id="{3E99D5AD-346B-4F2B-BF1F-3447A51F9B47}"/>
              </a:ext>
            </a:extLst>
          </p:cNvPr>
          <p:cNvSpPr>
            <a:spLocks xmlns:a="http://schemas.openxmlformats.org/drawingml/2006/main" noGrp="1"/>
          </p:cNvSpPr>
          <p:nvPr/>
        </p:nvSpPr>
        <p:spPr>
          <a:xfrm xmlns:a="http://schemas.openxmlformats.org/drawingml/2006/main">
            <a:off x="819150" y="2990850"/>
            <a:ext cx="105537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category and list length]</a:t>
            </a:r>
          </a:p>
        </p:txBody>
      </p:sp>
      <p:sp>
        <p:nvSpPr>
          <p:cNvPr id="11" name="">
            <a:extLst xmlns:a="http://schemas.openxmlformats.org/drawingml/2006/main">
              <a:ext uri="{FF2B5EF4-FFF2-40B4-BE49-F238E27FC236}">
                <a16:creationId xmlns:a16="http://schemas.microsoft.com/office/drawing/2014/main" id="{62DB7C35-BCDC-4312-97DC-6F263BCCE6C0}"/>
              </a:ext>
            </a:extLst>
          </p:cNvPr>
          <p:cNvSpPr>
            <a:spLocks xmlns:a="http://schemas.openxmlformats.org/drawingml/2006/main" noGrp="1"/>
          </p:cNvSpPr>
          <p:nvPr/>
        </p:nvSpPr>
        <p:spPr>
          <a:xfrm xmlns:a="http://schemas.openxmlformats.org/drawingml/2006/main">
            <a:off x="609600" y="52673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263C3A"/>
                </a:solidFill>
                <a:latin typeface="DejaVu Sans"/>
                <a:ea typeface="DejaVu Sans"/>
                <a:cs typeface="DejaVu Sans"/>
              </a:defRPr>
            </a:pPr>
            <a:r>
              <a:rPr sz="1950" b="0">
                <a:solidFill>
                  <a:srgbClr val="263C3A"/>
                </a:solidFill>
                <a:latin typeface="DejaVu Sans"/>
                <a:ea typeface="DejaVu Sans"/>
                <a:cs typeface="DejaVu Sans"/>
              </a:rPr>
              <a:t>Choose one item and explain why it belongs.</a:t>
            </a:r>
          </a:p>
        </p:txBody>
      </p:sp>
      <p:sp>
        <p:nvSpPr>
          <p:cNvPr id="12" name="">
            <a:extLst xmlns:a="http://schemas.openxmlformats.org/drawingml/2006/main">
              <a:ext uri="{FF2B5EF4-FFF2-40B4-BE49-F238E27FC236}">
                <a16:creationId xmlns:a16="http://schemas.microsoft.com/office/drawing/2014/main" id="{6493AEBB-1708-4AF0-9948-D30CDBB5355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2C86165-D7C2-498A-ABBF-409C4DBE8752}"/>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98A68A3F-6A8B-45A9-A308-57760B5AF67D}"/>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4469CCD9-9886-4BBD-AE3D-CA5C8FF2D5A3}"/>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d5b4d170570b4039"/>
              </a:rPr>
              <a:t>Kate Jones — published List It! classroom strategy — original guidance</a:t>
            </a:r>
          </a:p>
        </p:txBody>
      </p:sp>
    </p:spTree>
    <p:extLst>
      <p:ext uri="{BB962C8B-B14F-4D97-AF65-F5344CB8AC3E}">
        <p14:creationId xmlns:p14="http://schemas.microsoft.com/office/powerpoint/2010/main" val="950045463"/>
      </p:ext>
    </p:extLst>
  </p:cSld>
</p:sld>
</file>

<file path=ppt/slides/slide1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D7ED5850-F804-4E89-A059-631F4CA2E939}"/>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Group recall placemat</a:t>
            </a:r>
          </a:p>
        </p:txBody>
      </p:sp>
      <p:sp>
        <p:nvSpPr>
          <p:cNvPr id="2" name="">
            <a:extLst xmlns:a="http://schemas.openxmlformats.org/drawingml/2006/main">
              <a:ext uri="{FF2B5EF4-FFF2-40B4-BE49-F238E27FC236}">
                <a16:creationId xmlns:a16="http://schemas.microsoft.com/office/drawing/2014/main" id="{72B8F12C-E194-4A04-8DB9-980FB6D0345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9D4144E-ABAA-4EEE-96D0-36326058760E}"/>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57EAF7-E54E-453D-8D76-DC811552FAB9}"/>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AA084FB4-C601-461C-A624-E6CD0FEC3DF6}"/>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07136C1F-E316-4428-831C-5AA7DB2942E6}"/>
              </a:ext>
            </a:extLst>
          </p:cNvPr>
          <p:cNvSpPr>
            <a:spLocks xmlns:a="http://schemas.openxmlformats.org/drawingml/2006/main" noGrp="1"/>
          </p:cNvSpPr>
          <p:nvPr/>
        </p:nvSpPr>
        <p:spPr>
          <a:xfrm xmlns:a="http://schemas.openxmlformats.org/drawingml/2006/main">
            <a:off x="609600" y="2247900"/>
            <a:ext cx="5400675" cy="134302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1BA1F3CA-DCD8-4981-9966-2457BADF3439}"/>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083121E-44F6-4CE9-9DF3-9CA4ECC246D7}"/>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24ECA872-90AA-4351-AD61-F10B23CDA43F}"/>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1</a:t>
            </a:r>
          </a:p>
        </p:txBody>
      </p:sp>
      <p:sp>
        <p:nvSpPr>
          <p:cNvPr id="10" name="">
            <a:extLst xmlns:a="http://schemas.openxmlformats.org/drawingml/2006/main">
              <a:ext uri="{FF2B5EF4-FFF2-40B4-BE49-F238E27FC236}">
                <a16:creationId xmlns:a16="http://schemas.microsoft.com/office/drawing/2014/main" id="{8957AE9F-BFA3-4D31-B704-0D769D52DBF7}"/>
              </a:ext>
            </a:extLst>
          </p:cNvPr>
          <p:cNvSpPr>
            <a:spLocks xmlns:a="http://schemas.openxmlformats.org/drawingml/2006/main" noGrp="1"/>
          </p:cNvSpPr>
          <p:nvPr/>
        </p:nvSpPr>
        <p:spPr>
          <a:xfrm xmlns:a="http://schemas.openxmlformats.org/drawingml/2006/main">
            <a:off x="819150" y="2990850"/>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11" name="">
            <a:extLst xmlns:a="http://schemas.openxmlformats.org/drawingml/2006/main">
              <a:ext uri="{FF2B5EF4-FFF2-40B4-BE49-F238E27FC236}">
                <a16:creationId xmlns:a16="http://schemas.microsoft.com/office/drawing/2014/main" id="{1359C188-73C1-443D-832C-FE85CB9C9A34}"/>
              </a:ext>
            </a:extLst>
          </p:cNvPr>
          <p:cNvSpPr>
            <a:spLocks xmlns:a="http://schemas.openxmlformats.org/drawingml/2006/main" noGrp="1"/>
          </p:cNvSpPr>
          <p:nvPr/>
        </p:nvSpPr>
        <p:spPr>
          <a:xfrm xmlns:a="http://schemas.openxmlformats.org/drawingml/2006/main">
            <a:off x="6181725" y="2247900"/>
            <a:ext cx="5400675" cy="134302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89BEADAB-DA7F-40AE-8D6C-ED5AE926281A}"/>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599E7A3-E7B8-4828-A400-16698F513AF6}"/>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A7E15FE3-6422-46FB-AFC4-887546C7840F}"/>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2</a:t>
            </a:r>
          </a:p>
        </p:txBody>
      </p:sp>
      <p:sp>
        <p:nvSpPr>
          <p:cNvPr id="15" name="">
            <a:extLst xmlns:a="http://schemas.openxmlformats.org/drawingml/2006/main">
              <a:ext uri="{FF2B5EF4-FFF2-40B4-BE49-F238E27FC236}">
                <a16:creationId xmlns:a16="http://schemas.microsoft.com/office/drawing/2014/main" id="{4E8A2E18-2F48-4EBA-A011-64809143BCD5}"/>
              </a:ext>
            </a:extLst>
          </p:cNvPr>
          <p:cNvSpPr>
            <a:spLocks xmlns:a="http://schemas.openxmlformats.org/drawingml/2006/main" noGrp="1"/>
          </p:cNvSpPr>
          <p:nvPr/>
        </p:nvSpPr>
        <p:spPr>
          <a:xfrm xmlns:a="http://schemas.openxmlformats.org/drawingml/2006/main">
            <a:off x="6391275" y="2990850"/>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16" name="">
            <a:extLst xmlns:a="http://schemas.openxmlformats.org/drawingml/2006/main">
              <a:ext uri="{FF2B5EF4-FFF2-40B4-BE49-F238E27FC236}">
                <a16:creationId xmlns:a16="http://schemas.microsoft.com/office/drawing/2014/main" id="{1F20F1AB-AF23-4FBF-A30F-C79FAFE06FD5}"/>
              </a:ext>
            </a:extLst>
          </p:cNvPr>
          <p:cNvSpPr>
            <a:spLocks xmlns:a="http://schemas.openxmlformats.org/drawingml/2006/main" noGrp="1"/>
          </p:cNvSpPr>
          <p:nvPr/>
        </p:nvSpPr>
        <p:spPr>
          <a:xfrm xmlns:a="http://schemas.openxmlformats.org/drawingml/2006/main">
            <a:off x="609600" y="3762375"/>
            <a:ext cx="5400675" cy="134302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AA95D6CD-2081-4A34-BF91-8D0C581B3FB9}"/>
              </a:ext>
            </a:extLst>
          </p:cNvPr>
          <p:cNvSpPr>
            <a:spLocks xmlns:a="http://schemas.openxmlformats.org/drawingml/2006/main" noGrp="1"/>
          </p:cNvSpPr>
          <p:nvPr/>
        </p:nvSpPr>
        <p:spPr>
          <a:xfrm xmlns:a="http://schemas.openxmlformats.org/drawingml/2006/main">
            <a:off x="800100" y="3933825"/>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8528A2-DC0E-4DD6-B435-3F09D02C94A1}"/>
              </a:ext>
            </a:extLst>
          </p:cNvPr>
          <p:cNvSpPr>
            <a:spLocks xmlns:a="http://schemas.openxmlformats.org/drawingml/2006/main" noGrp="1"/>
          </p:cNvSpPr>
          <p:nvPr/>
        </p:nvSpPr>
        <p:spPr>
          <a:xfrm xmlns:a="http://schemas.openxmlformats.org/drawingml/2006/main">
            <a:off x="857250" y="40005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602F0665-A1AB-4F65-89CE-D6C2B6C6BB72}"/>
              </a:ext>
            </a:extLst>
          </p:cNvPr>
          <p:cNvSpPr>
            <a:spLocks xmlns:a="http://schemas.openxmlformats.org/drawingml/2006/main" noGrp="1"/>
          </p:cNvSpPr>
          <p:nvPr/>
        </p:nvSpPr>
        <p:spPr>
          <a:xfrm xmlns:a="http://schemas.openxmlformats.org/drawingml/2006/main">
            <a:off x="1352550" y="3981450"/>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3</a:t>
            </a:r>
          </a:p>
        </p:txBody>
      </p:sp>
      <p:sp>
        <p:nvSpPr>
          <p:cNvPr id="20" name="">
            <a:extLst xmlns:a="http://schemas.openxmlformats.org/drawingml/2006/main">
              <a:ext uri="{FF2B5EF4-FFF2-40B4-BE49-F238E27FC236}">
                <a16:creationId xmlns:a16="http://schemas.microsoft.com/office/drawing/2014/main" id="{82E34D48-787D-47DE-B132-B836E2CA8580}"/>
              </a:ext>
            </a:extLst>
          </p:cNvPr>
          <p:cNvSpPr>
            <a:spLocks xmlns:a="http://schemas.openxmlformats.org/drawingml/2006/main" noGrp="1"/>
          </p:cNvSpPr>
          <p:nvPr/>
        </p:nvSpPr>
        <p:spPr>
          <a:xfrm xmlns:a="http://schemas.openxmlformats.org/drawingml/2006/main">
            <a:off x="819150" y="4505325"/>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21" name="">
            <a:extLst xmlns:a="http://schemas.openxmlformats.org/drawingml/2006/main">
              <a:ext uri="{FF2B5EF4-FFF2-40B4-BE49-F238E27FC236}">
                <a16:creationId xmlns:a16="http://schemas.microsoft.com/office/drawing/2014/main" id="{35D8FEDF-DE0E-4157-8294-094DBC1ED3C5}"/>
              </a:ext>
            </a:extLst>
          </p:cNvPr>
          <p:cNvSpPr>
            <a:spLocks xmlns:a="http://schemas.openxmlformats.org/drawingml/2006/main" noGrp="1"/>
          </p:cNvSpPr>
          <p:nvPr/>
        </p:nvSpPr>
        <p:spPr>
          <a:xfrm xmlns:a="http://schemas.openxmlformats.org/drawingml/2006/main">
            <a:off x="6181725" y="3762375"/>
            <a:ext cx="5400675" cy="134302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050922B8-98B9-401C-8A28-125301F72EAC}"/>
              </a:ext>
            </a:extLst>
          </p:cNvPr>
          <p:cNvSpPr>
            <a:spLocks xmlns:a="http://schemas.openxmlformats.org/drawingml/2006/main" noGrp="1"/>
          </p:cNvSpPr>
          <p:nvPr/>
        </p:nvSpPr>
        <p:spPr>
          <a:xfrm xmlns:a="http://schemas.openxmlformats.org/drawingml/2006/main">
            <a:off x="6372225" y="3933825"/>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6DA577E-9B82-4BA0-8567-866547B47EE1}"/>
              </a:ext>
            </a:extLst>
          </p:cNvPr>
          <p:cNvSpPr>
            <a:spLocks xmlns:a="http://schemas.openxmlformats.org/drawingml/2006/main" noGrp="1"/>
          </p:cNvSpPr>
          <p:nvPr/>
        </p:nvSpPr>
        <p:spPr>
          <a:xfrm xmlns:a="http://schemas.openxmlformats.org/drawingml/2006/main">
            <a:off x="6429375" y="4000500"/>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51F687E0-662E-456A-8422-0A727E438AEE}"/>
              </a:ext>
            </a:extLst>
          </p:cNvPr>
          <p:cNvSpPr>
            <a:spLocks xmlns:a="http://schemas.openxmlformats.org/drawingml/2006/main" noGrp="1"/>
          </p:cNvSpPr>
          <p:nvPr/>
        </p:nvSpPr>
        <p:spPr>
          <a:xfrm xmlns:a="http://schemas.openxmlformats.org/drawingml/2006/main">
            <a:off x="6924675" y="3981450"/>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Learner 4</a:t>
            </a:r>
          </a:p>
        </p:txBody>
      </p:sp>
      <p:sp>
        <p:nvSpPr>
          <p:cNvPr id="25" name="">
            <a:extLst xmlns:a="http://schemas.openxmlformats.org/drawingml/2006/main">
              <a:ext uri="{FF2B5EF4-FFF2-40B4-BE49-F238E27FC236}">
                <a16:creationId xmlns:a16="http://schemas.microsoft.com/office/drawing/2014/main" id="{8CFBC060-861B-42D4-9F99-20D074BF9998}"/>
              </a:ext>
            </a:extLst>
          </p:cNvPr>
          <p:cNvSpPr>
            <a:spLocks xmlns:a="http://schemas.openxmlformats.org/drawingml/2006/main" noGrp="1"/>
          </p:cNvSpPr>
          <p:nvPr/>
        </p:nvSpPr>
        <p:spPr>
          <a:xfrm xmlns:a="http://schemas.openxmlformats.org/drawingml/2006/main">
            <a:off x="6391275" y="4505325"/>
            <a:ext cx="49815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Independent recall</a:t>
            </a:r>
          </a:p>
        </p:txBody>
      </p:sp>
      <p:sp>
        <p:nvSpPr>
          <p:cNvPr id="26" name="">
            <a:extLst xmlns:a="http://schemas.openxmlformats.org/drawingml/2006/main">
              <a:ext uri="{FF2B5EF4-FFF2-40B4-BE49-F238E27FC236}">
                <a16:creationId xmlns:a16="http://schemas.microsoft.com/office/drawing/2014/main" id="{E1B6691A-AAB8-4C37-A638-3A231631C889}"/>
              </a:ext>
            </a:extLst>
          </p:cNvPr>
          <p:cNvSpPr>
            <a:spLocks xmlns:a="http://schemas.openxmlformats.org/drawingml/2006/main" noGrp="1"/>
          </p:cNvSpPr>
          <p:nvPr/>
        </p:nvSpPr>
        <p:spPr>
          <a:xfrm xmlns:a="http://schemas.openxmlformats.org/drawingml/2006/main">
            <a:off x="609600" y="5276850"/>
            <a:ext cx="10972800" cy="438150"/>
          </a:xfrm>
          <a:prstGeom xmlns:a="http://schemas.openxmlformats.org/drawingml/2006/main" prst="rect">
            <a:avLst/>
          </a:prstGeom>
          <a:solidFill xmlns:a="http://schemas.openxmlformats.org/drawingml/2006/main">
            <a:srgbClr val="F5EBC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6D544D6-B109-4EB0-8F15-D6080B838C5B}"/>
              </a:ext>
            </a:extLst>
          </p:cNvPr>
          <p:cNvSpPr>
            <a:spLocks xmlns:a="http://schemas.openxmlformats.org/drawingml/2006/main" noGrp="1"/>
          </p:cNvSpPr>
          <p:nvPr/>
        </p:nvSpPr>
        <p:spPr>
          <a:xfrm xmlns:a="http://schemas.openxmlformats.org/drawingml/2006/main">
            <a:off x="781050" y="5362575"/>
            <a:ext cx="10629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0">
                <a:solidFill>
                  <a:srgbClr val="263C3A"/>
                </a:solidFill>
                <a:latin typeface="DejaVu Sans"/>
                <a:ea typeface="DejaVu Sans"/>
                <a:cs typeface="DejaVu Sans"/>
              </a:defRPr>
            </a:pPr>
            <a:r>
              <a:rPr sz="1575" b="0">
                <a:solidFill>
                  <a:srgbClr val="263C3A"/>
                </a:solidFill>
                <a:latin typeface="DejaVu Sans"/>
                <a:ea typeface="DejaVu Sans"/>
                <a:cs typeface="DejaVu Sans"/>
              </a:rPr>
              <a:t>Shared ideas after discussion: [Your instructions]</a:t>
            </a:r>
          </a:p>
        </p:txBody>
      </p:sp>
      <p:sp>
        <p:nvSpPr>
          <p:cNvPr id="28" name="">
            <a:extLst xmlns:a="http://schemas.openxmlformats.org/drawingml/2006/main">
              <a:ext uri="{FF2B5EF4-FFF2-40B4-BE49-F238E27FC236}">
                <a16:creationId xmlns:a16="http://schemas.microsoft.com/office/drawing/2014/main" id="{A5ED43A7-4488-4D2A-99F3-A8CD9D67DC3B}"/>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DE7932AE-C04E-4977-9D46-5B1F7645855A}"/>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0" name="">
            <a:extLst xmlns:a="http://schemas.openxmlformats.org/drawingml/2006/main">
              <a:ext uri="{FF2B5EF4-FFF2-40B4-BE49-F238E27FC236}">
                <a16:creationId xmlns:a16="http://schemas.microsoft.com/office/drawing/2014/main" id="{7841E92F-1EFB-47D6-978E-AD0D81E14E93}"/>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32" name="source-credit">
            <a:extLst xmlns:a="http://schemas.openxmlformats.org/drawingml/2006/main">
              <a:ext uri="{FF2B5EF4-FFF2-40B4-BE49-F238E27FC236}">
                <a16:creationId xmlns:a16="http://schemas.microsoft.com/office/drawing/2014/main" id="{F8CA5BBF-6473-49FD-8567-6F7333F0197B}"/>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f092107d10b04393"/>
              </a:rPr>
              <a:t>Shared placemat structure; TNT retrieval adaptation — original guidance</a:t>
            </a:r>
          </a:p>
        </p:txBody>
      </p:sp>
    </p:spTree>
    <p:extLst>
      <p:ext uri="{BB962C8B-B14F-4D97-AF65-F5344CB8AC3E}">
        <p14:creationId xmlns:p14="http://schemas.microsoft.com/office/powerpoint/2010/main" val="1854463289"/>
      </p:ext>
    </p:extLst>
  </p:cSld>
</p:sld>
</file>

<file path=ppt/slides/slide12.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0255C689-DE71-494E-AC96-707C9F65A45D}"/>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Roll and retrieve</a:t>
            </a:r>
          </a:p>
        </p:txBody>
      </p:sp>
      <p:sp>
        <p:nvSpPr>
          <p:cNvPr id="2" name="">
            <a:extLst xmlns:a="http://schemas.openxmlformats.org/drawingml/2006/main">
              <a:ext uri="{FF2B5EF4-FFF2-40B4-BE49-F238E27FC236}">
                <a16:creationId xmlns:a16="http://schemas.microsoft.com/office/drawing/2014/main" id="{12559CF0-1537-4364-B5A9-85965ADF974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3B612FA-6B2A-44AA-ADB9-A49737707992}"/>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3AD5B27-7979-4A1F-8D3C-5004DB21E197}"/>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B954B99D-F580-4FF4-ACF2-35F8567D3AA9}"/>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C7EACCCA-C348-406D-8668-3E6181FF554E}"/>
              </a:ext>
            </a:extLst>
          </p:cNvPr>
          <p:cNvSpPr>
            <a:spLocks xmlns:a="http://schemas.openxmlformats.org/drawingml/2006/main" noGrp="1"/>
          </p:cNvSpPr>
          <p:nvPr/>
        </p:nvSpPr>
        <p:spPr>
          <a:xfrm xmlns:a="http://schemas.openxmlformats.org/drawingml/2006/main">
            <a:off x="6096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62781886-5E86-4ADA-85F4-C63AC3187DAB}"/>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78EE568-DBA8-44C9-AEFC-8A0EB88F733A}"/>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1B071498-7C53-4E78-A85E-FDBA2F345F66}"/>
              </a:ext>
            </a:extLst>
          </p:cNvPr>
          <p:cNvSpPr>
            <a:spLocks xmlns:a="http://schemas.openxmlformats.org/drawingml/2006/main" noGrp="1"/>
          </p:cNvSpPr>
          <p:nvPr/>
        </p:nvSpPr>
        <p:spPr>
          <a:xfrm xmlns:a="http://schemas.openxmlformats.org/drawingml/2006/main">
            <a:off x="13525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1</a:t>
            </a:r>
          </a:p>
        </p:txBody>
      </p:sp>
      <p:sp>
        <p:nvSpPr>
          <p:cNvPr id="10" name="">
            <a:extLst xmlns:a="http://schemas.openxmlformats.org/drawingml/2006/main">
              <a:ext uri="{FF2B5EF4-FFF2-40B4-BE49-F238E27FC236}">
                <a16:creationId xmlns:a16="http://schemas.microsoft.com/office/drawing/2014/main" id="{02AB4DF9-6B6B-4DB1-AE16-AFE6A1866AD0}"/>
              </a:ext>
            </a:extLst>
          </p:cNvPr>
          <p:cNvSpPr>
            <a:spLocks xmlns:a="http://schemas.openxmlformats.org/drawingml/2006/main" noGrp="1"/>
          </p:cNvSpPr>
          <p:nvPr/>
        </p:nvSpPr>
        <p:spPr>
          <a:xfrm xmlns:a="http://schemas.openxmlformats.org/drawingml/2006/main">
            <a:off x="8191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1" name="">
            <a:extLst xmlns:a="http://schemas.openxmlformats.org/drawingml/2006/main">
              <a:ext uri="{FF2B5EF4-FFF2-40B4-BE49-F238E27FC236}">
                <a16:creationId xmlns:a16="http://schemas.microsoft.com/office/drawing/2014/main" id="{A5687FED-7008-47E1-872B-6F76F890E83B}"/>
              </a:ext>
            </a:extLst>
          </p:cNvPr>
          <p:cNvSpPr>
            <a:spLocks xmlns:a="http://schemas.openxmlformats.org/drawingml/2006/main" noGrp="1"/>
          </p:cNvSpPr>
          <p:nvPr/>
        </p:nvSpPr>
        <p:spPr>
          <a:xfrm xmlns:a="http://schemas.openxmlformats.org/drawingml/2006/main">
            <a:off x="4324350" y="224790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99B0D50A-38D5-4155-8DCF-7B0A22E5C489}"/>
              </a:ext>
            </a:extLst>
          </p:cNvPr>
          <p:cNvSpPr>
            <a:spLocks xmlns:a="http://schemas.openxmlformats.org/drawingml/2006/main" noGrp="1"/>
          </p:cNvSpPr>
          <p:nvPr/>
        </p:nvSpPr>
        <p:spPr>
          <a:xfrm xmlns:a="http://schemas.openxmlformats.org/drawingml/2006/main">
            <a:off x="451485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2E0944-AD44-4E41-A45D-1F2AF8D6DB71}"/>
              </a:ext>
            </a:extLst>
          </p:cNvPr>
          <p:cNvSpPr>
            <a:spLocks xmlns:a="http://schemas.openxmlformats.org/drawingml/2006/main" noGrp="1"/>
          </p:cNvSpPr>
          <p:nvPr/>
        </p:nvSpPr>
        <p:spPr>
          <a:xfrm xmlns:a="http://schemas.openxmlformats.org/drawingml/2006/main">
            <a:off x="457200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94948C21-57FF-4A24-95A8-5FCA88553DA2}"/>
              </a:ext>
            </a:extLst>
          </p:cNvPr>
          <p:cNvSpPr>
            <a:spLocks xmlns:a="http://schemas.openxmlformats.org/drawingml/2006/main" noGrp="1"/>
          </p:cNvSpPr>
          <p:nvPr/>
        </p:nvSpPr>
        <p:spPr>
          <a:xfrm xmlns:a="http://schemas.openxmlformats.org/drawingml/2006/main">
            <a:off x="506730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2</a:t>
            </a:r>
          </a:p>
        </p:txBody>
      </p:sp>
      <p:sp>
        <p:nvSpPr>
          <p:cNvPr id="15" name="">
            <a:extLst xmlns:a="http://schemas.openxmlformats.org/drawingml/2006/main">
              <a:ext uri="{FF2B5EF4-FFF2-40B4-BE49-F238E27FC236}">
                <a16:creationId xmlns:a16="http://schemas.microsoft.com/office/drawing/2014/main" id="{7749AD7A-F558-458D-9935-8115E3F0EE96}"/>
              </a:ext>
            </a:extLst>
          </p:cNvPr>
          <p:cNvSpPr>
            <a:spLocks xmlns:a="http://schemas.openxmlformats.org/drawingml/2006/main" noGrp="1"/>
          </p:cNvSpPr>
          <p:nvPr/>
        </p:nvSpPr>
        <p:spPr>
          <a:xfrm xmlns:a="http://schemas.openxmlformats.org/drawingml/2006/main">
            <a:off x="453390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16" name="">
            <a:extLst xmlns:a="http://schemas.openxmlformats.org/drawingml/2006/main">
              <a:ext uri="{FF2B5EF4-FFF2-40B4-BE49-F238E27FC236}">
                <a16:creationId xmlns:a16="http://schemas.microsoft.com/office/drawing/2014/main" id="{A91D56EB-1DB8-4207-87A9-190C7347C24C}"/>
              </a:ext>
            </a:extLst>
          </p:cNvPr>
          <p:cNvSpPr>
            <a:spLocks xmlns:a="http://schemas.openxmlformats.org/drawingml/2006/main" noGrp="1"/>
          </p:cNvSpPr>
          <p:nvPr/>
        </p:nvSpPr>
        <p:spPr>
          <a:xfrm xmlns:a="http://schemas.openxmlformats.org/drawingml/2006/main">
            <a:off x="80391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89239373-186B-4DB2-AFBB-7C680E0C3EEC}"/>
              </a:ext>
            </a:extLst>
          </p:cNvPr>
          <p:cNvSpPr>
            <a:spLocks xmlns:a="http://schemas.openxmlformats.org/drawingml/2006/main" noGrp="1"/>
          </p:cNvSpPr>
          <p:nvPr/>
        </p:nvSpPr>
        <p:spPr>
          <a:xfrm xmlns:a="http://schemas.openxmlformats.org/drawingml/2006/main">
            <a:off x="82296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E1CEA46-4BEB-4074-9DAC-BB41DD6EC50B}"/>
              </a:ext>
            </a:extLst>
          </p:cNvPr>
          <p:cNvSpPr>
            <a:spLocks xmlns:a="http://schemas.openxmlformats.org/drawingml/2006/main" noGrp="1"/>
          </p:cNvSpPr>
          <p:nvPr/>
        </p:nvSpPr>
        <p:spPr>
          <a:xfrm xmlns:a="http://schemas.openxmlformats.org/drawingml/2006/main">
            <a:off x="82867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2DF5449B-A70F-4775-951B-333F039592AD}"/>
              </a:ext>
            </a:extLst>
          </p:cNvPr>
          <p:cNvSpPr>
            <a:spLocks xmlns:a="http://schemas.openxmlformats.org/drawingml/2006/main" noGrp="1"/>
          </p:cNvSpPr>
          <p:nvPr/>
        </p:nvSpPr>
        <p:spPr>
          <a:xfrm xmlns:a="http://schemas.openxmlformats.org/drawingml/2006/main">
            <a:off x="8782050" y="246697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3</a:t>
            </a:r>
          </a:p>
        </p:txBody>
      </p:sp>
      <p:sp>
        <p:nvSpPr>
          <p:cNvPr id="20" name="">
            <a:extLst xmlns:a="http://schemas.openxmlformats.org/drawingml/2006/main">
              <a:ext uri="{FF2B5EF4-FFF2-40B4-BE49-F238E27FC236}">
                <a16:creationId xmlns:a16="http://schemas.microsoft.com/office/drawing/2014/main" id="{621A9E1D-1329-4337-82A1-ABE07E6B6467}"/>
              </a:ext>
            </a:extLst>
          </p:cNvPr>
          <p:cNvSpPr>
            <a:spLocks xmlns:a="http://schemas.openxmlformats.org/drawingml/2006/main" noGrp="1"/>
          </p:cNvSpPr>
          <p:nvPr/>
        </p:nvSpPr>
        <p:spPr>
          <a:xfrm xmlns:a="http://schemas.openxmlformats.org/drawingml/2006/main">
            <a:off x="8248650" y="299085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1" name="">
            <a:extLst xmlns:a="http://schemas.openxmlformats.org/drawingml/2006/main">
              <a:ext uri="{FF2B5EF4-FFF2-40B4-BE49-F238E27FC236}">
                <a16:creationId xmlns:a16="http://schemas.microsoft.com/office/drawing/2014/main" id="{C6D74F62-2554-4B43-8D48-F10C2864F9EB}"/>
              </a:ext>
            </a:extLst>
          </p:cNvPr>
          <p:cNvSpPr>
            <a:spLocks xmlns:a="http://schemas.openxmlformats.org/drawingml/2006/main" noGrp="1"/>
          </p:cNvSpPr>
          <p:nvPr/>
        </p:nvSpPr>
        <p:spPr>
          <a:xfrm xmlns:a="http://schemas.openxmlformats.org/drawingml/2006/main">
            <a:off x="6096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F30E923D-7A26-4D6F-ABE7-C3432F1C15BC}"/>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755A4F1-E9C5-43DA-BA1C-2C42B45153A3}"/>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3FBE1143-EC40-4AF5-B956-6CA59152B661}"/>
              </a:ext>
            </a:extLst>
          </p:cNvPr>
          <p:cNvSpPr>
            <a:spLocks xmlns:a="http://schemas.openxmlformats.org/drawingml/2006/main" noGrp="1"/>
          </p:cNvSpPr>
          <p:nvPr/>
        </p:nvSpPr>
        <p:spPr>
          <a:xfrm xmlns:a="http://schemas.openxmlformats.org/drawingml/2006/main">
            <a:off x="13525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4</a:t>
            </a:r>
          </a:p>
        </p:txBody>
      </p:sp>
      <p:sp>
        <p:nvSpPr>
          <p:cNvPr id="25" name="">
            <a:extLst xmlns:a="http://schemas.openxmlformats.org/drawingml/2006/main">
              <a:ext uri="{FF2B5EF4-FFF2-40B4-BE49-F238E27FC236}">
                <a16:creationId xmlns:a16="http://schemas.microsoft.com/office/drawing/2014/main" id="{821F8770-4E18-451D-B950-8D0AF002D6EA}"/>
              </a:ext>
            </a:extLst>
          </p:cNvPr>
          <p:cNvSpPr>
            <a:spLocks xmlns:a="http://schemas.openxmlformats.org/drawingml/2006/main" noGrp="1"/>
          </p:cNvSpPr>
          <p:nvPr/>
        </p:nvSpPr>
        <p:spPr>
          <a:xfrm xmlns:a="http://schemas.openxmlformats.org/drawingml/2006/main">
            <a:off x="8191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26" name="">
            <a:extLst xmlns:a="http://schemas.openxmlformats.org/drawingml/2006/main">
              <a:ext uri="{FF2B5EF4-FFF2-40B4-BE49-F238E27FC236}">
                <a16:creationId xmlns:a16="http://schemas.microsoft.com/office/drawing/2014/main" id="{80BBDB29-4F28-4EA3-9C0A-D65B28ACDFA6}"/>
              </a:ext>
            </a:extLst>
          </p:cNvPr>
          <p:cNvSpPr>
            <a:spLocks xmlns:a="http://schemas.openxmlformats.org/drawingml/2006/main" noGrp="1"/>
          </p:cNvSpPr>
          <p:nvPr/>
        </p:nvSpPr>
        <p:spPr>
          <a:xfrm xmlns:a="http://schemas.openxmlformats.org/drawingml/2006/main">
            <a:off x="4324350" y="401955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7" name="">
            <a:extLst xmlns:a="http://schemas.openxmlformats.org/drawingml/2006/main">
              <a:ext uri="{FF2B5EF4-FFF2-40B4-BE49-F238E27FC236}">
                <a16:creationId xmlns:a16="http://schemas.microsoft.com/office/drawing/2014/main" id="{872D363C-A0D3-4092-8EBA-C7496BB14FE2}"/>
              </a:ext>
            </a:extLst>
          </p:cNvPr>
          <p:cNvSpPr>
            <a:spLocks xmlns:a="http://schemas.openxmlformats.org/drawingml/2006/main" noGrp="1"/>
          </p:cNvSpPr>
          <p:nvPr/>
        </p:nvSpPr>
        <p:spPr>
          <a:xfrm xmlns:a="http://schemas.openxmlformats.org/drawingml/2006/main">
            <a:off x="451485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031B6811-69A1-463C-9376-F7D538598803}"/>
              </a:ext>
            </a:extLst>
          </p:cNvPr>
          <p:cNvSpPr>
            <a:spLocks xmlns:a="http://schemas.openxmlformats.org/drawingml/2006/main" noGrp="1"/>
          </p:cNvSpPr>
          <p:nvPr/>
        </p:nvSpPr>
        <p:spPr>
          <a:xfrm xmlns:a="http://schemas.openxmlformats.org/drawingml/2006/main">
            <a:off x="457200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05</a:t>
            </a:r>
          </a:p>
        </p:txBody>
      </p:sp>
      <p:sp>
        <p:nvSpPr>
          <p:cNvPr id="29" name="">
            <a:extLst xmlns:a="http://schemas.openxmlformats.org/drawingml/2006/main">
              <a:ext uri="{FF2B5EF4-FFF2-40B4-BE49-F238E27FC236}">
                <a16:creationId xmlns:a16="http://schemas.microsoft.com/office/drawing/2014/main" id="{DBC4850B-5811-4605-AAE7-EF519AF2F65A}"/>
              </a:ext>
            </a:extLst>
          </p:cNvPr>
          <p:cNvSpPr>
            <a:spLocks xmlns:a="http://schemas.openxmlformats.org/drawingml/2006/main" noGrp="1"/>
          </p:cNvSpPr>
          <p:nvPr/>
        </p:nvSpPr>
        <p:spPr>
          <a:xfrm xmlns:a="http://schemas.openxmlformats.org/drawingml/2006/main">
            <a:off x="506730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5</a:t>
            </a:r>
          </a:p>
        </p:txBody>
      </p:sp>
      <p:sp>
        <p:nvSpPr>
          <p:cNvPr id="30" name="">
            <a:extLst xmlns:a="http://schemas.openxmlformats.org/drawingml/2006/main">
              <a:ext uri="{FF2B5EF4-FFF2-40B4-BE49-F238E27FC236}">
                <a16:creationId xmlns:a16="http://schemas.microsoft.com/office/drawing/2014/main" id="{F5409E60-53A9-420E-BA1D-B3616A8F7239}"/>
              </a:ext>
            </a:extLst>
          </p:cNvPr>
          <p:cNvSpPr>
            <a:spLocks xmlns:a="http://schemas.openxmlformats.org/drawingml/2006/main" noGrp="1"/>
          </p:cNvSpPr>
          <p:nvPr/>
        </p:nvSpPr>
        <p:spPr>
          <a:xfrm xmlns:a="http://schemas.openxmlformats.org/drawingml/2006/main">
            <a:off x="453390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1" name="">
            <a:extLst xmlns:a="http://schemas.openxmlformats.org/drawingml/2006/main">
              <a:ext uri="{FF2B5EF4-FFF2-40B4-BE49-F238E27FC236}">
                <a16:creationId xmlns:a16="http://schemas.microsoft.com/office/drawing/2014/main" id="{F177D1D8-620C-43CD-8614-4EFC224D5E18}"/>
              </a:ext>
            </a:extLst>
          </p:cNvPr>
          <p:cNvSpPr>
            <a:spLocks xmlns:a="http://schemas.openxmlformats.org/drawingml/2006/main" noGrp="1"/>
          </p:cNvSpPr>
          <p:nvPr/>
        </p:nvSpPr>
        <p:spPr>
          <a:xfrm xmlns:a="http://schemas.openxmlformats.org/drawingml/2006/main">
            <a:off x="80391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32" name="">
            <a:extLst xmlns:a="http://schemas.openxmlformats.org/drawingml/2006/main">
              <a:ext uri="{FF2B5EF4-FFF2-40B4-BE49-F238E27FC236}">
                <a16:creationId xmlns:a16="http://schemas.microsoft.com/office/drawing/2014/main" id="{343A5864-3DA1-470E-9476-EAD8646F1F7F}"/>
              </a:ext>
            </a:extLst>
          </p:cNvPr>
          <p:cNvSpPr>
            <a:spLocks xmlns:a="http://schemas.openxmlformats.org/drawingml/2006/main" noGrp="1"/>
          </p:cNvSpPr>
          <p:nvPr/>
        </p:nvSpPr>
        <p:spPr>
          <a:xfrm xmlns:a="http://schemas.openxmlformats.org/drawingml/2006/main">
            <a:off x="82296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BC4DC51-87F5-45A4-99CD-991BB44FDED0}"/>
              </a:ext>
            </a:extLst>
          </p:cNvPr>
          <p:cNvSpPr>
            <a:spLocks xmlns:a="http://schemas.openxmlformats.org/drawingml/2006/main" noGrp="1"/>
          </p:cNvSpPr>
          <p:nvPr/>
        </p:nvSpPr>
        <p:spPr>
          <a:xfrm xmlns:a="http://schemas.openxmlformats.org/drawingml/2006/main">
            <a:off x="82867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06</a:t>
            </a:r>
          </a:p>
        </p:txBody>
      </p:sp>
      <p:sp>
        <p:nvSpPr>
          <p:cNvPr id="34" name="">
            <a:extLst xmlns:a="http://schemas.openxmlformats.org/drawingml/2006/main">
              <a:ext uri="{FF2B5EF4-FFF2-40B4-BE49-F238E27FC236}">
                <a16:creationId xmlns:a16="http://schemas.microsoft.com/office/drawing/2014/main" id="{1BA54CB3-A326-449C-89DB-A47CB5FADB0F}"/>
              </a:ext>
            </a:extLst>
          </p:cNvPr>
          <p:cNvSpPr>
            <a:spLocks xmlns:a="http://schemas.openxmlformats.org/drawingml/2006/main" noGrp="1"/>
          </p:cNvSpPr>
          <p:nvPr/>
        </p:nvSpPr>
        <p:spPr>
          <a:xfrm xmlns:a="http://schemas.openxmlformats.org/drawingml/2006/main">
            <a:off x="8782050" y="42386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Roll 6</a:t>
            </a:r>
          </a:p>
        </p:txBody>
      </p:sp>
      <p:sp>
        <p:nvSpPr>
          <p:cNvPr id="35" name="">
            <a:extLst xmlns:a="http://schemas.openxmlformats.org/drawingml/2006/main">
              <a:ext uri="{FF2B5EF4-FFF2-40B4-BE49-F238E27FC236}">
                <a16:creationId xmlns:a16="http://schemas.microsoft.com/office/drawing/2014/main" id="{8C2431B1-589E-4DD1-A8EB-334EBF7F6193}"/>
              </a:ext>
            </a:extLst>
          </p:cNvPr>
          <p:cNvSpPr>
            <a:spLocks xmlns:a="http://schemas.openxmlformats.org/drawingml/2006/main" noGrp="1"/>
          </p:cNvSpPr>
          <p:nvPr/>
        </p:nvSpPr>
        <p:spPr>
          <a:xfrm xmlns:a="http://schemas.openxmlformats.org/drawingml/2006/main">
            <a:off x="8248650" y="4762500"/>
            <a:ext cx="3124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prompt]</a:t>
            </a:r>
          </a:p>
        </p:txBody>
      </p:sp>
      <p:sp>
        <p:nvSpPr>
          <p:cNvPr id="36" name="">
            <a:extLst xmlns:a="http://schemas.openxmlformats.org/drawingml/2006/main">
              <a:ext uri="{FF2B5EF4-FFF2-40B4-BE49-F238E27FC236}">
                <a16:creationId xmlns:a16="http://schemas.microsoft.com/office/drawing/2014/main" id="{09C77869-E45C-4BDC-858C-A5AB6052E32F}"/>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95CAB6F4-626A-4169-82ED-58DED70F19D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8" name="">
            <a:extLst xmlns:a="http://schemas.openxmlformats.org/drawingml/2006/main">
              <a:ext uri="{FF2B5EF4-FFF2-40B4-BE49-F238E27FC236}">
                <a16:creationId xmlns:a16="http://schemas.microsoft.com/office/drawing/2014/main" id="{FB4E337E-45DE-485A-9604-BDF1E68AE73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40" name="source-credit">
            <a:extLst xmlns:a="http://schemas.openxmlformats.org/drawingml/2006/main">
              <a:ext uri="{FF2B5EF4-FFF2-40B4-BE49-F238E27FC236}">
                <a16:creationId xmlns:a16="http://schemas.microsoft.com/office/drawing/2014/main" id="{758A6782-519E-4F50-8D3D-95CA35804A03}"/>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81570ed132ca402c"/>
              </a:rPr>
              <a:t>Shared dice-selection format; TNT classroom adaptation — original guidance</a:t>
            </a:r>
          </a:p>
        </p:txBody>
      </p:sp>
    </p:spTree>
    <p:extLst>
      <p:ext uri="{BB962C8B-B14F-4D97-AF65-F5344CB8AC3E}">
        <p14:creationId xmlns:p14="http://schemas.microsoft.com/office/powerpoint/2010/main" val="457488282"/>
      </p:ext>
    </p:extLst>
  </p:cSld>
</p:sld>
</file>

<file path=ppt/slides/slide13.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E5E2D46-3FD5-493B-A41E-DB4C9B83CEB4}"/>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450" b="1">
                <a:solidFill>
                  <a:srgbClr val="263C3A"/>
                </a:solidFill>
                <a:latin typeface="DejaVu Sans"/>
                <a:ea typeface="DejaVu Sans"/>
                <a:cs typeface="DejaVu Sans"/>
              </a:defRPr>
            </a:pPr>
            <a:r>
              <a:rPr sz="3450" b="1">
                <a:solidFill>
                  <a:srgbClr val="263C3A"/>
                </a:solidFill>
                <a:latin typeface="DejaVu Sans"/>
                <a:ea typeface="DejaVu Sans"/>
                <a:cs typeface="DejaVu Sans"/>
              </a:rPr>
              <a:t>Retrieval clock</a:t>
            </a:r>
          </a:p>
        </p:txBody>
      </p:sp>
      <p:sp>
        <p:nvSpPr>
          <p:cNvPr id="2" name="">
            <a:extLst xmlns:a="http://schemas.openxmlformats.org/drawingml/2006/main">
              <a:ext uri="{FF2B5EF4-FFF2-40B4-BE49-F238E27FC236}">
                <a16:creationId xmlns:a16="http://schemas.microsoft.com/office/drawing/2014/main" id="{CC3255F5-DA57-4E4E-91F0-C8179CFF104C}"/>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83EB5DE4-BBDF-40E1-9DC7-5361425F17A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0327410-57C3-42FA-8769-5C76EE6491F4}"/>
              </a:ext>
            </a:extLst>
          </p:cNvPr>
          <p:cNvSpPr>
            <a:spLocks xmlns:a="http://schemas.openxmlformats.org/drawingml/2006/main" noGrp="1"/>
          </p:cNvSpPr>
          <p:nvPr/>
        </p:nvSpPr>
        <p:spPr>
          <a:xfrm xmlns:a="http://schemas.openxmlformats.org/drawingml/2006/main">
            <a:off x="609600" y="1828800"/>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01  Recall from memory</a:t>
            </a:r>
          </a:p>
        </p:txBody>
      </p:sp>
      <p:sp>
        <p:nvSpPr>
          <p:cNvPr id="5" name="">
            <a:extLst xmlns:a="http://schemas.openxmlformats.org/drawingml/2006/main">
              <a:ext uri="{FF2B5EF4-FFF2-40B4-BE49-F238E27FC236}">
                <a16:creationId xmlns:a16="http://schemas.microsoft.com/office/drawing/2014/main" id="{A205EDBB-0532-41E1-9281-9A3822DD7CC8}"/>
              </a:ext>
            </a:extLst>
          </p:cNvPr>
          <p:cNvSpPr>
            <a:spLocks xmlns:a="http://schemas.openxmlformats.org/drawingml/2006/main" noGrp="1"/>
          </p:cNvSpPr>
          <p:nvPr/>
        </p:nvSpPr>
        <p:spPr>
          <a:xfrm xmlns:a="http://schemas.openxmlformats.org/drawingml/2006/main">
            <a:off x="6286500" y="1828800"/>
            <a:ext cx="504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02  Check and improve</a:t>
            </a:r>
          </a:p>
        </p:txBody>
      </p:sp>
      <p:sp>
        <p:nvSpPr>
          <p:cNvPr id="6" name="">
            <a:extLst xmlns:a="http://schemas.openxmlformats.org/drawingml/2006/main">
              <a:ext uri="{FF2B5EF4-FFF2-40B4-BE49-F238E27FC236}">
                <a16:creationId xmlns:a16="http://schemas.microsoft.com/office/drawing/2014/main" id="{5B3A5429-14F5-4157-91A4-C4DC13DF1DAD}"/>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A046E8DD-39F3-401A-82DC-37AF16D66C17}"/>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AF10D36-BD6F-40A2-8C25-2BFC639722F0}"/>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12D1D5C8-30D0-4D28-A354-C80AD33327AA}"/>
              </a:ext>
            </a:extLst>
          </p:cNvPr>
          <p:cNvSpPr>
            <a:spLocks xmlns:a="http://schemas.openxmlformats.org/drawingml/2006/main" noGrp="1"/>
          </p:cNvSpPr>
          <p:nvPr/>
        </p:nvSpPr>
        <p:spPr>
          <a:xfrm xmlns:a="http://schemas.openxmlformats.org/drawingml/2006/main">
            <a:off x="1352550"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12 to 3</a:t>
            </a:r>
          </a:p>
        </p:txBody>
      </p:sp>
      <p:sp>
        <p:nvSpPr>
          <p:cNvPr id="10" name="">
            <a:extLst xmlns:a="http://schemas.openxmlformats.org/drawingml/2006/main">
              <a:ext uri="{FF2B5EF4-FFF2-40B4-BE49-F238E27FC236}">
                <a16:creationId xmlns:a16="http://schemas.microsoft.com/office/drawing/2014/main" id="{D75FF059-867A-4EB9-86BB-9E65B5C7621D}"/>
              </a:ext>
            </a:extLst>
          </p:cNvPr>
          <p:cNvSpPr>
            <a:spLocks xmlns:a="http://schemas.openxmlformats.org/drawingml/2006/main" noGrp="1"/>
          </p:cNvSpPr>
          <p:nvPr/>
        </p:nvSpPr>
        <p:spPr>
          <a:xfrm xmlns:a="http://schemas.openxmlformats.org/drawingml/2006/main">
            <a:off x="819150"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11" name="">
            <a:extLst xmlns:a="http://schemas.openxmlformats.org/drawingml/2006/main">
              <a:ext uri="{FF2B5EF4-FFF2-40B4-BE49-F238E27FC236}">
                <a16:creationId xmlns:a16="http://schemas.microsoft.com/office/drawing/2014/main" id="{7A8EDA20-14BC-440E-A86E-45B7A6ED81AA}"/>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A8FF1F70-FB7A-417D-A80C-BC054883802D}"/>
              </a:ext>
            </a:extLst>
          </p:cNvPr>
          <p:cNvSpPr>
            <a:spLocks xmlns:a="http://schemas.openxmlformats.org/drawingml/2006/main" noGrp="1"/>
          </p:cNvSpPr>
          <p:nvPr/>
        </p:nvSpPr>
        <p:spPr>
          <a:xfrm xmlns:a="http://schemas.openxmlformats.org/drawingml/2006/main">
            <a:off x="6372225"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FA21EC88-88AD-4C70-8248-4AEB1AA688C9}"/>
              </a:ext>
            </a:extLst>
          </p:cNvPr>
          <p:cNvSpPr>
            <a:spLocks xmlns:a="http://schemas.openxmlformats.org/drawingml/2006/main" noGrp="1"/>
          </p:cNvSpPr>
          <p:nvPr/>
        </p:nvSpPr>
        <p:spPr>
          <a:xfrm xmlns:a="http://schemas.openxmlformats.org/drawingml/2006/main">
            <a:off x="6429375"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4EAEE917-7F97-498E-90A6-D6DF14F2EDA0}"/>
              </a:ext>
            </a:extLst>
          </p:cNvPr>
          <p:cNvSpPr>
            <a:spLocks xmlns:a="http://schemas.openxmlformats.org/drawingml/2006/main" noGrp="1"/>
          </p:cNvSpPr>
          <p:nvPr/>
        </p:nvSpPr>
        <p:spPr>
          <a:xfrm xmlns:a="http://schemas.openxmlformats.org/drawingml/2006/main">
            <a:off x="6924675" y="246697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3 to 6</a:t>
            </a:r>
          </a:p>
        </p:txBody>
      </p:sp>
      <p:sp>
        <p:nvSpPr>
          <p:cNvPr id="15" name="">
            <a:extLst xmlns:a="http://schemas.openxmlformats.org/drawingml/2006/main">
              <a:ext uri="{FF2B5EF4-FFF2-40B4-BE49-F238E27FC236}">
                <a16:creationId xmlns:a16="http://schemas.microsoft.com/office/drawing/2014/main" id="{74864E53-C57E-4D6D-90BC-F08AC207635C}"/>
              </a:ext>
            </a:extLst>
          </p:cNvPr>
          <p:cNvSpPr>
            <a:spLocks xmlns:a="http://schemas.openxmlformats.org/drawingml/2006/main" noGrp="1"/>
          </p:cNvSpPr>
          <p:nvPr/>
        </p:nvSpPr>
        <p:spPr>
          <a:xfrm xmlns:a="http://schemas.openxmlformats.org/drawingml/2006/main">
            <a:off x="6391275" y="299085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16" name="">
            <a:extLst xmlns:a="http://schemas.openxmlformats.org/drawingml/2006/main">
              <a:ext uri="{FF2B5EF4-FFF2-40B4-BE49-F238E27FC236}">
                <a16:creationId xmlns:a16="http://schemas.microsoft.com/office/drawing/2014/main" id="{E481A0BB-8231-4B40-BF07-1EFC4A082404}"/>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2F46849D-8AE5-4054-BA14-63FDAF66717D}"/>
              </a:ext>
            </a:extLst>
          </p:cNvPr>
          <p:cNvSpPr>
            <a:spLocks xmlns:a="http://schemas.openxmlformats.org/drawingml/2006/main" noGrp="1"/>
          </p:cNvSpPr>
          <p:nvPr/>
        </p:nvSpPr>
        <p:spPr>
          <a:xfrm xmlns:a="http://schemas.openxmlformats.org/drawingml/2006/main">
            <a:off x="800100"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DB217D4-DA6C-4F38-8C3D-C166F7CE988D}"/>
              </a:ext>
            </a:extLst>
          </p:cNvPr>
          <p:cNvSpPr>
            <a:spLocks xmlns:a="http://schemas.openxmlformats.org/drawingml/2006/main" noGrp="1"/>
          </p:cNvSpPr>
          <p:nvPr/>
        </p:nvSpPr>
        <p:spPr>
          <a:xfrm xmlns:a="http://schemas.openxmlformats.org/drawingml/2006/main">
            <a:off x="857250"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33443805-EADF-4074-9275-ED32E9A07A2B}"/>
              </a:ext>
            </a:extLst>
          </p:cNvPr>
          <p:cNvSpPr>
            <a:spLocks xmlns:a="http://schemas.openxmlformats.org/drawingml/2006/main" noGrp="1"/>
          </p:cNvSpPr>
          <p:nvPr/>
        </p:nvSpPr>
        <p:spPr>
          <a:xfrm xmlns:a="http://schemas.openxmlformats.org/drawingml/2006/main">
            <a:off x="1352550"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9 to 12</a:t>
            </a:r>
          </a:p>
        </p:txBody>
      </p:sp>
      <p:sp>
        <p:nvSpPr>
          <p:cNvPr id="20" name="">
            <a:extLst xmlns:a="http://schemas.openxmlformats.org/drawingml/2006/main">
              <a:ext uri="{FF2B5EF4-FFF2-40B4-BE49-F238E27FC236}">
                <a16:creationId xmlns:a16="http://schemas.microsoft.com/office/drawing/2014/main" id="{E0A4A44C-8A2D-48A5-8708-C9112CCD4632}"/>
              </a:ext>
            </a:extLst>
          </p:cNvPr>
          <p:cNvSpPr>
            <a:spLocks xmlns:a="http://schemas.openxmlformats.org/drawingml/2006/main" noGrp="1"/>
          </p:cNvSpPr>
          <p:nvPr/>
        </p:nvSpPr>
        <p:spPr>
          <a:xfrm xmlns:a="http://schemas.openxmlformats.org/drawingml/2006/main">
            <a:off x="819150"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21" name="">
            <a:extLst xmlns:a="http://schemas.openxmlformats.org/drawingml/2006/main">
              <a:ext uri="{FF2B5EF4-FFF2-40B4-BE49-F238E27FC236}">
                <a16:creationId xmlns:a16="http://schemas.microsoft.com/office/drawing/2014/main" id="{F0080714-CD00-4F1A-BF33-F315C9F9FA7A}"/>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7B0D967A-C2A5-4851-BE85-767EEC81FBC4}"/>
              </a:ext>
            </a:extLst>
          </p:cNvPr>
          <p:cNvSpPr>
            <a:spLocks xmlns:a="http://schemas.openxmlformats.org/drawingml/2006/main" noGrp="1"/>
          </p:cNvSpPr>
          <p:nvPr/>
        </p:nvSpPr>
        <p:spPr>
          <a:xfrm xmlns:a="http://schemas.openxmlformats.org/drawingml/2006/main">
            <a:off x="6372225" y="41910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F5C1864-CE5B-4039-9CE0-EC44E6D65BCA}"/>
              </a:ext>
            </a:extLst>
          </p:cNvPr>
          <p:cNvSpPr>
            <a:spLocks xmlns:a="http://schemas.openxmlformats.org/drawingml/2006/main" noGrp="1"/>
          </p:cNvSpPr>
          <p:nvPr/>
        </p:nvSpPr>
        <p:spPr>
          <a:xfrm xmlns:a="http://schemas.openxmlformats.org/drawingml/2006/main">
            <a:off x="6429375" y="42576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80DF3681-9381-4742-8DCD-A460AD071DC4}"/>
              </a:ext>
            </a:extLst>
          </p:cNvPr>
          <p:cNvSpPr>
            <a:spLocks xmlns:a="http://schemas.openxmlformats.org/drawingml/2006/main" noGrp="1"/>
          </p:cNvSpPr>
          <p:nvPr/>
        </p:nvSpPr>
        <p:spPr>
          <a:xfrm xmlns:a="http://schemas.openxmlformats.org/drawingml/2006/main">
            <a:off x="6924675" y="4238625"/>
            <a:ext cx="4467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6 to 9</a:t>
            </a:r>
          </a:p>
        </p:txBody>
      </p:sp>
      <p:sp>
        <p:nvSpPr>
          <p:cNvPr id="25" name="">
            <a:extLst xmlns:a="http://schemas.openxmlformats.org/drawingml/2006/main">
              <a:ext uri="{FF2B5EF4-FFF2-40B4-BE49-F238E27FC236}">
                <a16:creationId xmlns:a16="http://schemas.microsoft.com/office/drawing/2014/main" id="{7198D566-362F-463F-9EF7-5D4473C1866D}"/>
              </a:ext>
            </a:extLst>
          </p:cNvPr>
          <p:cNvSpPr>
            <a:spLocks xmlns:a="http://schemas.openxmlformats.org/drawingml/2006/main" noGrp="1"/>
          </p:cNvSpPr>
          <p:nvPr/>
        </p:nvSpPr>
        <p:spPr>
          <a:xfrm xmlns:a="http://schemas.openxmlformats.org/drawingml/2006/main">
            <a:off x="6391275" y="4762500"/>
            <a:ext cx="49815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[Your subtopic]</a:t>
            </a:r>
          </a:p>
        </p:txBody>
      </p:sp>
      <p:sp>
        <p:nvSpPr>
          <p:cNvPr id="26" name="">
            <a:extLst xmlns:a="http://schemas.openxmlformats.org/drawingml/2006/main">
              <a:ext uri="{FF2B5EF4-FFF2-40B4-BE49-F238E27FC236}">
                <a16:creationId xmlns:a16="http://schemas.microsoft.com/office/drawing/2014/main" id="{9175D66F-AC15-4A0B-8E0D-CF91AA3527B5}"/>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67BAA63-1BE5-4E4D-ABED-34BEF7B48F7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8" name="">
            <a:extLst xmlns:a="http://schemas.openxmlformats.org/drawingml/2006/main">
              <a:ext uri="{FF2B5EF4-FFF2-40B4-BE49-F238E27FC236}">
                <a16:creationId xmlns:a16="http://schemas.microsoft.com/office/drawing/2014/main" id="{105897F6-A5F1-4425-88D1-C1514062598B}"/>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30" name="source-credit">
            <a:extLst xmlns:a="http://schemas.openxmlformats.org/drawingml/2006/main">
              <a:ext uri="{FF2B5EF4-FFF2-40B4-BE49-F238E27FC236}">
                <a16:creationId xmlns:a16="http://schemas.microsoft.com/office/drawing/2014/main" id="{5F71A94A-7967-4E3A-99AC-55441320D715}"/>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cb115a9a4bb54ebd"/>
              </a:rPr>
              <a:t>Becky Russell — revision clock; acknowledged by Kate Jones — original guidance</a:t>
            </a:r>
          </a:p>
        </p:txBody>
      </p:sp>
    </p:spTree>
    <p:extLst>
      <p:ext uri="{BB962C8B-B14F-4D97-AF65-F5344CB8AC3E}">
        <p14:creationId xmlns:p14="http://schemas.microsoft.com/office/powerpoint/2010/main" val="1561557329"/>
      </p:ext>
    </p:extLst>
  </p:cSld>
</p:sld>
</file>

<file path=ppt/slides/slide14.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B5C0B3F-E802-4608-B645-D56DA19AB0E6}"/>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Think–Pair–Share</a:t>
            </a:r>
          </a:p>
        </p:txBody>
      </p:sp>
      <p:sp>
        <p:nvSpPr>
          <p:cNvPr id="2" name="">
            <a:extLst xmlns:a="http://schemas.openxmlformats.org/drawingml/2006/main">
              <a:ext uri="{FF2B5EF4-FFF2-40B4-BE49-F238E27FC236}">
                <a16:creationId xmlns:a16="http://schemas.microsoft.com/office/drawing/2014/main" id="{1FB69403-F45B-4956-BBF2-4377C2C5886A}"/>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030DDCB-F9FE-4B87-91F3-2990B1AF40A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B14468E-08BB-4347-B89B-2755FE03C14B}"/>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621B76DB-E8C3-43C0-9A07-9CBD9EBB25D5}"/>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A010EDCD-7E71-41BD-995F-7D5CA1424CBC}"/>
              </a:ext>
            </a:extLst>
          </p:cNvPr>
          <p:cNvSpPr>
            <a:spLocks xmlns:a="http://schemas.openxmlformats.org/drawingml/2006/main" noGrp="1"/>
          </p:cNvSpPr>
          <p:nvPr/>
        </p:nvSpPr>
        <p:spPr>
          <a:xfrm xmlns:a="http://schemas.openxmlformats.org/drawingml/2006/main">
            <a:off x="6096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6D81048-2752-414C-8CAB-6713A4BA3EB2}"/>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first recall</a:t>
            </a:r>
          </a:p>
        </p:txBody>
      </p:sp>
      <p:sp>
        <p:nvSpPr>
          <p:cNvPr id="8" name="">
            <a:extLst xmlns:a="http://schemas.openxmlformats.org/drawingml/2006/main">
              <a:ext uri="{FF2B5EF4-FFF2-40B4-BE49-F238E27FC236}">
                <a16:creationId xmlns:a16="http://schemas.microsoft.com/office/drawing/2014/main" id="{8E7995E3-76BB-4228-92FE-49369FC516CF}"/>
              </a:ext>
            </a:extLst>
          </p:cNvPr>
          <p:cNvSpPr>
            <a:spLocks xmlns:a="http://schemas.openxmlformats.org/drawingml/2006/main" noGrp="1"/>
          </p:cNvSpPr>
          <p:nvPr/>
        </p:nvSpPr>
        <p:spPr>
          <a:xfrm xmlns:a="http://schemas.openxmlformats.org/drawingml/2006/main">
            <a:off x="7810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9BC9D418-C0B6-45E8-BE68-A10923A632BF}"/>
              </a:ext>
            </a:extLst>
          </p:cNvPr>
          <p:cNvSpPr>
            <a:spLocks xmlns:a="http://schemas.openxmlformats.org/drawingml/2006/main" noGrp="1"/>
          </p:cNvSpPr>
          <p:nvPr/>
        </p:nvSpPr>
        <p:spPr>
          <a:xfrm xmlns:a="http://schemas.openxmlformats.org/drawingml/2006/main">
            <a:off x="4324350" y="2247900"/>
            <a:ext cx="3543300"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85C66F1E-83A4-4E3C-B367-F9E72328F49A}"/>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Partner discussion</a:t>
            </a:r>
          </a:p>
        </p:txBody>
      </p:sp>
      <p:sp>
        <p:nvSpPr>
          <p:cNvPr id="11" name="">
            <a:extLst xmlns:a="http://schemas.openxmlformats.org/drawingml/2006/main">
              <a:ext uri="{FF2B5EF4-FFF2-40B4-BE49-F238E27FC236}">
                <a16:creationId xmlns:a16="http://schemas.microsoft.com/office/drawing/2014/main" id="{F6C6F5AF-4EF8-49C4-89A0-EA4298C15E63}"/>
              </a:ext>
            </a:extLst>
          </p:cNvPr>
          <p:cNvSpPr>
            <a:spLocks xmlns:a="http://schemas.openxmlformats.org/drawingml/2006/main" noGrp="1"/>
          </p:cNvSpPr>
          <p:nvPr/>
        </p:nvSpPr>
        <p:spPr>
          <a:xfrm xmlns:a="http://schemas.openxmlformats.org/drawingml/2006/main">
            <a:off x="449580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B9E44745-1598-47AD-B251-5093E8A4EBAC}"/>
              </a:ext>
            </a:extLst>
          </p:cNvPr>
          <p:cNvSpPr>
            <a:spLocks xmlns:a="http://schemas.openxmlformats.org/drawingml/2006/main" noGrp="1"/>
          </p:cNvSpPr>
          <p:nvPr/>
        </p:nvSpPr>
        <p:spPr>
          <a:xfrm xmlns:a="http://schemas.openxmlformats.org/drawingml/2006/main">
            <a:off x="80391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FC654039-9071-47DF-89FD-112B5C7CB35A}"/>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improved answer</a:t>
            </a:r>
          </a:p>
        </p:txBody>
      </p:sp>
      <p:sp>
        <p:nvSpPr>
          <p:cNvPr id="14" name="">
            <a:extLst xmlns:a="http://schemas.openxmlformats.org/drawingml/2006/main">
              <a:ext uri="{FF2B5EF4-FFF2-40B4-BE49-F238E27FC236}">
                <a16:creationId xmlns:a16="http://schemas.microsoft.com/office/drawing/2014/main" id="{9591DE7F-A513-40BE-B949-15F2E68BBCAF}"/>
              </a:ext>
            </a:extLst>
          </p:cNvPr>
          <p:cNvSpPr>
            <a:spLocks xmlns:a="http://schemas.openxmlformats.org/drawingml/2006/main" noGrp="1"/>
          </p:cNvSpPr>
          <p:nvPr/>
        </p:nvSpPr>
        <p:spPr>
          <a:xfrm xmlns:a="http://schemas.openxmlformats.org/drawingml/2006/main">
            <a:off x="82105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05293632-4230-4AB4-A233-F5BB4CB1C778}"/>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4111F41-4343-4DDB-BD29-146A87B144DC}"/>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7" name="">
            <a:extLst xmlns:a="http://schemas.openxmlformats.org/drawingml/2006/main">
              <a:ext uri="{FF2B5EF4-FFF2-40B4-BE49-F238E27FC236}">
                <a16:creationId xmlns:a16="http://schemas.microsoft.com/office/drawing/2014/main" id="{F093E622-0AC9-408B-8806-19C704D579C9}"/>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9" name="source-credit">
            <a:extLst xmlns:a="http://schemas.openxmlformats.org/drawingml/2006/main">
              <a:ext uri="{FF2B5EF4-FFF2-40B4-BE49-F238E27FC236}">
                <a16:creationId xmlns:a16="http://schemas.microsoft.com/office/drawing/2014/main" id="{98BA344E-C595-4295-9414-518BBDF4632E}"/>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4d13751090d844f3"/>
              </a:rPr>
              <a:t>Pooja K. Agarwal — retrieval adaptation of Think–Pair–Share — original guidance</a:t>
            </a:r>
          </a:p>
        </p:txBody>
      </p:sp>
    </p:spTree>
    <p:extLst>
      <p:ext uri="{BB962C8B-B14F-4D97-AF65-F5344CB8AC3E}">
        <p14:creationId xmlns:p14="http://schemas.microsoft.com/office/powerpoint/2010/main" val="110509185"/>
      </p:ext>
    </p:extLst>
  </p:cSld>
</p:sld>
</file>

<file path=ppt/slides/slide15.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E19A201-AE99-4485-8FE4-EBB388234C46}"/>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Connection notebook</a:t>
            </a:r>
          </a:p>
        </p:txBody>
      </p:sp>
      <p:sp>
        <p:nvSpPr>
          <p:cNvPr id="2" name="">
            <a:extLst xmlns:a="http://schemas.openxmlformats.org/drawingml/2006/main">
              <a:ext uri="{FF2B5EF4-FFF2-40B4-BE49-F238E27FC236}">
                <a16:creationId xmlns:a16="http://schemas.microsoft.com/office/drawing/2014/main" id="{ADF57514-1190-4C01-9A72-BBEE4F6BBBB3}"/>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B202C8EA-6B10-4574-BC88-307D8AC647A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963C24B-6684-41A9-8142-4E24D4E2B3D9}"/>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A7C084D0-81B0-417D-80FF-7E8C9537C86A}"/>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6FB4458F-FA82-4B39-899E-88A7307D11D0}"/>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B1989F7C-F128-46BB-AF3E-9C79EB805901}"/>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First idea</a:t>
            </a:r>
          </a:p>
        </p:txBody>
      </p:sp>
      <p:sp>
        <p:nvSpPr>
          <p:cNvPr id="8" name="">
            <a:extLst xmlns:a="http://schemas.openxmlformats.org/drawingml/2006/main">
              <a:ext uri="{FF2B5EF4-FFF2-40B4-BE49-F238E27FC236}">
                <a16:creationId xmlns:a16="http://schemas.microsoft.com/office/drawing/2014/main" id="{A1797075-56AB-40AC-B7AF-4AD36AC65073}"/>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9A47C4E9-2BD1-4F14-BE44-C2623003DB4C}"/>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574A571D-D427-4C5D-8C83-7A47E217F760}"/>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Second idea</a:t>
            </a:r>
          </a:p>
        </p:txBody>
      </p:sp>
      <p:sp>
        <p:nvSpPr>
          <p:cNvPr id="11" name="">
            <a:extLst xmlns:a="http://schemas.openxmlformats.org/drawingml/2006/main">
              <a:ext uri="{FF2B5EF4-FFF2-40B4-BE49-F238E27FC236}">
                <a16:creationId xmlns:a16="http://schemas.microsoft.com/office/drawing/2014/main" id="{4BBE536D-9454-45AE-BE10-2B7ED5900DF0}"/>
              </a:ext>
            </a:extLst>
          </p:cNvPr>
          <p:cNvSpPr>
            <a:spLocks xmlns:a="http://schemas.openxmlformats.org/drawingml/2006/main" noGrp="1"/>
          </p:cNvSpPr>
          <p:nvPr/>
        </p:nvSpPr>
        <p:spPr>
          <a:xfrm xmlns:a="http://schemas.openxmlformats.org/drawingml/2006/main">
            <a:off x="6353175"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C3958AAB-5DEE-4B1E-A4C0-C037150B5CFD}"/>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0200067F-7A5A-41B2-B8F2-791885707C5F}"/>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How they connect</a:t>
            </a:r>
          </a:p>
        </p:txBody>
      </p:sp>
      <p:sp>
        <p:nvSpPr>
          <p:cNvPr id="14" name="">
            <a:extLst xmlns:a="http://schemas.openxmlformats.org/drawingml/2006/main">
              <a:ext uri="{FF2B5EF4-FFF2-40B4-BE49-F238E27FC236}">
                <a16:creationId xmlns:a16="http://schemas.microsoft.com/office/drawing/2014/main" id="{ADA3BAA8-E3DD-4DCC-8F90-4193D202CB4E}"/>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DEFFFF62-3EDC-49A7-8254-1BFF5F7246F6}"/>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2DB8C2A4-841D-481B-8B1A-8486CEFCB518}"/>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Example or explanation</a:t>
            </a:r>
          </a:p>
        </p:txBody>
      </p:sp>
      <p:sp>
        <p:nvSpPr>
          <p:cNvPr id="17" name="">
            <a:extLst xmlns:a="http://schemas.openxmlformats.org/drawingml/2006/main">
              <a:ext uri="{FF2B5EF4-FFF2-40B4-BE49-F238E27FC236}">
                <a16:creationId xmlns:a16="http://schemas.microsoft.com/office/drawing/2014/main" id="{B64FF38B-5CA5-4F8D-8DC9-692933D97E99}"/>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B23CD263-EC14-4FA2-BD83-BFE8C90E20F5}"/>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5D36903-4848-4720-BBD6-E2A7CDCA963A}"/>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1DFC427B-ED1B-4027-9838-808CC1BF5D36}"/>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8B53A678-9B7F-4741-95BE-F821B13BADD2}"/>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08c16d8201b0499b"/>
              </a:rPr>
              <a:t>James M. Lang — Connection Notebooks; explained by Pooja K. Agarwal — original guidance</a:t>
            </a:r>
          </a:p>
        </p:txBody>
      </p:sp>
    </p:spTree>
    <p:extLst>
      <p:ext uri="{BB962C8B-B14F-4D97-AF65-F5344CB8AC3E}">
        <p14:creationId xmlns:p14="http://schemas.microsoft.com/office/powerpoint/2010/main" val="621310382"/>
      </p:ext>
    </p:extLst>
  </p:cSld>
</p:sld>
</file>

<file path=ppt/slides/slide16.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5B24B68-E3B7-426B-814B-0DB4A1524C3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Low-stakes mini-quiz</a:t>
            </a:r>
          </a:p>
        </p:txBody>
      </p:sp>
      <p:sp>
        <p:nvSpPr>
          <p:cNvPr id="2" name="">
            <a:extLst xmlns:a="http://schemas.openxmlformats.org/drawingml/2006/main">
              <a:ext uri="{FF2B5EF4-FFF2-40B4-BE49-F238E27FC236}">
                <a16:creationId xmlns:a16="http://schemas.microsoft.com/office/drawing/2014/main" id="{16AEAB6E-DCFC-4B3D-A0A0-309E40F573BA}"/>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8FA84DFE-6B21-4ADB-85DB-6E4B9EA9867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ACE51C-E319-4017-B093-F53139ED982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757B4D5B-2BA2-4D27-9E1D-9DF0FD6E303A}"/>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79AAAAB5-C5E4-4F88-8E99-74B94D92979A}"/>
              </a:ext>
            </a:extLst>
          </p:cNvPr>
          <p:cNvSpPr>
            <a:spLocks xmlns:a="http://schemas.openxmlformats.org/drawingml/2006/main" noGrp="1"/>
          </p:cNvSpPr>
          <p:nvPr/>
        </p:nvSpPr>
        <p:spPr>
          <a:xfrm xmlns:a="http://schemas.openxmlformats.org/drawingml/2006/main">
            <a:off x="609600" y="2247900"/>
            <a:ext cx="10972800" cy="71437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93F0577-2266-43DD-888B-56F5C3FBB95B}"/>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1  [Your question]</a:t>
            </a:r>
          </a:p>
        </p:txBody>
      </p:sp>
      <p:sp>
        <p:nvSpPr>
          <p:cNvPr id="8" name="">
            <a:extLst xmlns:a="http://schemas.openxmlformats.org/drawingml/2006/main">
              <a:ext uri="{FF2B5EF4-FFF2-40B4-BE49-F238E27FC236}">
                <a16:creationId xmlns:a16="http://schemas.microsoft.com/office/drawing/2014/main" id="{FAB7F26A-5E87-4BB2-953D-5C5FC64AC838}"/>
              </a:ext>
            </a:extLst>
          </p:cNvPr>
          <p:cNvSpPr>
            <a:spLocks xmlns:a="http://schemas.openxmlformats.org/drawingml/2006/main" noGrp="1"/>
          </p:cNvSpPr>
          <p:nvPr/>
        </p:nvSpPr>
        <p:spPr>
          <a:xfrm xmlns:a="http://schemas.openxmlformats.org/drawingml/2006/main">
            <a:off x="609600" y="3133725"/>
            <a:ext cx="10972800" cy="71437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9D2197D2-BC73-490F-910B-0D3C03833A09}"/>
              </a:ext>
            </a:extLst>
          </p:cNvPr>
          <p:cNvSpPr>
            <a:spLocks xmlns:a="http://schemas.openxmlformats.org/drawingml/2006/main" noGrp="1"/>
          </p:cNvSpPr>
          <p:nvPr/>
        </p:nvSpPr>
        <p:spPr>
          <a:xfrm xmlns:a="http://schemas.openxmlformats.org/drawingml/2006/main">
            <a:off x="781050" y="326707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2  [Your question]</a:t>
            </a:r>
          </a:p>
        </p:txBody>
      </p:sp>
      <p:sp>
        <p:nvSpPr>
          <p:cNvPr id="10" name="">
            <a:extLst xmlns:a="http://schemas.openxmlformats.org/drawingml/2006/main">
              <a:ext uri="{FF2B5EF4-FFF2-40B4-BE49-F238E27FC236}">
                <a16:creationId xmlns:a16="http://schemas.microsoft.com/office/drawing/2014/main" id="{70CDC65A-C39F-4DBD-8A57-7C109A19E25C}"/>
              </a:ext>
            </a:extLst>
          </p:cNvPr>
          <p:cNvSpPr>
            <a:spLocks xmlns:a="http://schemas.openxmlformats.org/drawingml/2006/main" noGrp="1"/>
          </p:cNvSpPr>
          <p:nvPr/>
        </p:nvSpPr>
        <p:spPr>
          <a:xfrm xmlns:a="http://schemas.openxmlformats.org/drawingml/2006/main">
            <a:off x="609600" y="4019550"/>
            <a:ext cx="10972800" cy="714375"/>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5B1A46CA-5D7E-408E-A98B-7108FEC45AA9}"/>
              </a:ext>
            </a:extLst>
          </p:cNvPr>
          <p:cNvSpPr>
            <a:spLocks xmlns:a="http://schemas.openxmlformats.org/drawingml/2006/main" noGrp="1"/>
          </p:cNvSpPr>
          <p:nvPr/>
        </p:nvSpPr>
        <p:spPr>
          <a:xfrm xmlns:a="http://schemas.openxmlformats.org/drawingml/2006/main">
            <a:off x="781050" y="415290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3  [Your question]</a:t>
            </a:r>
          </a:p>
        </p:txBody>
      </p:sp>
      <p:sp>
        <p:nvSpPr>
          <p:cNvPr id="12" name="">
            <a:extLst xmlns:a="http://schemas.openxmlformats.org/drawingml/2006/main">
              <a:ext uri="{FF2B5EF4-FFF2-40B4-BE49-F238E27FC236}">
                <a16:creationId xmlns:a16="http://schemas.microsoft.com/office/drawing/2014/main" id="{0362C244-4B5F-48F0-8A25-C1B5839F6ABC}"/>
              </a:ext>
            </a:extLst>
          </p:cNvPr>
          <p:cNvSpPr>
            <a:spLocks xmlns:a="http://schemas.openxmlformats.org/drawingml/2006/main" noGrp="1"/>
          </p:cNvSpPr>
          <p:nvPr/>
        </p:nvSpPr>
        <p:spPr>
          <a:xfrm xmlns:a="http://schemas.openxmlformats.org/drawingml/2006/main">
            <a:off x="609600" y="4905375"/>
            <a:ext cx="10972800" cy="714375"/>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5B26EF27-CAF5-491C-8250-79E59070D9D9}"/>
              </a:ext>
            </a:extLst>
          </p:cNvPr>
          <p:cNvSpPr>
            <a:spLocks xmlns:a="http://schemas.openxmlformats.org/drawingml/2006/main" noGrp="1"/>
          </p:cNvSpPr>
          <p:nvPr/>
        </p:nvSpPr>
        <p:spPr>
          <a:xfrm xmlns:a="http://schemas.openxmlformats.org/drawingml/2006/main">
            <a:off x="781050" y="5038725"/>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4  [Your question]</a:t>
            </a:r>
          </a:p>
        </p:txBody>
      </p:sp>
      <p:sp>
        <p:nvSpPr>
          <p:cNvPr id="14" name="">
            <a:extLst xmlns:a="http://schemas.openxmlformats.org/drawingml/2006/main">
              <a:ext uri="{FF2B5EF4-FFF2-40B4-BE49-F238E27FC236}">
                <a16:creationId xmlns:a16="http://schemas.microsoft.com/office/drawing/2014/main" id="{005DAAD8-8E68-4DA3-8F8F-F721D007FB2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3771239-263A-4394-8342-D39BE956F460}"/>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6" name="">
            <a:extLst xmlns:a="http://schemas.openxmlformats.org/drawingml/2006/main">
              <a:ext uri="{FF2B5EF4-FFF2-40B4-BE49-F238E27FC236}">
                <a16:creationId xmlns:a16="http://schemas.microsoft.com/office/drawing/2014/main" id="{C19827B5-2D44-4344-9106-F35F8677DCE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8" name="source-credit">
            <a:extLst xmlns:a="http://schemas.openxmlformats.org/drawingml/2006/main">
              <a:ext uri="{FF2B5EF4-FFF2-40B4-BE49-F238E27FC236}">
                <a16:creationId xmlns:a16="http://schemas.microsoft.com/office/drawing/2014/main" id="{D7C172D2-95CA-40EB-89CF-201B440E1905}"/>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1011ded9152f4392"/>
              </a:rPr>
              <a:t>Pooja K. Agarwal &amp; Patrice M. Bain — mini-quiz classroom guidance — original guidance</a:t>
            </a:r>
          </a:p>
        </p:txBody>
      </p:sp>
    </p:spTree>
    <p:extLst>
      <p:ext uri="{BB962C8B-B14F-4D97-AF65-F5344CB8AC3E}">
        <p14:creationId xmlns:p14="http://schemas.microsoft.com/office/powerpoint/2010/main" val="1489010941"/>
      </p:ext>
    </p:extLst>
  </p:cSld>
</p:sld>
</file>

<file path=ppt/slides/slide1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8ACDEEB-20A3-4C57-B8F6-7E97D2CA1E3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Retrieval relay</a:t>
            </a:r>
          </a:p>
        </p:txBody>
      </p:sp>
      <p:sp>
        <p:nvSpPr>
          <p:cNvPr id="2" name="">
            <a:extLst xmlns:a="http://schemas.openxmlformats.org/drawingml/2006/main">
              <a:ext uri="{FF2B5EF4-FFF2-40B4-BE49-F238E27FC236}">
                <a16:creationId xmlns:a16="http://schemas.microsoft.com/office/drawing/2014/main" id="{8228406C-9711-4F1D-9F59-72A6CE9C8A4B}"/>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4089EFB5-19E8-47E0-9189-2C2298C6E4F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18F956-9FD6-4727-BD75-22C79AAC6F6F}"/>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112C8509-4F95-430B-B4AB-FDC7A3731F20}"/>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D4E47E26-CC7B-42A9-86C1-A241857F502E}"/>
              </a:ext>
            </a:extLst>
          </p:cNvPr>
          <p:cNvSpPr>
            <a:spLocks xmlns:a="http://schemas.openxmlformats.org/drawingml/2006/main" noGrp="1"/>
          </p:cNvSpPr>
          <p:nvPr/>
        </p:nvSpPr>
        <p:spPr>
          <a:xfrm xmlns:a="http://schemas.openxmlformats.org/drawingml/2006/main">
            <a:off x="609600" y="2247900"/>
            <a:ext cx="5400675"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1458C04-62B0-4B98-AEE3-DFBE3418C191}"/>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1  [Your prompt]</a:t>
            </a:r>
          </a:p>
        </p:txBody>
      </p:sp>
      <p:sp>
        <p:nvSpPr>
          <p:cNvPr id="8" name="">
            <a:extLst xmlns:a="http://schemas.openxmlformats.org/drawingml/2006/main">
              <a:ext uri="{FF2B5EF4-FFF2-40B4-BE49-F238E27FC236}">
                <a16:creationId xmlns:a16="http://schemas.microsoft.com/office/drawing/2014/main" id="{A2F88C7E-3383-4FB4-B9FA-20F2FC4A3F48}"/>
              </a:ext>
            </a:extLst>
          </p:cNvPr>
          <p:cNvSpPr>
            <a:spLocks xmlns:a="http://schemas.openxmlformats.org/drawingml/2006/main" noGrp="1"/>
          </p:cNvSpPr>
          <p:nvPr/>
        </p:nvSpPr>
        <p:spPr>
          <a:xfrm xmlns:a="http://schemas.openxmlformats.org/drawingml/2006/main">
            <a:off x="6181725" y="2247900"/>
            <a:ext cx="5400675"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2C3D7EB2-C11A-47CD-BBB8-0E03B884888C}"/>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2  [Your prompt]</a:t>
            </a:r>
          </a:p>
        </p:txBody>
      </p:sp>
      <p:sp>
        <p:nvSpPr>
          <p:cNvPr id="10" name="">
            <a:extLst xmlns:a="http://schemas.openxmlformats.org/drawingml/2006/main">
              <a:ext uri="{FF2B5EF4-FFF2-40B4-BE49-F238E27FC236}">
                <a16:creationId xmlns:a16="http://schemas.microsoft.com/office/drawing/2014/main" id="{E9FE25DE-C679-4010-88AE-951697258C06}"/>
              </a:ext>
            </a:extLst>
          </p:cNvPr>
          <p:cNvSpPr>
            <a:spLocks xmlns:a="http://schemas.openxmlformats.org/drawingml/2006/main" noGrp="1"/>
          </p:cNvSpPr>
          <p:nvPr/>
        </p:nvSpPr>
        <p:spPr>
          <a:xfrm xmlns:a="http://schemas.openxmlformats.org/drawingml/2006/main">
            <a:off x="609600" y="3429000"/>
            <a:ext cx="5400675"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9EBA479B-03FA-43BD-905A-C51684F8F92D}"/>
              </a:ext>
            </a:extLst>
          </p:cNvPr>
          <p:cNvSpPr>
            <a:spLocks xmlns:a="http://schemas.openxmlformats.org/drawingml/2006/main" noGrp="1"/>
          </p:cNvSpPr>
          <p:nvPr/>
        </p:nvSpPr>
        <p:spPr>
          <a:xfrm xmlns:a="http://schemas.openxmlformats.org/drawingml/2006/main">
            <a:off x="781050" y="35623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3  [Your prompt]</a:t>
            </a:r>
          </a:p>
        </p:txBody>
      </p:sp>
      <p:sp>
        <p:nvSpPr>
          <p:cNvPr id="12" name="">
            <a:extLst xmlns:a="http://schemas.openxmlformats.org/drawingml/2006/main">
              <a:ext uri="{FF2B5EF4-FFF2-40B4-BE49-F238E27FC236}">
                <a16:creationId xmlns:a16="http://schemas.microsoft.com/office/drawing/2014/main" id="{50C8A26E-F865-400E-83C5-9561A7F1B4CB}"/>
              </a:ext>
            </a:extLst>
          </p:cNvPr>
          <p:cNvSpPr>
            <a:spLocks xmlns:a="http://schemas.openxmlformats.org/drawingml/2006/main" noGrp="1"/>
          </p:cNvSpPr>
          <p:nvPr/>
        </p:nvSpPr>
        <p:spPr>
          <a:xfrm xmlns:a="http://schemas.openxmlformats.org/drawingml/2006/main">
            <a:off x="6181725" y="3429000"/>
            <a:ext cx="5400675"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52D6E15E-62B8-4089-A6B5-11EA078894EF}"/>
              </a:ext>
            </a:extLst>
          </p:cNvPr>
          <p:cNvSpPr>
            <a:spLocks xmlns:a="http://schemas.openxmlformats.org/drawingml/2006/main" noGrp="1"/>
          </p:cNvSpPr>
          <p:nvPr/>
        </p:nvSpPr>
        <p:spPr>
          <a:xfrm xmlns:a="http://schemas.openxmlformats.org/drawingml/2006/main">
            <a:off x="6353175" y="35623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4  [Your prompt]</a:t>
            </a:r>
          </a:p>
        </p:txBody>
      </p:sp>
      <p:sp>
        <p:nvSpPr>
          <p:cNvPr id="14" name="">
            <a:extLst xmlns:a="http://schemas.openxmlformats.org/drawingml/2006/main">
              <a:ext uri="{FF2B5EF4-FFF2-40B4-BE49-F238E27FC236}">
                <a16:creationId xmlns:a16="http://schemas.microsoft.com/office/drawing/2014/main" id="{AC5306E4-5701-49BC-AC12-A53C4E7CDA06}"/>
              </a:ext>
            </a:extLst>
          </p:cNvPr>
          <p:cNvSpPr>
            <a:spLocks xmlns:a="http://schemas.openxmlformats.org/drawingml/2006/main" noGrp="1"/>
          </p:cNvSpPr>
          <p:nvPr/>
        </p:nvSpPr>
        <p:spPr>
          <a:xfrm xmlns:a="http://schemas.openxmlformats.org/drawingml/2006/main">
            <a:off x="609600" y="4610100"/>
            <a:ext cx="5400675"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821F1F44-2037-434D-B66A-CB64064127B6}"/>
              </a:ext>
            </a:extLst>
          </p:cNvPr>
          <p:cNvSpPr>
            <a:spLocks xmlns:a="http://schemas.openxmlformats.org/drawingml/2006/main" noGrp="1"/>
          </p:cNvSpPr>
          <p:nvPr/>
        </p:nvSpPr>
        <p:spPr>
          <a:xfrm xmlns:a="http://schemas.openxmlformats.org/drawingml/2006/main">
            <a:off x="781050" y="47434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5  [Your prompt]</a:t>
            </a:r>
          </a:p>
        </p:txBody>
      </p:sp>
      <p:sp>
        <p:nvSpPr>
          <p:cNvPr id="16" name="">
            <a:extLst xmlns:a="http://schemas.openxmlformats.org/drawingml/2006/main">
              <a:ext uri="{FF2B5EF4-FFF2-40B4-BE49-F238E27FC236}">
                <a16:creationId xmlns:a16="http://schemas.microsoft.com/office/drawing/2014/main" id="{E36F1916-C12B-4636-9EA1-8CC6178DE159}"/>
              </a:ext>
            </a:extLst>
          </p:cNvPr>
          <p:cNvSpPr>
            <a:spLocks xmlns:a="http://schemas.openxmlformats.org/drawingml/2006/main" noGrp="1"/>
          </p:cNvSpPr>
          <p:nvPr/>
        </p:nvSpPr>
        <p:spPr>
          <a:xfrm xmlns:a="http://schemas.openxmlformats.org/drawingml/2006/main">
            <a:off x="6181725" y="4610100"/>
            <a:ext cx="5400675"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681D431F-841C-433E-980D-10EB95BEFA17}"/>
              </a:ext>
            </a:extLst>
          </p:cNvPr>
          <p:cNvSpPr>
            <a:spLocks xmlns:a="http://schemas.openxmlformats.org/drawingml/2006/main" noGrp="1"/>
          </p:cNvSpPr>
          <p:nvPr/>
        </p:nvSpPr>
        <p:spPr>
          <a:xfrm xmlns:a="http://schemas.openxmlformats.org/drawingml/2006/main">
            <a:off x="6353175" y="47434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6  [Your prompt]</a:t>
            </a:r>
          </a:p>
        </p:txBody>
      </p:sp>
      <p:sp>
        <p:nvSpPr>
          <p:cNvPr id="18" name="">
            <a:extLst xmlns:a="http://schemas.openxmlformats.org/drawingml/2006/main">
              <a:ext uri="{FF2B5EF4-FFF2-40B4-BE49-F238E27FC236}">
                <a16:creationId xmlns:a16="http://schemas.microsoft.com/office/drawing/2014/main" id="{4C5209C5-FEDE-43BD-B52A-36BB55F0BCF5}"/>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7B7AFA4-DB66-4423-9D05-591EB355A7D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E1BCC65E-D31A-471C-87F9-20BFEF37FCC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1AD46E56-7205-4E85-86FF-EB1EE02519F1}"/>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d42653881d344cad"/>
              </a:rPr>
              <a:t>Kate Jones — Retrieval Relay, Seneca CPD — original guidance</a:t>
            </a:r>
          </a:p>
        </p:txBody>
      </p:sp>
    </p:spTree>
    <p:extLst>
      <p:ext uri="{BB962C8B-B14F-4D97-AF65-F5344CB8AC3E}">
        <p14:creationId xmlns:p14="http://schemas.microsoft.com/office/powerpoint/2010/main" val="716547758"/>
      </p:ext>
    </p:extLst>
  </p:cSld>
</p:sld>
</file>

<file path=ppt/slides/slide18.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CDF3F55-A750-43B0-A32A-834AAA8E83E2}"/>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Sticky-note quizzing</a:t>
            </a:r>
          </a:p>
        </p:txBody>
      </p:sp>
      <p:sp>
        <p:nvSpPr>
          <p:cNvPr id="2" name="">
            <a:extLst xmlns:a="http://schemas.openxmlformats.org/drawingml/2006/main">
              <a:ext uri="{FF2B5EF4-FFF2-40B4-BE49-F238E27FC236}">
                <a16:creationId xmlns:a16="http://schemas.microsoft.com/office/drawing/2014/main" id="{7C1837F4-7375-4967-A88F-E9C20FE488BE}"/>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950DDD2-B821-4F44-A693-23C9A1B6ABD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D59FA11-B68F-4A68-9464-2E301372FC7F}"/>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E3767333-B3A7-43F8-ADB5-81A2B7FD7F43}"/>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E9A7E90C-40D3-4EA3-B30C-20FCCBACACBB}"/>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9ED6AA53-AE61-4955-AE6E-BE7126E95367}"/>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1  [Your question]</a:t>
            </a:r>
          </a:p>
        </p:txBody>
      </p:sp>
      <p:sp>
        <p:nvSpPr>
          <p:cNvPr id="8" name="">
            <a:extLst xmlns:a="http://schemas.openxmlformats.org/drawingml/2006/main">
              <a:ext uri="{FF2B5EF4-FFF2-40B4-BE49-F238E27FC236}">
                <a16:creationId xmlns:a16="http://schemas.microsoft.com/office/drawing/2014/main" id="{0AF122F9-91DD-41A0-B1FC-6020CF272F0A}"/>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71B2BE9D-E9A9-4B69-B869-C4016B01C175}"/>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488B60FA-5013-4BFD-9E21-54C5D9FEB862}"/>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2  [Your question]</a:t>
            </a:r>
          </a:p>
        </p:txBody>
      </p:sp>
      <p:sp>
        <p:nvSpPr>
          <p:cNvPr id="11" name="">
            <a:extLst xmlns:a="http://schemas.openxmlformats.org/drawingml/2006/main">
              <a:ext uri="{FF2B5EF4-FFF2-40B4-BE49-F238E27FC236}">
                <a16:creationId xmlns:a16="http://schemas.microsoft.com/office/drawing/2014/main" id="{6868A60C-EB9A-4FF8-A27C-2A4D26908013}"/>
              </a:ext>
            </a:extLst>
          </p:cNvPr>
          <p:cNvSpPr>
            <a:spLocks xmlns:a="http://schemas.openxmlformats.org/drawingml/2006/main" noGrp="1"/>
          </p:cNvSpPr>
          <p:nvPr/>
        </p:nvSpPr>
        <p:spPr>
          <a:xfrm xmlns:a="http://schemas.openxmlformats.org/drawingml/2006/main">
            <a:off x="6353175"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4FB4B590-88F4-453D-8A3F-B164202B594A}"/>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4557DBCF-8DCF-4DFC-B61B-E021613EB061}"/>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3  [Your question]</a:t>
            </a:r>
          </a:p>
        </p:txBody>
      </p:sp>
      <p:sp>
        <p:nvSpPr>
          <p:cNvPr id="14" name="">
            <a:extLst xmlns:a="http://schemas.openxmlformats.org/drawingml/2006/main">
              <a:ext uri="{FF2B5EF4-FFF2-40B4-BE49-F238E27FC236}">
                <a16:creationId xmlns:a16="http://schemas.microsoft.com/office/drawing/2014/main" id="{98228226-84D6-4A19-8D73-076E3F309E8F}"/>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FAE0E3EC-9712-4737-9675-BDC84D633414}"/>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A47E7994-9586-40F2-9A67-B897FF859E5C}"/>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Prompt 4  [Your question]</a:t>
            </a:r>
          </a:p>
        </p:txBody>
      </p:sp>
      <p:sp>
        <p:nvSpPr>
          <p:cNvPr id="17" name="">
            <a:extLst xmlns:a="http://schemas.openxmlformats.org/drawingml/2006/main">
              <a:ext uri="{FF2B5EF4-FFF2-40B4-BE49-F238E27FC236}">
                <a16:creationId xmlns:a16="http://schemas.microsoft.com/office/drawing/2014/main" id="{2DDC6B78-549B-43D7-BA82-4267DF08C25D}"/>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99DCD0D7-B205-4C51-977B-5F3829A06226}"/>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6B0932B0-B1BB-4170-82AD-D11A56D0CA1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9FC84390-742F-4EE8-900E-68A1BE25C7D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CCA50E60-4290-43BD-8346-531E87389F4F}"/>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bf56bace79174b1a"/>
              </a:rPr>
              <a:t>Hall Houston — published classroom activity — original guidance</a:t>
            </a:r>
          </a:p>
        </p:txBody>
      </p:sp>
    </p:spTree>
    <p:extLst>
      <p:ext uri="{BB962C8B-B14F-4D97-AF65-F5344CB8AC3E}">
        <p14:creationId xmlns:p14="http://schemas.microsoft.com/office/powerpoint/2010/main" val="1103898214"/>
      </p:ext>
    </p:extLst>
  </p:cSld>
</p:sld>
</file>

<file path=ppt/slides/slide19.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A2A392E-B833-4F0D-B254-5D72D50C9E11}"/>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Retrieval role-play</a:t>
            </a:r>
          </a:p>
        </p:txBody>
      </p:sp>
      <p:sp>
        <p:nvSpPr>
          <p:cNvPr id="2" name="">
            <a:extLst xmlns:a="http://schemas.openxmlformats.org/drawingml/2006/main">
              <a:ext uri="{FF2B5EF4-FFF2-40B4-BE49-F238E27FC236}">
                <a16:creationId xmlns:a16="http://schemas.microsoft.com/office/drawing/2014/main" id="{AB7B6F4E-075D-432C-877E-C824DDCBF982}"/>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F058A91-0D35-4A11-B1AA-3D4130E22742}"/>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93CE8E-68C3-4CC6-ADD0-A444DF1BC0C0}"/>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4C35C419-C38E-466F-B12B-D8D5CDE29A56}"/>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17067AAF-EED5-4906-BB31-75DE8321DAD4}"/>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E482E74E-7D50-44BC-8141-879CF4855F7A}"/>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Situation  [Your scenario]</a:t>
            </a:r>
          </a:p>
        </p:txBody>
      </p:sp>
      <p:sp>
        <p:nvSpPr>
          <p:cNvPr id="8" name="">
            <a:extLst xmlns:a="http://schemas.openxmlformats.org/drawingml/2006/main">
              <a:ext uri="{FF2B5EF4-FFF2-40B4-BE49-F238E27FC236}">
                <a16:creationId xmlns:a16="http://schemas.microsoft.com/office/drawing/2014/main" id="{F5732FA1-E979-4EC6-9E8F-E505444A8EAA}"/>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E6B4484B-DEFC-435D-A1AE-4E9B9F628DED}"/>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Roles  [Your roles]</a:t>
            </a:r>
          </a:p>
        </p:txBody>
      </p:sp>
      <p:sp>
        <p:nvSpPr>
          <p:cNvPr id="10" name="">
            <a:extLst xmlns:a="http://schemas.openxmlformats.org/drawingml/2006/main">
              <a:ext uri="{FF2B5EF4-FFF2-40B4-BE49-F238E27FC236}">
                <a16:creationId xmlns:a16="http://schemas.microsoft.com/office/drawing/2014/main" id="{0A3E7F11-8EF1-4AF3-97F0-2A5D5AEE303B}"/>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6FB9E00E-B94B-4106-8E82-94A5C9B0DFE4}"/>
              </a:ext>
            </a:extLst>
          </p:cNvPr>
          <p:cNvSpPr>
            <a:spLocks xmlns:a="http://schemas.openxmlformats.org/drawingml/2006/main" noGrp="1"/>
          </p:cNvSpPr>
          <p:nvPr/>
        </p:nvSpPr>
        <p:spPr>
          <a:xfrm xmlns:a="http://schemas.openxmlformats.org/drawingml/2006/main">
            <a:off x="781050" y="47434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Knowledge to recall  [Your focus]</a:t>
            </a:r>
          </a:p>
        </p:txBody>
      </p:sp>
      <p:sp>
        <p:nvSpPr>
          <p:cNvPr id="12" name="">
            <a:extLst xmlns:a="http://schemas.openxmlformats.org/drawingml/2006/main">
              <a:ext uri="{FF2B5EF4-FFF2-40B4-BE49-F238E27FC236}">
                <a16:creationId xmlns:a16="http://schemas.microsoft.com/office/drawing/2014/main" id="{9298E13B-A8A1-4847-8C0E-E5A774616A9A}"/>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09413B5-61A3-4BDA-9A2F-F42540584E7A}"/>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F5B08B50-1EB8-420D-9140-7EB032C7288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35EC6BAD-192E-4C83-A295-D8CF036DACD0}"/>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206027285ed7477d"/>
              </a:rPr>
              <a:t>Hall Houston — published classroom activity — original guidance</a:t>
            </a:r>
          </a:p>
        </p:txBody>
      </p:sp>
    </p:spTree>
    <p:extLst>
      <p:ext uri="{BB962C8B-B14F-4D97-AF65-F5344CB8AC3E}">
        <p14:creationId xmlns:p14="http://schemas.microsoft.com/office/powerpoint/2010/main" val="514734315"/>
      </p:ext>
    </p:extLst>
  </p:cSld>
</p:sld>
</file>

<file path=ppt/slides/slide20.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602A4F5-36D6-43EF-9429-19ADA6E9EB52}"/>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Walkabout bingo</a:t>
            </a:r>
          </a:p>
        </p:txBody>
      </p:sp>
      <p:sp>
        <p:nvSpPr>
          <p:cNvPr id="2" name="">
            <a:extLst xmlns:a="http://schemas.openxmlformats.org/drawingml/2006/main">
              <a:ext uri="{FF2B5EF4-FFF2-40B4-BE49-F238E27FC236}">
                <a16:creationId xmlns:a16="http://schemas.microsoft.com/office/drawing/2014/main" id="{CCF822FA-DE09-4B4F-9F72-3E0F4907064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E37AAE2-8B23-4DD2-9166-5BD6DB6D80BD}"/>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18216E9-2B79-419B-82D3-7D45E988B3BB}"/>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9F8FF06C-3C7D-4833-9489-98BA4FD69ABE}"/>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A9A40362-57DE-4426-9E61-DAE350141DCD}"/>
              </a:ext>
            </a:extLst>
          </p:cNvPr>
          <p:cNvSpPr>
            <a:spLocks xmlns:a="http://schemas.openxmlformats.org/drawingml/2006/main" noGrp="1"/>
          </p:cNvSpPr>
          <p:nvPr/>
        </p:nvSpPr>
        <p:spPr>
          <a:xfrm xmlns:a="http://schemas.openxmlformats.org/drawingml/2006/main">
            <a:off x="6096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FA713F7C-187A-45A5-95AE-636428F01C0D}"/>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8" name="">
            <a:extLst xmlns:a="http://schemas.openxmlformats.org/drawingml/2006/main">
              <a:ext uri="{FF2B5EF4-FFF2-40B4-BE49-F238E27FC236}">
                <a16:creationId xmlns:a16="http://schemas.microsoft.com/office/drawing/2014/main" id="{507407DD-FFB2-4B9B-B9CE-9CDB63D5FA1A}"/>
              </a:ext>
            </a:extLst>
          </p:cNvPr>
          <p:cNvSpPr>
            <a:spLocks xmlns:a="http://schemas.openxmlformats.org/drawingml/2006/main" noGrp="1"/>
          </p:cNvSpPr>
          <p:nvPr/>
        </p:nvSpPr>
        <p:spPr>
          <a:xfrm xmlns:a="http://schemas.openxmlformats.org/drawingml/2006/main">
            <a:off x="4324350" y="22479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0A93D9A8-4322-42C3-8C6A-F218B82AF166}"/>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0" name="">
            <a:extLst xmlns:a="http://schemas.openxmlformats.org/drawingml/2006/main">
              <a:ext uri="{FF2B5EF4-FFF2-40B4-BE49-F238E27FC236}">
                <a16:creationId xmlns:a16="http://schemas.microsoft.com/office/drawing/2014/main" id="{3C2B13ED-2154-40E5-8AA8-6169E1CE629E}"/>
              </a:ext>
            </a:extLst>
          </p:cNvPr>
          <p:cNvSpPr>
            <a:spLocks xmlns:a="http://schemas.openxmlformats.org/drawingml/2006/main" noGrp="1"/>
          </p:cNvSpPr>
          <p:nvPr/>
        </p:nvSpPr>
        <p:spPr>
          <a:xfrm xmlns:a="http://schemas.openxmlformats.org/drawingml/2006/main">
            <a:off x="80391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BF51ACBB-577A-4F04-B70D-FED95734C942}"/>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2" name="">
            <a:extLst xmlns:a="http://schemas.openxmlformats.org/drawingml/2006/main">
              <a:ext uri="{FF2B5EF4-FFF2-40B4-BE49-F238E27FC236}">
                <a16:creationId xmlns:a16="http://schemas.microsoft.com/office/drawing/2014/main" id="{6D80D5B5-DC46-4C94-B45D-0CB97D6CC313}"/>
              </a:ext>
            </a:extLst>
          </p:cNvPr>
          <p:cNvSpPr>
            <a:spLocks xmlns:a="http://schemas.openxmlformats.org/drawingml/2006/main" noGrp="1"/>
          </p:cNvSpPr>
          <p:nvPr/>
        </p:nvSpPr>
        <p:spPr>
          <a:xfrm xmlns:a="http://schemas.openxmlformats.org/drawingml/2006/main">
            <a:off x="6096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1F6C5784-46CB-491C-A048-2D0D6F9756F7}"/>
              </a:ext>
            </a:extLst>
          </p:cNvPr>
          <p:cNvSpPr>
            <a:spLocks xmlns:a="http://schemas.openxmlformats.org/drawingml/2006/main" noGrp="1"/>
          </p:cNvSpPr>
          <p:nvPr/>
        </p:nvSpPr>
        <p:spPr>
          <a:xfrm xmlns:a="http://schemas.openxmlformats.org/drawingml/2006/main">
            <a:off x="7810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4" name="">
            <a:extLst xmlns:a="http://schemas.openxmlformats.org/drawingml/2006/main">
              <a:ext uri="{FF2B5EF4-FFF2-40B4-BE49-F238E27FC236}">
                <a16:creationId xmlns:a16="http://schemas.microsoft.com/office/drawing/2014/main" id="{B3D0B4E1-4F69-4DC6-8875-661C614471A7}"/>
              </a:ext>
            </a:extLst>
          </p:cNvPr>
          <p:cNvSpPr>
            <a:spLocks xmlns:a="http://schemas.openxmlformats.org/drawingml/2006/main" noGrp="1"/>
          </p:cNvSpPr>
          <p:nvPr/>
        </p:nvSpPr>
        <p:spPr>
          <a:xfrm xmlns:a="http://schemas.openxmlformats.org/drawingml/2006/main">
            <a:off x="4324350" y="34290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30A2FDBB-9B94-4234-A546-2F2558DC3C2E}"/>
              </a:ext>
            </a:extLst>
          </p:cNvPr>
          <p:cNvSpPr>
            <a:spLocks xmlns:a="http://schemas.openxmlformats.org/drawingml/2006/main" noGrp="1"/>
          </p:cNvSpPr>
          <p:nvPr/>
        </p:nvSpPr>
        <p:spPr>
          <a:xfrm xmlns:a="http://schemas.openxmlformats.org/drawingml/2006/main">
            <a:off x="449580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6" name="">
            <a:extLst xmlns:a="http://schemas.openxmlformats.org/drawingml/2006/main">
              <a:ext uri="{FF2B5EF4-FFF2-40B4-BE49-F238E27FC236}">
                <a16:creationId xmlns:a16="http://schemas.microsoft.com/office/drawing/2014/main" id="{E814C88D-043F-42EC-A4D7-17F52F128013}"/>
              </a:ext>
            </a:extLst>
          </p:cNvPr>
          <p:cNvSpPr>
            <a:spLocks xmlns:a="http://schemas.openxmlformats.org/drawingml/2006/main" noGrp="1"/>
          </p:cNvSpPr>
          <p:nvPr/>
        </p:nvSpPr>
        <p:spPr>
          <a:xfrm xmlns:a="http://schemas.openxmlformats.org/drawingml/2006/main">
            <a:off x="80391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716FDE6A-0D2E-4982-B30E-17CBC77F9A99}"/>
              </a:ext>
            </a:extLst>
          </p:cNvPr>
          <p:cNvSpPr>
            <a:spLocks xmlns:a="http://schemas.openxmlformats.org/drawingml/2006/main" noGrp="1"/>
          </p:cNvSpPr>
          <p:nvPr/>
        </p:nvSpPr>
        <p:spPr>
          <a:xfrm xmlns:a="http://schemas.openxmlformats.org/drawingml/2006/main">
            <a:off x="82105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18" name="">
            <a:extLst xmlns:a="http://schemas.openxmlformats.org/drawingml/2006/main">
              <a:ext uri="{FF2B5EF4-FFF2-40B4-BE49-F238E27FC236}">
                <a16:creationId xmlns:a16="http://schemas.microsoft.com/office/drawing/2014/main" id="{5AD26EBD-BCCF-4109-9964-F310E87EAB27}"/>
              </a:ext>
            </a:extLst>
          </p:cNvPr>
          <p:cNvSpPr>
            <a:spLocks xmlns:a="http://schemas.openxmlformats.org/drawingml/2006/main" noGrp="1"/>
          </p:cNvSpPr>
          <p:nvPr/>
        </p:nvSpPr>
        <p:spPr>
          <a:xfrm xmlns:a="http://schemas.openxmlformats.org/drawingml/2006/main">
            <a:off x="6096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E7CC5FD1-DE48-4985-80F1-8E647EF7F3D5}"/>
              </a:ext>
            </a:extLst>
          </p:cNvPr>
          <p:cNvSpPr>
            <a:spLocks xmlns:a="http://schemas.openxmlformats.org/drawingml/2006/main" noGrp="1"/>
          </p:cNvSpPr>
          <p:nvPr/>
        </p:nvSpPr>
        <p:spPr>
          <a:xfrm xmlns:a="http://schemas.openxmlformats.org/drawingml/2006/main">
            <a:off x="7810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20" name="">
            <a:extLst xmlns:a="http://schemas.openxmlformats.org/drawingml/2006/main">
              <a:ext uri="{FF2B5EF4-FFF2-40B4-BE49-F238E27FC236}">
                <a16:creationId xmlns:a16="http://schemas.microsoft.com/office/drawing/2014/main" id="{C02D816E-A700-4A03-9D33-2828C4D17967}"/>
              </a:ext>
            </a:extLst>
          </p:cNvPr>
          <p:cNvSpPr>
            <a:spLocks xmlns:a="http://schemas.openxmlformats.org/drawingml/2006/main" noGrp="1"/>
          </p:cNvSpPr>
          <p:nvPr/>
        </p:nvSpPr>
        <p:spPr>
          <a:xfrm xmlns:a="http://schemas.openxmlformats.org/drawingml/2006/main">
            <a:off x="4324350" y="46101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1" name="">
            <a:extLst xmlns:a="http://schemas.openxmlformats.org/drawingml/2006/main">
              <a:ext uri="{FF2B5EF4-FFF2-40B4-BE49-F238E27FC236}">
                <a16:creationId xmlns:a16="http://schemas.microsoft.com/office/drawing/2014/main" id="{84763EB3-4CC2-459C-A309-8F129EC901D0}"/>
              </a:ext>
            </a:extLst>
          </p:cNvPr>
          <p:cNvSpPr>
            <a:spLocks xmlns:a="http://schemas.openxmlformats.org/drawingml/2006/main" noGrp="1"/>
          </p:cNvSpPr>
          <p:nvPr/>
        </p:nvSpPr>
        <p:spPr>
          <a:xfrm xmlns:a="http://schemas.openxmlformats.org/drawingml/2006/main">
            <a:off x="449580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22" name="">
            <a:extLst xmlns:a="http://schemas.openxmlformats.org/drawingml/2006/main">
              <a:ext uri="{FF2B5EF4-FFF2-40B4-BE49-F238E27FC236}">
                <a16:creationId xmlns:a16="http://schemas.microsoft.com/office/drawing/2014/main" id="{E097A426-EEE5-4FCB-8D38-8F511057CC47}"/>
              </a:ext>
            </a:extLst>
          </p:cNvPr>
          <p:cNvSpPr>
            <a:spLocks xmlns:a="http://schemas.openxmlformats.org/drawingml/2006/main" noGrp="1"/>
          </p:cNvSpPr>
          <p:nvPr/>
        </p:nvSpPr>
        <p:spPr>
          <a:xfrm xmlns:a="http://schemas.openxmlformats.org/drawingml/2006/main">
            <a:off x="80391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3" name="">
            <a:extLst xmlns:a="http://schemas.openxmlformats.org/drawingml/2006/main">
              <a:ext uri="{FF2B5EF4-FFF2-40B4-BE49-F238E27FC236}">
                <a16:creationId xmlns:a16="http://schemas.microsoft.com/office/drawing/2014/main" id="{29241586-F5DA-4531-B04C-9D290E397F0D}"/>
              </a:ext>
            </a:extLst>
          </p:cNvPr>
          <p:cNvSpPr>
            <a:spLocks xmlns:a="http://schemas.openxmlformats.org/drawingml/2006/main" noGrp="1"/>
          </p:cNvSpPr>
          <p:nvPr/>
        </p:nvSpPr>
        <p:spPr>
          <a:xfrm xmlns:a="http://schemas.openxmlformats.org/drawingml/2006/main">
            <a:off x="82105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question]</a:t>
            </a:r>
          </a:p>
        </p:txBody>
      </p:sp>
      <p:sp>
        <p:nvSpPr>
          <p:cNvPr id="24" name="">
            <a:extLst xmlns:a="http://schemas.openxmlformats.org/drawingml/2006/main">
              <a:ext uri="{FF2B5EF4-FFF2-40B4-BE49-F238E27FC236}">
                <a16:creationId xmlns:a16="http://schemas.microsoft.com/office/drawing/2014/main" id="{FE93F883-495B-4854-A1DE-9D2F72E084D3}"/>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843CF4B-9D7F-4B97-9E14-6B12539530A6}"/>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2592ABD1-479E-4258-A97E-AF9308A0AA75}"/>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8" name="source-credit">
            <a:extLst xmlns:a="http://schemas.openxmlformats.org/drawingml/2006/main">
              <a:ext uri="{FF2B5EF4-FFF2-40B4-BE49-F238E27FC236}">
                <a16:creationId xmlns:a16="http://schemas.microsoft.com/office/drawing/2014/main" id="{F67B0302-B805-4415-9960-C5D91228C51D}"/>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835d138035494be1"/>
              </a:rPr>
              <a:t>Kate Jones — published Walkabout Bingo; summarised by Hall Houston — original guidance</a:t>
            </a:r>
          </a:p>
        </p:txBody>
      </p:sp>
    </p:spTree>
    <p:extLst>
      <p:ext uri="{BB962C8B-B14F-4D97-AF65-F5344CB8AC3E}">
        <p14:creationId xmlns:p14="http://schemas.microsoft.com/office/powerpoint/2010/main" val="1148185653"/>
      </p:ext>
    </p:extLst>
  </p:cSld>
</p:sld>
</file>

<file path=ppt/slides/slide2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9789F95-28BE-4DA1-9DDB-5E2EE44E1DC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Recall bingo</a:t>
            </a:r>
          </a:p>
        </p:txBody>
      </p:sp>
      <p:sp>
        <p:nvSpPr>
          <p:cNvPr id="2" name="">
            <a:extLst xmlns:a="http://schemas.openxmlformats.org/drawingml/2006/main">
              <a:ext uri="{FF2B5EF4-FFF2-40B4-BE49-F238E27FC236}">
                <a16:creationId xmlns:a16="http://schemas.microsoft.com/office/drawing/2014/main" id="{5243AD7F-EF38-417E-BC8A-712C5207260D}"/>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28927A47-3723-4DF7-9F81-C6180C76214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E8F088-8496-4868-8792-D3AC21A8E532}"/>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994B4A69-D86B-460B-ACB4-94986BDD5B0F}"/>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907ADC2E-E33E-4BF2-84D9-162B07AB6DA3}"/>
              </a:ext>
            </a:extLst>
          </p:cNvPr>
          <p:cNvSpPr>
            <a:spLocks xmlns:a="http://schemas.openxmlformats.org/drawingml/2006/main" noGrp="1"/>
          </p:cNvSpPr>
          <p:nvPr/>
        </p:nvSpPr>
        <p:spPr>
          <a:xfrm xmlns:a="http://schemas.openxmlformats.org/drawingml/2006/main">
            <a:off x="6096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D0688515-56E3-4034-BB45-4CBB027A4214}"/>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8" name="">
            <a:extLst xmlns:a="http://schemas.openxmlformats.org/drawingml/2006/main">
              <a:ext uri="{FF2B5EF4-FFF2-40B4-BE49-F238E27FC236}">
                <a16:creationId xmlns:a16="http://schemas.microsoft.com/office/drawing/2014/main" id="{3126D25F-F5C9-4BB7-83C4-F635CF73A92F}"/>
              </a:ext>
            </a:extLst>
          </p:cNvPr>
          <p:cNvSpPr>
            <a:spLocks xmlns:a="http://schemas.openxmlformats.org/drawingml/2006/main" noGrp="1"/>
          </p:cNvSpPr>
          <p:nvPr/>
        </p:nvSpPr>
        <p:spPr>
          <a:xfrm xmlns:a="http://schemas.openxmlformats.org/drawingml/2006/main">
            <a:off x="4324350" y="22479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B7B64AA7-DCA9-425B-AC16-D78FA5CA511E}"/>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0" name="">
            <a:extLst xmlns:a="http://schemas.openxmlformats.org/drawingml/2006/main">
              <a:ext uri="{FF2B5EF4-FFF2-40B4-BE49-F238E27FC236}">
                <a16:creationId xmlns:a16="http://schemas.microsoft.com/office/drawing/2014/main" id="{74639A09-0CDD-43B9-A1A5-BA47028398E7}"/>
              </a:ext>
            </a:extLst>
          </p:cNvPr>
          <p:cNvSpPr>
            <a:spLocks xmlns:a="http://schemas.openxmlformats.org/drawingml/2006/main" noGrp="1"/>
          </p:cNvSpPr>
          <p:nvPr/>
        </p:nvSpPr>
        <p:spPr>
          <a:xfrm xmlns:a="http://schemas.openxmlformats.org/drawingml/2006/main">
            <a:off x="80391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67EEA9B1-9BA9-4D54-ABA7-48A23BD8F750}"/>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2" name="">
            <a:extLst xmlns:a="http://schemas.openxmlformats.org/drawingml/2006/main">
              <a:ext uri="{FF2B5EF4-FFF2-40B4-BE49-F238E27FC236}">
                <a16:creationId xmlns:a16="http://schemas.microsoft.com/office/drawing/2014/main" id="{99D58C06-40D1-4FEB-A18B-514C76846203}"/>
              </a:ext>
            </a:extLst>
          </p:cNvPr>
          <p:cNvSpPr>
            <a:spLocks xmlns:a="http://schemas.openxmlformats.org/drawingml/2006/main" noGrp="1"/>
          </p:cNvSpPr>
          <p:nvPr/>
        </p:nvSpPr>
        <p:spPr>
          <a:xfrm xmlns:a="http://schemas.openxmlformats.org/drawingml/2006/main">
            <a:off x="6096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79DF4CDE-935F-47C7-A381-549AC58BF1B4}"/>
              </a:ext>
            </a:extLst>
          </p:cNvPr>
          <p:cNvSpPr>
            <a:spLocks xmlns:a="http://schemas.openxmlformats.org/drawingml/2006/main" noGrp="1"/>
          </p:cNvSpPr>
          <p:nvPr/>
        </p:nvSpPr>
        <p:spPr>
          <a:xfrm xmlns:a="http://schemas.openxmlformats.org/drawingml/2006/main">
            <a:off x="7810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4" name="">
            <a:extLst xmlns:a="http://schemas.openxmlformats.org/drawingml/2006/main">
              <a:ext uri="{FF2B5EF4-FFF2-40B4-BE49-F238E27FC236}">
                <a16:creationId xmlns:a16="http://schemas.microsoft.com/office/drawing/2014/main" id="{CE9E9598-0A4E-4FF3-91C1-065DC45301D0}"/>
              </a:ext>
            </a:extLst>
          </p:cNvPr>
          <p:cNvSpPr>
            <a:spLocks xmlns:a="http://schemas.openxmlformats.org/drawingml/2006/main" noGrp="1"/>
          </p:cNvSpPr>
          <p:nvPr/>
        </p:nvSpPr>
        <p:spPr>
          <a:xfrm xmlns:a="http://schemas.openxmlformats.org/drawingml/2006/main">
            <a:off x="4324350" y="34290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86D804A1-69DA-4576-ACE9-20E9F448BB74}"/>
              </a:ext>
            </a:extLst>
          </p:cNvPr>
          <p:cNvSpPr>
            <a:spLocks xmlns:a="http://schemas.openxmlformats.org/drawingml/2006/main" noGrp="1"/>
          </p:cNvSpPr>
          <p:nvPr/>
        </p:nvSpPr>
        <p:spPr>
          <a:xfrm xmlns:a="http://schemas.openxmlformats.org/drawingml/2006/main">
            <a:off x="449580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6" name="">
            <a:extLst xmlns:a="http://schemas.openxmlformats.org/drawingml/2006/main">
              <a:ext uri="{FF2B5EF4-FFF2-40B4-BE49-F238E27FC236}">
                <a16:creationId xmlns:a16="http://schemas.microsoft.com/office/drawing/2014/main" id="{D0FF16CA-078C-4566-9D4A-2481960B1234}"/>
              </a:ext>
            </a:extLst>
          </p:cNvPr>
          <p:cNvSpPr>
            <a:spLocks xmlns:a="http://schemas.openxmlformats.org/drawingml/2006/main" noGrp="1"/>
          </p:cNvSpPr>
          <p:nvPr/>
        </p:nvSpPr>
        <p:spPr>
          <a:xfrm xmlns:a="http://schemas.openxmlformats.org/drawingml/2006/main">
            <a:off x="80391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01756233-6637-44F7-A9C1-B11F0B120A52}"/>
              </a:ext>
            </a:extLst>
          </p:cNvPr>
          <p:cNvSpPr>
            <a:spLocks xmlns:a="http://schemas.openxmlformats.org/drawingml/2006/main" noGrp="1"/>
          </p:cNvSpPr>
          <p:nvPr/>
        </p:nvSpPr>
        <p:spPr>
          <a:xfrm xmlns:a="http://schemas.openxmlformats.org/drawingml/2006/main">
            <a:off x="82105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8" name="">
            <a:extLst xmlns:a="http://schemas.openxmlformats.org/drawingml/2006/main">
              <a:ext uri="{FF2B5EF4-FFF2-40B4-BE49-F238E27FC236}">
                <a16:creationId xmlns:a16="http://schemas.microsoft.com/office/drawing/2014/main" id="{763682B7-037A-4686-B2A0-3B516ABC300B}"/>
              </a:ext>
            </a:extLst>
          </p:cNvPr>
          <p:cNvSpPr>
            <a:spLocks xmlns:a="http://schemas.openxmlformats.org/drawingml/2006/main" noGrp="1"/>
          </p:cNvSpPr>
          <p:nvPr/>
        </p:nvSpPr>
        <p:spPr>
          <a:xfrm xmlns:a="http://schemas.openxmlformats.org/drawingml/2006/main">
            <a:off x="6096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23D88D44-F496-49C4-ADF0-5DA1365D8F6D}"/>
              </a:ext>
            </a:extLst>
          </p:cNvPr>
          <p:cNvSpPr>
            <a:spLocks xmlns:a="http://schemas.openxmlformats.org/drawingml/2006/main" noGrp="1"/>
          </p:cNvSpPr>
          <p:nvPr/>
        </p:nvSpPr>
        <p:spPr>
          <a:xfrm xmlns:a="http://schemas.openxmlformats.org/drawingml/2006/main">
            <a:off x="7810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20" name="">
            <a:extLst xmlns:a="http://schemas.openxmlformats.org/drawingml/2006/main">
              <a:ext uri="{FF2B5EF4-FFF2-40B4-BE49-F238E27FC236}">
                <a16:creationId xmlns:a16="http://schemas.microsoft.com/office/drawing/2014/main" id="{E6A53209-CD0B-4D7E-BDC9-F033FFB95EF5}"/>
              </a:ext>
            </a:extLst>
          </p:cNvPr>
          <p:cNvSpPr>
            <a:spLocks xmlns:a="http://schemas.openxmlformats.org/drawingml/2006/main" noGrp="1"/>
          </p:cNvSpPr>
          <p:nvPr/>
        </p:nvSpPr>
        <p:spPr>
          <a:xfrm xmlns:a="http://schemas.openxmlformats.org/drawingml/2006/main">
            <a:off x="4324350" y="46101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1" name="">
            <a:extLst xmlns:a="http://schemas.openxmlformats.org/drawingml/2006/main">
              <a:ext uri="{FF2B5EF4-FFF2-40B4-BE49-F238E27FC236}">
                <a16:creationId xmlns:a16="http://schemas.microsoft.com/office/drawing/2014/main" id="{BBA49221-7E73-43E1-A69D-5D76D357464B}"/>
              </a:ext>
            </a:extLst>
          </p:cNvPr>
          <p:cNvSpPr>
            <a:spLocks xmlns:a="http://schemas.openxmlformats.org/drawingml/2006/main" noGrp="1"/>
          </p:cNvSpPr>
          <p:nvPr/>
        </p:nvSpPr>
        <p:spPr>
          <a:xfrm xmlns:a="http://schemas.openxmlformats.org/drawingml/2006/main">
            <a:off x="449580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22" name="">
            <a:extLst xmlns:a="http://schemas.openxmlformats.org/drawingml/2006/main">
              <a:ext uri="{FF2B5EF4-FFF2-40B4-BE49-F238E27FC236}">
                <a16:creationId xmlns:a16="http://schemas.microsoft.com/office/drawing/2014/main" id="{28C79872-D4B0-46E5-B455-EA38BFC319DB}"/>
              </a:ext>
            </a:extLst>
          </p:cNvPr>
          <p:cNvSpPr>
            <a:spLocks xmlns:a="http://schemas.openxmlformats.org/drawingml/2006/main" noGrp="1"/>
          </p:cNvSpPr>
          <p:nvPr/>
        </p:nvSpPr>
        <p:spPr>
          <a:xfrm xmlns:a="http://schemas.openxmlformats.org/drawingml/2006/main">
            <a:off x="80391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3" name="">
            <a:extLst xmlns:a="http://schemas.openxmlformats.org/drawingml/2006/main">
              <a:ext uri="{FF2B5EF4-FFF2-40B4-BE49-F238E27FC236}">
                <a16:creationId xmlns:a16="http://schemas.microsoft.com/office/drawing/2014/main" id="{72A752C3-7993-47A5-AA16-B21F46F35DEE}"/>
              </a:ext>
            </a:extLst>
          </p:cNvPr>
          <p:cNvSpPr>
            <a:spLocks xmlns:a="http://schemas.openxmlformats.org/drawingml/2006/main" noGrp="1"/>
          </p:cNvSpPr>
          <p:nvPr/>
        </p:nvSpPr>
        <p:spPr>
          <a:xfrm xmlns:a="http://schemas.openxmlformats.org/drawingml/2006/main">
            <a:off x="82105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24" name="">
            <a:extLst xmlns:a="http://schemas.openxmlformats.org/drawingml/2006/main">
              <a:ext uri="{FF2B5EF4-FFF2-40B4-BE49-F238E27FC236}">
                <a16:creationId xmlns:a16="http://schemas.microsoft.com/office/drawing/2014/main" id="{97432AB4-821E-4C61-964C-CB86793FD11C}"/>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83ACD72-91F8-4B5C-9A47-E56228DAFE98}"/>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3D77130F-D335-4A08-9FA9-E68D16F3A48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8" name="source-credit">
            <a:extLst xmlns:a="http://schemas.openxmlformats.org/drawingml/2006/main">
              <a:ext uri="{FF2B5EF4-FFF2-40B4-BE49-F238E27FC236}">
                <a16:creationId xmlns:a16="http://schemas.microsoft.com/office/drawing/2014/main" id="{BF6652C0-2C33-495D-97A0-059F91D2BBCE}"/>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942cad5e25db48fd"/>
              </a:rPr>
              <a:t>Laura Webb — published classroom example — original guidance</a:t>
            </a:r>
          </a:p>
        </p:txBody>
      </p:sp>
    </p:spTree>
    <p:extLst>
      <p:ext uri="{BB962C8B-B14F-4D97-AF65-F5344CB8AC3E}">
        <p14:creationId xmlns:p14="http://schemas.microsoft.com/office/powerpoint/2010/main" val="75890620"/>
      </p:ext>
    </p:extLst>
  </p:cSld>
</p:sld>
</file>

<file path=ppt/slides/slide22.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53EAE77-C7AD-4DC5-9B56-468908207BC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Fading cloze</a:t>
            </a:r>
          </a:p>
        </p:txBody>
      </p:sp>
      <p:sp>
        <p:nvSpPr>
          <p:cNvPr id="2" name="">
            <a:extLst xmlns:a="http://schemas.openxmlformats.org/drawingml/2006/main">
              <a:ext uri="{FF2B5EF4-FFF2-40B4-BE49-F238E27FC236}">
                <a16:creationId xmlns:a16="http://schemas.microsoft.com/office/drawing/2014/main" id="{6B0048F0-EC31-4768-A228-549A15A7F46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674DFFAA-02C7-4662-BAEA-0AA3A11C4793}"/>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9ABE7D9-076E-40A3-91EE-2BDC18A2D996}"/>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1588C8A8-B5F0-40D1-8084-14B0ABCF9DEB}"/>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CA979146-F2E3-4CB9-8CFA-D56F996B40BF}"/>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1F68306A-615E-4149-A875-23B22686D7EC}"/>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1  [Your passage with a few gaps]</a:t>
            </a:r>
          </a:p>
        </p:txBody>
      </p:sp>
      <p:sp>
        <p:nvSpPr>
          <p:cNvPr id="8" name="">
            <a:extLst xmlns:a="http://schemas.openxmlformats.org/drawingml/2006/main">
              <a:ext uri="{FF2B5EF4-FFF2-40B4-BE49-F238E27FC236}">
                <a16:creationId xmlns:a16="http://schemas.microsoft.com/office/drawing/2014/main" id="{EDB51645-18AD-4BE0-8FFD-46B8F0CAB40E}"/>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81D2FD31-E465-421E-AF9A-6D490289273A}"/>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Round 2  [The same passage with more gaps]</a:t>
            </a:r>
          </a:p>
        </p:txBody>
      </p:sp>
      <p:sp>
        <p:nvSpPr>
          <p:cNvPr id="10" name="">
            <a:extLst xmlns:a="http://schemas.openxmlformats.org/drawingml/2006/main">
              <a:ext uri="{FF2B5EF4-FFF2-40B4-BE49-F238E27FC236}">
                <a16:creationId xmlns:a16="http://schemas.microsoft.com/office/drawing/2014/main" id="{C78C3132-C3FD-42B7-A269-FB39677601A3}"/>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60DFC59F-2BE4-4CAD-A751-2D9D8F348A25}"/>
              </a:ext>
            </a:extLst>
          </p:cNvPr>
          <p:cNvSpPr>
            <a:spLocks xmlns:a="http://schemas.openxmlformats.org/drawingml/2006/main" noGrp="1"/>
          </p:cNvSpPr>
          <p:nvPr/>
        </p:nvSpPr>
        <p:spPr>
          <a:xfrm xmlns:a="http://schemas.openxmlformats.org/drawingml/2006/main">
            <a:off x="781050" y="4743450"/>
            <a:ext cx="1062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263C3A"/>
                </a:solidFill>
                <a:latin typeface="DejaVu Sans"/>
                <a:ea typeface="DejaVu Sans"/>
                <a:cs typeface="DejaVu Sans"/>
              </a:defRPr>
            </a:pPr>
            <a:r>
              <a:rPr sz="1650" b="1">
                <a:solidFill>
                  <a:srgbClr val="263C3A"/>
                </a:solidFill>
                <a:latin typeface="DejaVu Sans"/>
                <a:ea typeface="DejaVu Sans"/>
                <a:cs typeface="DejaVu Sans"/>
              </a:rPr>
              <a:t>Round 3  [A heading only or a final recall prompt]</a:t>
            </a:r>
          </a:p>
        </p:txBody>
      </p:sp>
      <p:sp>
        <p:nvSpPr>
          <p:cNvPr id="12" name="">
            <a:extLst xmlns:a="http://schemas.openxmlformats.org/drawingml/2006/main">
              <a:ext uri="{FF2B5EF4-FFF2-40B4-BE49-F238E27FC236}">
                <a16:creationId xmlns:a16="http://schemas.microsoft.com/office/drawing/2014/main" id="{364EC146-8199-4AE2-BD51-7AB96EA31D4B}"/>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CB82110-0911-426C-A167-E156104BBD98}"/>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51005414-5B50-4C7E-B348-0D971BFFAABD}"/>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2CD5405E-1251-420E-BDB4-2D3ED9AF7D16}"/>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03a25f7a073f4bca"/>
              </a:rPr>
              <a:t>Laura Webb — published classroom example — original guidance</a:t>
            </a:r>
          </a:p>
        </p:txBody>
      </p:sp>
    </p:spTree>
    <p:extLst>
      <p:ext uri="{BB962C8B-B14F-4D97-AF65-F5344CB8AC3E}">
        <p14:creationId xmlns:p14="http://schemas.microsoft.com/office/powerpoint/2010/main" val="524732607"/>
      </p:ext>
    </p:extLst>
  </p:cSld>
</p:sld>
</file>

<file path=ppt/slides/slide23.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D83DCEB-57DC-4DFA-9373-18F4AB77D74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Multiple choice with reasons</a:t>
            </a:r>
          </a:p>
        </p:txBody>
      </p:sp>
      <p:sp>
        <p:nvSpPr>
          <p:cNvPr id="2" name="">
            <a:extLst xmlns:a="http://schemas.openxmlformats.org/drawingml/2006/main">
              <a:ext uri="{FF2B5EF4-FFF2-40B4-BE49-F238E27FC236}">
                <a16:creationId xmlns:a16="http://schemas.microsoft.com/office/drawing/2014/main" id="{641B61D9-7BE8-47AF-9811-C6D9E0A776EE}"/>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81E55437-AC95-4208-AD0A-2D00B84B2734}"/>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C3CA8D6-19AD-40DA-A2A9-E490770AD4E1}"/>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7A09C5EF-2302-4AB0-8739-2212F73D8ED1}"/>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5EC02EA9-E28C-437B-9D9E-728144333FB0}"/>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75436EC-1517-4CEE-A49D-6C179F9CC52A}"/>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Question  [Your question]</a:t>
            </a:r>
          </a:p>
        </p:txBody>
      </p:sp>
      <p:sp>
        <p:nvSpPr>
          <p:cNvPr id="8" name="">
            <a:extLst xmlns:a="http://schemas.openxmlformats.org/drawingml/2006/main">
              <a:ext uri="{FF2B5EF4-FFF2-40B4-BE49-F238E27FC236}">
                <a16:creationId xmlns:a16="http://schemas.microsoft.com/office/drawing/2014/main" id="{02BEADA0-42D0-4B1B-AD90-F3799E73437D}"/>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753BB693-0842-43EF-B47E-17DC2D73593A}"/>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884FD60E-0E3F-4F77-AED9-C900AB1E2DF4}"/>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Choices</a:t>
            </a:r>
          </a:p>
        </p:txBody>
      </p:sp>
      <p:sp>
        <p:nvSpPr>
          <p:cNvPr id="11" name="">
            <a:extLst xmlns:a="http://schemas.openxmlformats.org/drawingml/2006/main">
              <a:ext uri="{FF2B5EF4-FFF2-40B4-BE49-F238E27FC236}">
                <a16:creationId xmlns:a16="http://schemas.microsoft.com/office/drawing/2014/main" id="{BC4972E4-1B24-4851-82BE-D7CAEC103BBB}"/>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 [Option]</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B [Option]</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C [Option]</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D [Option]</a:t>
            </a:r>
          </a:p>
        </p:txBody>
      </p:sp>
      <p:sp>
        <p:nvSpPr>
          <p:cNvPr id="12" name="">
            <a:extLst xmlns:a="http://schemas.openxmlformats.org/drawingml/2006/main">
              <a:ext uri="{FF2B5EF4-FFF2-40B4-BE49-F238E27FC236}">
                <a16:creationId xmlns:a16="http://schemas.microsoft.com/office/drawing/2014/main" id="{10ACA9C4-528E-47DF-A46D-DB0DDA9E77B5}"/>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7A8DD95E-2714-4E00-9DB5-7A9A07AAA456}"/>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choice and reason</a:t>
            </a:r>
          </a:p>
        </p:txBody>
      </p:sp>
      <p:sp>
        <p:nvSpPr>
          <p:cNvPr id="14" name="">
            <a:extLst xmlns:a="http://schemas.openxmlformats.org/drawingml/2006/main">
              <a:ext uri="{FF2B5EF4-FFF2-40B4-BE49-F238E27FC236}">
                <a16:creationId xmlns:a16="http://schemas.microsoft.com/office/drawing/2014/main" id="{D322DFCB-F2D9-40A0-B328-B10CC10D0A30}"/>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0311F6D3-2ABF-4299-8E48-EF07F6CCFCD0}"/>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CCD7A7C1-D509-40C6-B10E-6DD89E3878E6}"/>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Why another choice is incorrect</a:t>
            </a:r>
          </a:p>
        </p:txBody>
      </p:sp>
      <p:sp>
        <p:nvSpPr>
          <p:cNvPr id="17" name="">
            <a:extLst xmlns:a="http://schemas.openxmlformats.org/drawingml/2006/main">
              <a:ext uri="{FF2B5EF4-FFF2-40B4-BE49-F238E27FC236}">
                <a16:creationId xmlns:a16="http://schemas.microsoft.com/office/drawing/2014/main" id="{DC8DDB5F-D26E-444B-AD98-83BC294D42A4}"/>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4A742A9C-11BF-46C1-99DE-CA3587F61B85}"/>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A42B4196-B2DF-438F-BAF9-7E41DF94BE7D}"/>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42A87239-437E-4DCE-9146-27EF86F57D5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BE6B63EF-D46F-4E7C-ADAB-6B0916F1380C}"/>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d3b3b858a8104765"/>
              </a:rPr>
              <a:t>Laura Webb — published classroom example — original guidance</a:t>
            </a:r>
          </a:p>
        </p:txBody>
      </p:sp>
    </p:spTree>
    <p:extLst>
      <p:ext uri="{BB962C8B-B14F-4D97-AF65-F5344CB8AC3E}">
        <p14:creationId xmlns:p14="http://schemas.microsoft.com/office/powerpoint/2010/main" val="2043398083"/>
      </p:ext>
    </p:extLst>
  </p:cSld>
</p:sld>
</file>

<file path=ppt/slides/slide24.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51D1371-62B9-47AD-AFFC-EDD14748D1FA}"/>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Odd one out</a:t>
            </a:r>
          </a:p>
        </p:txBody>
      </p:sp>
      <p:sp>
        <p:nvSpPr>
          <p:cNvPr id="2" name="">
            <a:extLst xmlns:a="http://schemas.openxmlformats.org/drawingml/2006/main">
              <a:ext uri="{FF2B5EF4-FFF2-40B4-BE49-F238E27FC236}">
                <a16:creationId xmlns:a16="http://schemas.microsoft.com/office/drawing/2014/main" id="{2D67EF00-9F9F-49D0-87DF-C800704854B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E95EAC2-04A2-49C3-A345-2A3FC26F82E3}"/>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256BF92-ABAE-4793-84FE-9DC8076CE62A}"/>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374DF725-71A4-44BB-8816-F6CD39388447}"/>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B3E5DEB6-D40E-4A6B-BA05-4D4BD47B58AE}"/>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D4A077CE-AF49-475D-A3A1-6227136D6487}"/>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Items  [Your three or four items]</a:t>
            </a:r>
          </a:p>
        </p:txBody>
      </p:sp>
      <p:sp>
        <p:nvSpPr>
          <p:cNvPr id="8" name="">
            <a:extLst xmlns:a="http://schemas.openxmlformats.org/drawingml/2006/main">
              <a:ext uri="{FF2B5EF4-FFF2-40B4-BE49-F238E27FC236}">
                <a16:creationId xmlns:a16="http://schemas.microsoft.com/office/drawing/2014/main" id="{A7646044-AC09-47BA-ACA6-758349BB6113}"/>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782D6C2E-9C5C-420D-9645-893017626356}"/>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EACC0B2E-C0D3-4169-957E-A4ACA9DD59D0}"/>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odd one out</a:t>
            </a:r>
          </a:p>
        </p:txBody>
      </p:sp>
      <p:sp>
        <p:nvSpPr>
          <p:cNvPr id="11" name="">
            <a:extLst xmlns:a="http://schemas.openxmlformats.org/drawingml/2006/main">
              <a:ext uri="{FF2B5EF4-FFF2-40B4-BE49-F238E27FC236}">
                <a16:creationId xmlns:a16="http://schemas.microsoft.com/office/drawing/2014/main" id="{C6BEA6C3-A6A2-4D10-8A9E-8D17BCCA9B80}"/>
              </a:ext>
            </a:extLst>
          </p:cNvPr>
          <p:cNvSpPr>
            <a:spLocks xmlns:a="http://schemas.openxmlformats.org/drawingml/2006/main" noGrp="1"/>
          </p:cNvSpPr>
          <p:nvPr/>
        </p:nvSpPr>
        <p:spPr>
          <a:xfrm xmlns:a="http://schemas.openxmlformats.org/drawingml/2006/main">
            <a:off x="6353175"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0EA98DA7-92E0-40DE-A881-21C00644A15C}"/>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3135EFCF-8F45-484C-B32F-C067D9BF51E4}"/>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The relationship between the others</a:t>
            </a:r>
          </a:p>
        </p:txBody>
      </p:sp>
      <p:sp>
        <p:nvSpPr>
          <p:cNvPr id="14" name="">
            <a:extLst xmlns:a="http://schemas.openxmlformats.org/drawingml/2006/main">
              <a:ext uri="{FF2B5EF4-FFF2-40B4-BE49-F238E27FC236}">
                <a16:creationId xmlns:a16="http://schemas.microsoft.com/office/drawing/2014/main" id="{53C4DA1C-7B72-43C0-8116-FF7452E5B682}"/>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1A6A3D53-0B5B-44BF-8703-467219600FA3}"/>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9CBA1D50-F876-4ED7-B2DC-CF90F81B1002}"/>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Another defensible answer</a:t>
            </a:r>
          </a:p>
        </p:txBody>
      </p:sp>
      <p:sp>
        <p:nvSpPr>
          <p:cNvPr id="17" name="">
            <a:extLst xmlns:a="http://schemas.openxmlformats.org/drawingml/2006/main">
              <a:ext uri="{FF2B5EF4-FFF2-40B4-BE49-F238E27FC236}">
                <a16:creationId xmlns:a16="http://schemas.microsoft.com/office/drawing/2014/main" id="{4ABE30CD-6992-4EE4-AB9E-E69F75A59952}"/>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C953B496-78BF-47CE-82F0-FBA75BF129CE}"/>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A1B1118-F928-4A78-ACC2-79BFA46D2403}"/>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CE8313D0-2D2F-48F2-AA18-9FE79BA3E96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2EA1908E-54B6-47F4-8897-92BB99A886E5}"/>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c79ddca9e2334adb"/>
              </a:rPr>
              <a:t>Jenny Campbell — published classroom example, Collins — original guidance</a:t>
            </a:r>
          </a:p>
        </p:txBody>
      </p:sp>
    </p:spTree>
    <p:extLst>
      <p:ext uri="{BB962C8B-B14F-4D97-AF65-F5344CB8AC3E}">
        <p14:creationId xmlns:p14="http://schemas.microsoft.com/office/powerpoint/2010/main" val="1337772625"/>
      </p:ext>
    </p:extLst>
  </p:cSld>
</p:sld>
</file>

<file path=ppt/slides/slide25.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C8814C3-EA49-406E-AEEE-A0B089498C18}"/>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Retrieval quilt</a:t>
            </a:r>
          </a:p>
        </p:txBody>
      </p:sp>
      <p:sp>
        <p:nvSpPr>
          <p:cNvPr id="2" name="">
            <a:extLst xmlns:a="http://schemas.openxmlformats.org/drawingml/2006/main">
              <a:ext uri="{FF2B5EF4-FFF2-40B4-BE49-F238E27FC236}">
                <a16:creationId xmlns:a16="http://schemas.microsoft.com/office/drawing/2014/main" id="{E4991F3B-A8F5-4ED6-B943-11DD249FBD0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96FDBD1-7DDB-47C3-84D0-07C9E9FD5927}"/>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649FDA-CBE4-4043-B7B8-1167B92F19C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A66CF77B-E520-4DA8-8521-068B2A04F088}"/>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F39E9258-0176-40AE-9311-1C2AFC234481}"/>
              </a:ext>
            </a:extLst>
          </p:cNvPr>
          <p:cNvSpPr>
            <a:spLocks xmlns:a="http://schemas.openxmlformats.org/drawingml/2006/main" noGrp="1"/>
          </p:cNvSpPr>
          <p:nvPr/>
        </p:nvSpPr>
        <p:spPr>
          <a:xfrm xmlns:a="http://schemas.openxmlformats.org/drawingml/2006/main">
            <a:off x="6096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CCE5BE64-317E-419D-9063-871F1A0A848E}"/>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8" name="">
            <a:extLst xmlns:a="http://schemas.openxmlformats.org/drawingml/2006/main">
              <a:ext uri="{FF2B5EF4-FFF2-40B4-BE49-F238E27FC236}">
                <a16:creationId xmlns:a16="http://schemas.microsoft.com/office/drawing/2014/main" id="{2740E50F-63C0-4EBD-9A31-25E2B549479C}"/>
              </a:ext>
            </a:extLst>
          </p:cNvPr>
          <p:cNvSpPr>
            <a:spLocks xmlns:a="http://schemas.openxmlformats.org/drawingml/2006/main" noGrp="1"/>
          </p:cNvSpPr>
          <p:nvPr/>
        </p:nvSpPr>
        <p:spPr>
          <a:xfrm xmlns:a="http://schemas.openxmlformats.org/drawingml/2006/main">
            <a:off x="4324350" y="22479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4F3777A7-31D1-4099-B88A-DB302388D1E6}"/>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0" name="">
            <a:extLst xmlns:a="http://schemas.openxmlformats.org/drawingml/2006/main">
              <a:ext uri="{FF2B5EF4-FFF2-40B4-BE49-F238E27FC236}">
                <a16:creationId xmlns:a16="http://schemas.microsoft.com/office/drawing/2014/main" id="{95613046-8162-42B1-9720-D52A9B97D6E4}"/>
              </a:ext>
            </a:extLst>
          </p:cNvPr>
          <p:cNvSpPr>
            <a:spLocks xmlns:a="http://schemas.openxmlformats.org/drawingml/2006/main" noGrp="1"/>
          </p:cNvSpPr>
          <p:nvPr/>
        </p:nvSpPr>
        <p:spPr>
          <a:xfrm xmlns:a="http://schemas.openxmlformats.org/drawingml/2006/main">
            <a:off x="80391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065F9641-FFE4-4346-8D94-1E627721C383}"/>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2" name="">
            <a:extLst xmlns:a="http://schemas.openxmlformats.org/drawingml/2006/main">
              <a:ext uri="{FF2B5EF4-FFF2-40B4-BE49-F238E27FC236}">
                <a16:creationId xmlns:a16="http://schemas.microsoft.com/office/drawing/2014/main" id="{87810C45-D993-4738-9986-7CC10E101D6B}"/>
              </a:ext>
            </a:extLst>
          </p:cNvPr>
          <p:cNvSpPr>
            <a:spLocks xmlns:a="http://schemas.openxmlformats.org/drawingml/2006/main" noGrp="1"/>
          </p:cNvSpPr>
          <p:nvPr/>
        </p:nvSpPr>
        <p:spPr>
          <a:xfrm xmlns:a="http://schemas.openxmlformats.org/drawingml/2006/main">
            <a:off x="6096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3873D63E-6E61-4F4C-B3AB-E8B2137A01D0}"/>
              </a:ext>
            </a:extLst>
          </p:cNvPr>
          <p:cNvSpPr>
            <a:spLocks xmlns:a="http://schemas.openxmlformats.org/drawingml/2006/main" noGrp="1"/>
          </p:cNvSpPr>
          <p:nvPr/>
        </p:nvSpPr>
        <p:spPr>
          <a:xfrm xmlns:a="http://schemas.openxmlformats.org/drawingml/2006/main">
            <a:off x="7810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4" name="">
            <a:extLst xmlns:a="http://schemas.openxmlformats.org/drawingml/2006/main">
              <a:ext uri="{FF2B5EF4-FFF2-40B4-BE49-F238E27FC236}">
                <a16:creationId xmlns:a16="http://schemas.microsoft.com/office/drawing/2014/main" id="{F50B5748-CB73-458C-8DDC-51AA51E49EB0}"/>
              </a:ext>
            </a:extLst>
          </p:cNvPr>
          <p:cNvSpPr>
            <a:spLocks xmlns:a="http://schemas.openxmlformats.org/drawingml/2006/main" noGrp="1"/>
          </p:cNvSpPr>
          <p:nvPr/>
        </p:nvSpPr>
        <p:spPr>
          <a:xfrm xmlns:a="http://schemas.openxmlformats.org/drawingml/2006/main">
            <a:off x="4324350" y="34290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D0DE0F3D-6CEC-432D-919E-E7ADBC908E6D}"/>
              </a:ext>
            </a:extLst>
          </p:cNvPr>
          <p:cNvSpPr>
            <a:spLocks xmlns:a="http://schemas.openxmlformats.org/drawingml/2006/main" noGrp="1"/>
          </p:cNvSpPr>
          <p:nvPr/>
        </p:nvSpPr>
        <p:spPr>
          <a:xfrm xmlns:a="http://schemas.openxmlformats.org/drawingml/2006/main">
            <a:off x="449580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6" name="">
            <a:extLst xmlns:a="http://schemas.openxmlformats.org/drawingml/2006/main">
              <a:ext uri="{FF2B5EF4-FFF2-40B4-BE49-F238E27FC236}">
                <a16:creationId xmlns:a16="http://schemas.microsoft.com/office/drawing/2014/main" id="{2EECC073-FD77-4479-9B1F-9151FEC76AC3}"/>
              </a:ext>
            </a:extLst>
          </p:cNvPr>
          <p:cNvSpPr>
            <a:spLocks xmlns:a="http://schemas.openxmlformats.org/drawingml/2006/main" noGrp="1"/>
          </p:cNvSpPr>
          <p:nvPr/>
        </p:nvSpPr>
        <p:spPr>
          <a:xfrm xmlns:a="http://schemas.openxmlformats.org/drawingml/2006/main">
            <a:off x="80391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53DC60A8-1B20-47F3-909E-D9A03E85A686}"/>
              </a:ext>
            </a:extLst>
          </p:cNvPr>
          <p:cNvSpPr>
            <a:spLocks xmlns:a="http://schemas.openxmlformats.org/drawingml/2006/main" noGrp="1"/>
          </p:cNvSpPr>
          <p:nvPr/>
        </p:nvSpPr>
        <p:spPr>
          <a:xfrm xmlns:a="http://schemas.openxmlformats.org/drawingml/2006/main">
            <a:off x="82105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18" name="">
            <a:extLst xmlns:a="http://schemas.openxmlformats.org/drawingml/2006/main">
              <a:ext uri="{FF2B5EF4-FFF2-40B4-BE49-F238E27FC236}">
                <a16:creationId xmlns:a16="http://schemas.microsoft.com/office/drawing/2014/main" id="{BAB92988-7805-4AD3-A9B1-B65B0ED8A3AA}"/>
              </a:ext>
            </a:extLst>
          </p:cNvPr>
          <p:cNvSpPr>
            <a:spLocks xmlns:a="http://schemas.openxmlformats.org/drawingml/2006/main" noGrp="1"/>
          </p:cNvSpPr>
          <p:nvPr/>
        </p:nvSpPr>
        <p:spPr>
          <a:xfrm xmlns:a="http://schemas.openxmlformats.org/drawingml/2006/main">
            <a:off x="6096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55CDF672-AD95-4BA4-94C8-6F5481B6E7FE}"/>
              </a:ext>
            </a:extLst>
          </p:cNvPr>
          <p:cNvSpPr>
            <a:spLocks xmlns:a="http://schemas.openxmlformats.org/drawingml/2006/main" noGrp="1"/>
          </p:cNvSpPr>
          <p:nvPr/>
        </p:nvSpPr>
        <p:spPr>
          <a:xfrm xmlns:a="http://schemas.openxmlformats.org/drawingml/2006/main">
            <a:off x="7810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20" name="">
            <a:extLst xmlns:a="http://schemas.openxmlformats.org/drawingml/2006/main">
              <a:ext uri="{FF2B5EF4-FFF2-40B4-BE49-F238E27FC236}">
                <a16:creationId xmlns:a16="http://schemas.microsoft.com/office/drawing/2014/main" id="{73265034-BC78-4D3C-8710-69399E48920C}"/>
              </a:ext>
            </a:extLst>
          </p:cNvPr>
          <p:cNvSpPr>
            <a:spLocks xmlns:a="http://schemas.openxmlformats.org/drawingml/2006/main" noGrp="1"/>
          </p:cNvSpPr>
          <p:nvPr/>
        </p:nvSpPr>
        <p:spPr>
          <a:xfrm xmlns:a="http://schemas.openxmlformats.org/drawingml/2006/main">
            <a:off x="4324350" y="46101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1" name="">
            <a:extLst xmlns:a="http://schemas.openxmlformats.org/drawingml/2006/main">
              <a:ext uri="{FF2B5EF4-FFF2-40B4-BE49-F238E27FC236}">
                <a16:creationId xmlns:a16="http://schemas.microsoft.com/office/drawing/2014/main" id="{DCA6FCEF-7B6C-4B7C-A745-896629006BBC}"/>
              </a:ext>
            </a:extLst>
          </p:cNvPr>
          <p:cNvSpPr>
            <a:spLocks xmlns:a="http://schemas.openxmlformats.org/drawingml/2006/main" noGrp="1"/>
          </p:cNvSpPr>
          <p:nvPr/>
        </p:nvSpPr>
        <p:spPr>
          <a:xfrm xmlns:a="http://schemas.openxmlformats.org/drawingml/2006/main">
            <a:off x="449580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22" name="">
            <a:extLst xmlns:a="http://schemas.openxmlformats.org/drawingml/2006/main">
              <a:ext uri="{FF2B5EF4-FFF2-40B4-BE49-F238E27FC236}">
                <a16:creationId xmlns:a16="http://schemas.microsoft.com/office/drawing/2014/main" id="{4F4ABE5A-E6FF-4F02-B5EF-F9B2C66B985A}"/>
              </a:ext>
            </a:extLst>
          </p:cNvPr>
          <p:cNvSpPr>
            <a:spLocks xmlns:a="http://schemas.openxmlformats.org/drawingml/2006/main" noGrp="1"/>
          </p:cNvSpPr>
          <p:nvPr/>
        </p:nvSpPr>
        <p:spPr>
          <a:xfrm xmlns:a="http://schemas.openxmlformats.org/drawingml/2006/main">
            <a:off x="80391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3" name="">
            <a:extLst xmlns:a="http://schemas.openxmlformats.org/drawingml/2006/main">
              <a:ext uri="{FF2B5EF4-FFF2-40B4-BE49-F238E27FC236}">
                <a16:creationId xmlns:a16="http://schemas.microsoft.com/office/drawing/2014/main" id="{E34C5A12-4023-467A-B3CF-ED9DD2C6DB8F}"/>
              </a:ext>
            </a:extLst>
          </p:cNvPr>
          <p:cNvSpPr>
            <a:spLocks xmlns:a="http://schemas.openxmlformats.org/drawingml/2006/main" noGrp="1"/>
          </p:cNvSpPr>
          <p:nvPr/>
        </p:nvSpPr>
        <p:spPr>
          <a:xfrm xmlns:a="http://schemas.openxmlformats.org/drawingml/2006/main">
            <a:off x="82105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[Topic heading]</a:t>
            </a:r>
          </a:p>
        </p:txBody>
      </p:sp>
      <p:sp>
        <p:nvSpPr>
          <p:cNvPr id="24" name="">
            <a:extLst xmlns:a="http://schemas.openxmlformats.org/drawingml/2006/main">
              <a:ext uri="{FF2B5EF4-FFF2-40B4-BE49-F238E27FC236}">
                <a16:creationId xmlns:a16="http://schemas.microsoft.com/office/drawing/2014/main" id="{4D421066-81D4-4C28-9CB2-9619D7B90484}"/>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6AD3466-B870-474C-82CC-FBD406E71A77}"/>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F28047AB-F393-4A50-896D-62F0E9394E88}"/>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8" name="source-credit">
            <a:extLst xmlns:a="http://schemas.openxmlformats.org/drawingml/2006/main">
              <a:ext uri="{FF2B5EF4-FFF2-40B4-BE49-F238E27FC236}">
                <a16:creationId xmlns:a16="http://schemas.microsoft.com/office/drawing/2014/main" id="{9FECFCF5-F32A-48E2-86C6-79E302BED75F}"/>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351a0a6b03e74e65"/>
              </a:rPr>
              <a:t>Jenny Campbell — published classroom example, Collins — original guidance</a:t>
            </a:r>
          </a:p>
        </p:txBody>
      </p:sp>
    </p:spTree>
    <p:extLst>
      <p:ext uri="{BB962C8B-B14F-4D97-AF65-F5344CB8AC3E}">
        <p14:creationId xmlns:p14="http://schemas.microsoft.com/office/powerpoint/2010/main" val="649104161"/>
      </p:ext>
    </p:extLst>
  </p:cSld>
</p:sld>
</file>

<file path=ppt/slides/slide26.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571EB6-2B0C-42A4-8AB5-D182599288EE}"/>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Recall, sort and explain</a:t>
            </a:r>
          </a:p>
        </p:txBody>
      </p:sp>
      <p:sp>
        <p:nvSpPr>
          <p:cNvPr id="2" name="">
            <a:extLst xmlns:a="http://schemas.openxmlformats.org/drawingml/2006/main">
              <a:ext uri="{FF2B5EF4-FFF2-40B4-BE49-F238E27FC236}">
                <a16:creationId xmlns:a16="http://schemas.microsoft.com/office/drawing/2014/main" id="{2B7CD20A-8946-47CF-8168-B430FA8E3706}"/>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E2F4EA7F-BFDF-4E75-A89E-61D11003B1AC}"/>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9A71108-E5EC-4F7D-BD67-FAAC8A223305}"/>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45BDDB1B-4670-4B38-A2DB-E57A63076535}"/>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ED6726CB-2174-4B57-9202-9644E06EFECF}"/>
              </a:ext>
            </a:extLst>
          </p:cNvPr>
          <p:cNvSpPr>
            <a:spLocks xmlns:a="http://schemas.openxmlformats.org/drawingml/2006/main" noGrp="1"/>
          </p:cNvSpPr>
          <p:nvPr/>
        </p:nvSpPr>
        <p:spPr>
          <a:xfrm xmlns:a="http://schemas.openxmlformats.org/drawingml/2006/main">
            <a:off x="6096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4718E350-6ACF-41F8-9EBA-7AB55297AD99}"/>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[Category one]</a:t>
            </a:r>
          </a:p>
        </p:txBody>
      </p:sp>
      <p:sp>
        <p:nvSpPr>
          <p:cNvPr id="8" name="">
            <a:extLst xmlns:a="http://schemas.openxmlformats.org/drawingml/2006/main">
              <a:ext uri="{FF2B5EF4-FFF2-40B4-BE49-F238E27FC236}">
                <a16:creationId xmlns:a16="http://schemas.microsoft.com/office/drawing/2014/main" id="{01C11709-8658-4AE7-AB74-D1CA2C8907B8}"/>
              </a:ext>
            </a:extLst>
          </p:cNvPr>
          <p:cNvSpPr>
            <a:spLocks xmlns:a="http://schemas.openxmlformats.org/drawingml/2006/main" noGrp="1"/>
          </p:cNvSpPr>
          <p:nvPr/>
        </p:nvSpPr>
        <p:spPr>
          <a:xfrm xmlns:a="http://schemas.openxmlformats.org/drawingml/2006/main">
            <a:off x="7810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BC106546-5244-4537-8621-2604B0BF8C42}"/>
              </a:ext>
            </a:extLst>
          </p:cNvPr>
          <p:cNvSpPr>
            <a:spLocks xmlns:a="http://schemas.openxmlformats.org/drawingml/2006/main" noGrp="1"/>
          </p:cNvSpPr>
          <p:nvPr/>
        </p:nvSpPr>
        <p:spPr>
          <a:xfrm xmlns:a="http://schemas.openxmlformats.org/drawingml/2006/main">
            <a:off x="4324350" y="2247900"/>
            <a:ext cx="3543300"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A8FBEB5F-3724-4B05-A590-246D13F6F134}"/>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[Category two]</a:t>
            </a:r>
          </a:p>
        </p:txBody>
      </p:sp>
      <p:sp>
        <p:nvSpPr>
          <p:cNvPr id="11" name="">
            <a:extLst xmlns:a="http://schemas.openxmlformats.org/drawingml/2006/main">
              <a:ext uri="{FF2B5EF4-FFF2-40B4-BE49-F238E27FC236}">
                <a16:creationId xmlns:a16="http://schemas.microsoft.com/office/drawing/2014/main" id="{83620545-4CB3-4C69-A0ED-F8CFEA1F1336}"/>
              </a:ext>
            </a:extLst>
          </p:cNvPr>
          <p:cNvSpPr>
            <a:spLocks xmlns:a="http://schemas.openxmlformats.org/drawingml/2006/main" noGrp="1"/>
          </p:cNvSpPr>
          <p:nvPr/>
        </p:nvSpPr>
        <p:spPr>
          <a:xfrm xmlns:a="http://schemas.openxmlformats.org/drawingml/2006/main">
            <a:off x="449580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DE259855-7D45-45B2-BB5F-1C1D9F4AA450}"/>
              </a:ext>
            </a:extLst>
          </p:cNvPr>
          <p:cNvSpPr>
            <a:spLocks xmlns:a="http://schemas.openxmlformats.org/drawingml/2006/main" noGrp="1"/>
          </p:cNvSpPr>
          <p:nvPr/>
        </p:nvSpPr>
        <p:spPr>
          <a:xfrm xmlns:a="http://schemas.openxmlformats.org/drawingml/2006/main">
            <a:off x="80391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9CF93610-3BBA-49CF-9042-87F62929CE9C}"/>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[Category three]</a:t>
            </a:r>
          </a:p>
        </p:txBody>
      </p:sp>
      <p:sp>
        <p:nvSpPr>
          <p:cNvPr id="14" name="">
            <a:extLst xmlns:a="http://schemas.openxmlformats.org/drawingml/2006/main">
              <a:ext uri="{FF2B5EF4-FFF2-40B4-BE49-F238E27FC236}">
                <a16:creationId xmlns:a16="http://schemas.microsoft.com/office/drawing/2014/main" id="{F32B9246-95E0-4591-9606-FB6FAF8C4F4F}"/>
              </a:ext>
            </a:extLst>
          </p:cNvPr>
          <p:cNvSpPr>
            <a:spLocks xmlns:a="http://schemas.openxmlformats.org/drawingml/2006/main" noGrp="1"/>
          </p:cNvSpPr>
          <p:nvPr/>
        </p:nvSpPr>
        <p:spPr>
          <a:xfrm xmlns:a="http://schemas.openxmlformats.org/drawingml/2006/main">
            <a:off x="82105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2D268861-E1C4-49E0-B67D-6BC68C9C849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A05A414-09A8-45B3-9856-886E0D6E141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7" name="">
            <a:extLst xmlns:a="http://schemas.openxmlformats.org/drawingml/2006/main">
              <a:ext uri="{FF2B5EF4-FFF2-40B4-BE49-F238E27FC236}">
                <a16:creationId xmlns:a16="http://schemas.microsoft.com/office/drawing/2014/main" id="{C6AD9C3C-3386-41D7-94FE-9852CA9D831F}"/>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9" name="source-credit">
            <a:extLst xmlns:a="http://schemas.openxmlformats.org/drawingml/2006/main">
              <a:ext uri="{FF2B5EF4-FFF2-40B4-BE49-F238E27FC236}">
                <a16:creationId xmlns:a16="http://schemas.microsoft.com/office/drawing/2014/main" id="{30958F53-4E65-4CC9-803F-9B576625BA18}"/>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5b41c9be2470436a"/>
              </a:rPr>
              <a:t>Aidan Severs — classroom guidance — original guidance</a:t>
            </a:r>
          </a:p>
        </p:txBody>
      </p:sp>
    </p:spTree>
    <p:extLst>
      <p:ext uri="{BB962C8B-B14F-4D97-AF65-F5344CB8AC3E}">
        <p14:creationId xmlns:p14="http://schemas.microsoft.com/office/powerpoint/2010/main" val="1564987495"/>
      </p:ext>
    </p:extLst>
  </p:cSld>
</p:sld>
</file>

<file path=ppt/slides/slide2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18E9EC-16FE-432F-81D5-59978DB6520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Loop-card retrieval</a:t>
            </a:r>
          </a:p>
        </p:txBody>
      </p:sp>
      <p:sp>
        <p:nvSpPr>
          <p:cNvPr id="2" name="">
            <a:extLst xmlns:a="http://schemas.openxmlformats.org/drawingml/2006/main">
              <a:ext uri="{FF2B5EF4-FFF2-40B4-BE49-F238E27FC236}">
                <a16:creationId xmlns:a16="http://schemas.microsoft.com/office/drawing/2014/main" id="{2C3B2FD2-05C7-4F72-B1EF-DAC1C839F547}"/>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8C26B8B3-50E7-417D-9466-625E49DC504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D3DCF0C-1AB3-4CF7-8DBA-5F909878858D}"/>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8E338665-8D3D-49FE-A98C-CE599E304508}"/>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046C8FAC-5C29-4EC5-BF61-849CF34B62A8}"/>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B7B414BF-5FF6-4C82-92F0-9D230D36466F}"/>
              </a:ext>
            </a:extLst>
          </p:cNvPr>
          <p:cNvSpPr>
            <a:spLocks xmlns:a="http://schemas.openxmlformats.org/drawingml/2006/main" noGrp="1"/>
          </p:cNvSpPr>
          <p:nvPr/>
        </p:nvSpPr>
        <p:spPr>
          <a:xfrm xmlns:a="http://schemas.openxmlformats.org/drawingml/2006/main">
            <a:off x="781050"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1</a:t>
            </a:r>
          </a:p>
        </p:txBody>
      </p:sp>
      <p:sp>
        <p:nvSpPr>
          <p:cNvPr id="8" name="">
            <a:extLst xmlns:a="http://schemas.openxmlformats.org/drawingml/2006/main">
              <a:ext uri="{FF2B5EF4-FFF2-40B4-BE49-F238E27FC236}">
                <a16:creationId xmlns:a16="http://schemas.microsoft.com/office/drawing/2014/main" id="{5575C679-D585-440F-AEFA-462F17E240F1}"/>
              </a:ext>
            </a:extLst>
          </p:cNvPr>
          <p:cNvSpPr>
            <a:spLocks xmlns:a="http://schemas.openxmlformats.org/drawingml/2006/main" noGrp="1"/>
          </p:cNvSpPr>
          <p:nvPr/>
        </p:nvSpPr>
        <p:spPr>
          <a:xfrm xmlns:a="http://schemas.openxmlformats.org/drawingml/2006/main">
            <a:off x="781050"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9" name="">
            <a:extLst xmlns:a="http://schemas.openxmlformats.org/drawingml/2006/main">
              <a:ext uri="{FF2B5EF4-FFF2-40B4-BE49-F238E27FC236}">
                <a16:creationId xmlns:a16="http://schemas.microsoft.com/office/drawing/2014/main" id="{EFD68987-0C13-4462-BA67-3425AC5159D2}"/>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E8937408-DB6D-4CA3-B1F5-D125F4A286DE}"/>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2</a:t>
            </a:r>
          </a:p>
        </p:txBody>
      </p:sp>
      <p:sp>
        <p:nvSpPr>
          <p:cNvPr id="11" name="">
            <a:extLst xmlns:a="http://schemas.openxmlformats.org/drawingml/2006/main">
              <a:ext uri="{FF2B5EF4-FFF2-40B4-BE49-F238E27FC236}">
                <a16:creationId xmlns:a16="http://schemas.microsoft.com/office/drawing/2014/main" id="{A59F0F86-598C-4AE0-AA29-77AAE9BAAFBC}"/>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12" name="">
            <a:extLst xmlns:a="http://schemas.openxmlformats.org/drawingml/2006/main">
              <a:ext uri="{FF2B5EF4-FFF2-40B4-BE49-F238E27FC236}">
                <a16:creationId xmlns:a16="http://schemas.microsoft.com/office/drawing/2014/main" id="{3C9F1F7A-72B2-4839-905A-CAEDBDA0BF8F}"/>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C3257B76-7292-46CF-A476-6FC6CE7B7E99}"/>
              </a:ext>
            </a:extLst>
          </p:cNvPr>
          <p:cNvSpPr>
            <a:spLocks xmlns:a="http://schemas.openxmlformats.org/drawingml/2006/main" noGrp="1"/>
          </p:cNvSpPr>
          <p:nvPr/>
        </p:nvSpPr>
        <p:spPr>
          <a:xfrm xmlns:a="http://schemas.openxmlformats.org/drawingml/2006/main">
            <a:off x="781050"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3</a:t>
            </a:r>
          </a:p>
        </p:txBody>
      </p:sp>
      <p:sp>
        <p:nvSpPr>
          <p:cNvPr id="14" name="">
            <a:extLst xmlns:a="http://schemas.openxmlformats.org/drawingml/2006/main">
              <a:ext uri="{FF2B5EF4-FFF2-40B4-BE49-F238E27FC236}">
                <a16:creationId xmlns:a16="http://schemas.microsoft.com/office/drawing/2014/main" id="{0CB7F065-4FDA-4D3F-BE46-8D3F8D1EB5C5}"/>
              </a:ext>
            </a:extLst>
          </p:cNvPr>
          <p:cNvSpPr>
            <a:spLocks xmlns:a="http://schemas.openxmlformats.org/drawingml/2006/main" noGrp="1"/>
          </p:cNvSpPr>
          <p:nvPr/>
        </p:nvSpPr>
        <p:spPr>
          <a:xfrm xmlns:a="http://schemas.openxmlformats.org/drawingml/2006/main">
            <a:off x="781050"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15" name="">
            <a:extLst xmlns:a="http://schemas.openxmlformats.org/drawingml/2006/main">
              <a:ext uri="{FF2B5EF4-FFF2-40B4-BE49-F238E27FC236}">
                <a16:creationId xmlns:a16="http://schemas.microsoft.com/office/drawing/2014/main" id="{5FE44300-041D-4AC8-8F87-E867492A95D0}"/>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02FEDDF0-76B9-4235-AD48-5B080FEBC385}"/>
              </a:ext>
            </a:extLst>
          </p:cNvPr>
          <p:cNvSpPr>
            <a:spLocks xmlns:a="http://schemas.openxmlformats.org/drawingml/2006/main" noGrp="1"/>
          </p:cNvSpPr>
          <p:nvPr/>
        </p:nvSpPr>
        <p:spPr>
          <a:xfrm xmlns:a="http://schemas.openxmlformats.org/drawingml/2006/main">
            <a:off x="6353175"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4</a:t>
            </a:r>
          </a:p>
        </p:txBody>
      </p:sp>
      <p:sp>
        <p:nvSpPr>
          <p:cNvPr id="17" name="">
            <a:extLst xmlns:a="http://schemas.openxmlformats.org/drawingml/2006/main">
              <a:ext uri="{FF2B5EF4-FFF2-40B4-BE49-F238E27FC236}">
                <a16:creationId xmlns:a16="http://schemas.microsoft.com/office/drawing/2014/main" id="{CFF2077C-2E40-4AB0-9548-58D653EC9964}"/>
              </a:ext>
            </a:extLst>
          </p:cNvPr>
          <p:cNvSpPr>
            <a:spLocks xmlns:a="http://schemas.openxmlformats.org/drawingml/2006/main" noGrp="1"/>
          </p:cNvSpPr>
          <p:nvPr/>
        </p:nvSpPr>
        <p:spPr>
          <a:xfrm xmlns:a="http://schemas.openxmlformats.org/drawingml/2006/main">
            <a:off x="6353175"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Answer to previous card [Your answer]</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New question [Your question]</a:t>
            </a:r>
          </a:p>
        </p:txBody>
      </p:sp>
      <p:sp>
        <p:nvSpPr>
          <p:cNvPr id="18" name="">
            <a:extLst xmlns:a="http://schemas.openxmlformats.org/drawingml/2006/main">
              <a:ext uri="{FF2B5EF4-FFF2-40B4-BE49-F238E27FC236}">
                <a16:creationId xmlns:a16="http://schemas.microsoft.com/office/drawing/2014/main" id="{E07CED2A-2EE5-46B9-98FC-A1868A8E813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E737EF9-11AC-4A09-8E8B-56064947C922}"/>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4041AA04-E62A-459C-94BA-A86E127973E0}"/>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75228D9B-2130-49D0-BDA8-090EECA5F070}"/>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05cd21f06cef41c1"/>
              </a:rPr>
              <a:t>Aidan Severs — classroom guidance — original guidance</a:t>
            </a:r>
          </a:p>
        </p:txBody>
      </p:sp>
    </p:spTree>
    <p:extLst>
      <p:ext uri="{BB962C8B-B14F-4D97-AF65-F5344CB8AC3E}">
        <p14:creationId xmlns:p14="http://schemas.microsoft.com/office/powerpoint/2010/main" val="358854108"/>
      </p:ext>
    </p:extLst>
  </p:cSld>
</p:sld>
</file>

<file path=ppt/slides/slide28.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49E93D3-B36B-4482-9BC6-320A6D72CCF6}"/>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Inkshedding</a:t>
            </a:r>
          </a:p>
        </p:txBody>
      </p:sp>
      <p:sp>
        <p:nvSpPr>
          <p:cNvPr id="2" name="">
            <a:extLst xmlns:a="http://schemas.openxmlformats.org/drawingml/2006/main">
              <a:ext uri="{FF2B5EF4-FFF2-40B4-BE49-F238E27FC236}">
                <a16:creationId xmlns:a16="http://schemas.microsoft.com/office/drawing/2014/main" id="{56DD3C99-BBF0-4636-B8EE-ED47FE87F32E}"/>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FC1953DF-F3B0-48AC-BC7C-C653CB685862}"/>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2EB201B-BF35-40D1-9D14-B5519963B8D9}"/>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DE6B4AC0-54C6-4928-A69A-4EF87C127B6E}"/>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71C1FCB5-0C57-4C6A-A774-F6E23317E84E}"/>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AD7A7783-A662-4620-B96B-1609E652CD6E}"/>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first recall</a:t>
            </a:r>
          </a:p>
        </p:txBody>
      </p:sp>
      <p:sp>
        <p:nvSpPr>
          <p:cNvPr id="8" name="">
            <a:extLst xmlns:a="http://schemas.openxmlformats.org/drawingml/2006/main">
              <a:ext uri="{FF2B5EF4-FFF2-40B4-BE49-F238E27FC236}">
                <a16:creationId xmlns:a16="http://schemas.microsoft.com/office/drawing/2014/main" id="{10C93438-05DD-446C-8EF2-C1E575E18EF2}"/>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93D4B58E-DA7A-4AD2-A66B-FF982541ADE8}"/>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Partner response</a:t>
            </a:r>
          </a:p>
        </p:txBody>
      </p:sp>
      <p:sp>
        <p:nvSpPr>
          <p:cNvPr id="10" name="">
            <a:extLst xmlns:a="http://schemas.openxmlformats.org/drawingml/2006/main">
              <a:ext uri="{FF2B5EF4-FFF2-40B4-BE49-F238E27FC236}">
                <a16:creationId xmlns:a16="http://schemas.microsoft.com/office/drawing/2014/main" id="{819E4E68-E031-4F77-A1CB-462A84692170}"/>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12BF2CCC-AACD-40FA-943E-46CB2FFD6F7A}"/>
              </a:ext>
            </a:extLst>
          </p:cNvPr>
          <p:cNvSpPr>
            <a:spLocks xmlns:a="http://schemas.openxmlformats.org/drawingml/2006/main" noGrp="1"/>
          </p:cNvSpPr>
          <p:nvPr/>
        </p:nvSpPr>
        <p:spPr>
          <a:xfrm xmlns:a="http://schemas.openxmlformats.org/drawingml/2006/main">
            <a:off x="781050" y="47434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corrections after checking</a:t>
            </a:r>
          </a:p>
        </p:txBody>
      </p:sp>
      <p:sp>
        <p:nvSpPr>
          <p:cNvPr id="12" name="">
            <a:extLst xmlns:a="http://schemas.openxmlformats.org/drawingml/2006/main">
              <a:ext uri="{FF2B5EF4-FFF2-40B4-BE49-F238E27FC236}">
                <a16:creationId xmlns:a16="http://schemas.microsoft.com/office/drawing/2014/main" id="{64881731-10DB-4ECA-9906-34BE6EF24BC3}"/>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53BEAE9-0EE9-4E0C-A5BC-33AE80D1931F}"/>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09B1EBA1-D37F-4B4B-A289-AC92553A3BE7}"/>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F36ED3B2-C372-4A05-ADB6-E9DF46B766E2}"/>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8c19c218c5e94889"/>
              </a:rPr>
              <a:t>Lindsey Albracht, Baruch College — teaching guide — original guidance</a:t>
            </a:r>
          </a:p>
        </p:txBody>
      </p:sp>
    </p:spTree>
    <p:extLst>
      <p:ext uri="{BB962C8B-B14F-4D97-AF65-F5344CB8AC3E}">
        <p14:creationId xmlns:p14="http://schemas.microsoft.com/office/powerpoint/2010/main" val="1808812615"/>
      </p:ext>
    </p:extLst>
  </p:cSld>
</p:sld>
</file>

<file path=ppt/slides/slide29.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FDAEBF3-E2B8-4DBB-8F9A-E752DD459E44}"/>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Memory storyboard</a:t>
            </a:r>
          </a:p>
        </p:txBody>
      </p:sp>
      <p:sp>
        <p:nvSpPr>
          <p:cNvPr id="2" name="">
            <a:extLst xmlns:a="http://schemas.openxmlformats.org/drawingml/2006/main">
              <a:ext uri="{FF2B5EF4-FFF2-40B4-BE49-F238E27FC236}">
                <a16:creationId xmlns:a16="http://schemas.microsoft.com/office/drawing/2014/main" id="{7E6C0A82-EB47-43A7-B55D-124193997D4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8C3D2E0E-21F1-4833-BFFC-899F0EA06BF1}"/>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44F2B5-4712-4AF0-A8EE-684E7A5C6CF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98DA5B21-A306-48C7-886F-6413A20BF377}"/>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90C14118-184F-420E-BA4E-4D5B1453432B}"/>
              </a:ext>
            </a:extLst>
          </p:cNvPr>
          <p:cNvSpPr>
            <a:spLocks xmlns:a="http://schemas.openxmlformats.org/drawingml/2006/main" noGrp="1"/>
          </p:cNvSpPr>
          <p:nvPr/>
        </p:nvSpPr>
        <p:spPr>
          <a:xfrm xmlns:a="http://schemas.openxmlformats.org/drawingml/2006/main">
            <a:off x="6096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AAA78E30-94A7-4C2B-A064-6D943D8AA87D}"/>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1  Sketch and caption</a:t>
            </a:r>
          </a:p>
        </p:txBody>
      </p:sp>
      <p:sp>
        <p:nvSpPr>
          <p:cNvPr id="8" name="">
            <a:extLst xmlns:a="http://schemas.openxmlformats.org/drawingml/2006/main">
              <a:ext uri="{FF2B5EF4-FFF2-40B4-BE49-F238E27FC236}">
                <a16:creationId xmlns:a16="http://schemas.microsoft.com/office/drawing/2014/main" id="{B3BDF749-D5EA-4D3B-B466-91E10ABBA400}"/>
              </a:ext>
            </a:extLst>
          </p:cNvPr>
          <p:cNvSpPr>
            <a:spLocks xmlns:a="http://schemas.openxmlformats.org/drawingml/2006/main" noGrp="1"/>
          </p:cNvSpPr>
          <p:nvPr/>
        </p:nvSpPr>
        <p:spPr>
          <a:xfrm xmlns:a="http://schemas.openxmlformats.org/drawingml/2006/main">
            <a:off x="781050" y="285750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9" name="">
            <a:extLst xmlns:a="http://schemas.openxmlformats.org/drawingml/2006/main">
              <a:ext uri="{FF2B5EF4-FFF2-40B4-BE49-F238E27FC236}">
                <a16:creationId xmlns:a16="http://schemas.microsoft.com/office/drawing/2014/main" id="{2D649CBE-D635-4DB5-B7C1-4E1083E18A66}"/>
              </a:ext>
            </a:extLst>
          </p:cNvPr>
          <p:cNvSpPr>
            <a:spLocks xmlns:a="http://schemas.openxmlformats.org/drawingml/2006/main" noGrp="1"/>
          </p:cNvSpPr>
          <p:nvPr/>
        </p:nvSpPr>
        <p:spPr>
          <a:xfrm xmlns:a="http://schemas.openxmlformats.org/drawingml/2006/main">
            <a:off x="4324350" y="224790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5E5855FA-DD62-442A-93EE-AE7F4A102A82}"/>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2  Sketch and caption</a:t>
            </a:r>
          </a:p>
        </p:txBody>
      </p:sp>
      <p:sp>
        <p:nvSpPr>
          <p:cNvPr id="11" name="">
            <a:extLst xmlns:a="http://schemas.openxmlformats.org/drawingml/2006/main">
              <a:ext uri="{FF2B5EF4-FFF2-40B4-BE49-F238E27FC236}">
                <a16:creationId xmlns:a16="http://schemas.microsoft.com/office/drawing/2014/main" id="{D8A889F5-9816-4FE9-8DA9-8E2D78A8276B}"/>
              </a:ext>
            </a:extLst>
          </p:cNvPr>
          <p:cNvSpPr>
            <a:spLocks xmlns:a="http://schemas.openxmlformats.org/drawingml/2006/main" noGrp="1"/>
          </p:cNvSpPr>
          <p:nvPr/>
        </p:nvSpPr>
        <p:spPr>
          <a:xfrm xmlns:a="http://schemas.openxmlformats.org/drawingml/2006/main">
            <a:off x="4495800" y="285750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12" name="">
            <a:extLst xmlns:a="http://schemas.openxmlformats.org/drawingml/2006/main">
              <a:ext uri="{FF2B5EF4-FFF2-40B4-BE49-F238E27FC236}">
                <a16:creationId xmlns:a16="http://schemas.microsoft.com/office/drawing/2014/main" id="{12C90434-3E84-4254-B28C-C091C16F1449}"/>
              </a:ext>
            </a:extLst>
          </p:cNvPr>
          <p:cNvSpPr>
            <a:spLocks xmlns:a="http://schemas.openxmlformats.org/drawingml/2006/main" noGrp="1"/>
          </p:cNvSpPr>
          <p:nvPr/>
        </p:nvSpPr>
        <p:spPr>
          <a:xfrm xmlns:a="http://schemas.openxmlformats.org/drawingml/2006/main">
            <a:off x="80391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C9B95231-47BD-4647-90B3-0C317C4FC76C}"/>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3  Sketch and caption</a:t>
            </a:r>
          </a:p>
        </p:txBody>
      </p:sp>
      <p:sp>
        <p:nvSpPr>
          <p:cNvPr id="14" name="">
            <a:extLst xmlns:a="http://schemas.openxmlformats.org/drawingml/2006/main">
              <a:ext uri="{FF2B5EF4-FFF2-40B4-BE49-F238E27FC236}">
                <a16:creationId xmlns:a16="http://schemas.microsoft.com/office/drawing/2014/main" id="{E84AE6B7-BB48-4CF0-A32C-96A980829404}"/>
              </a:ext>
            </a:extLst>
          </p:cNvPr>
          <p:cNvSpPr>
            <a:spLocks xmlns:a="http://schemas.openxmlformats.org/drawingml/2006/main" noGrp="1"/>
          </p:cNvSpPr>
          <p:nvPr/>
        </p:nvSpPr>
        <p:spPr>
          <a:xfrm xmlns:a="http://schemas.openxmlformats.org/drawingml/2006/main">
            <a:off x="8210550" y="285750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15" name="">
            <a:extLst xmlns:a="http://schemas.openxmlformats.org/drawingml/2006/main">
              <a:ext uri="{FF2B5EF4-FFF2-40B4-BE49-F238E27FC236}">
                <a16:creationId xmlns:a16="http://schemas.microsoft.com/office/drawing/2014/main" id="{4EE8FF0B-51C5-4D08-B7CD-50E5284AB114}"/>
              </a:ext>
            </a:extLst>
          </p:cNvPr>
          <p:cNvSpPr>
            <a:spLocks xmlns:a="http://schemas.openxmlformats.org/drawingml/2006/main" noGrp="1"/>
          </p:cNvSpPr>
          <p:nvPr/>
        </p:nvSpPr>
        <p:spPr>
          <a:xfrm xmlns:a="http://schemas.openxmlformats.org/drawingml/2006/main">
            <a:off x="6096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380E0275-5A13-41B6-9A73-44B75CF86DE5}"/>
              </a:ext>
            </a:extLst>
          </p:cNvPr>
          <p:cNvSpPr>
            <a:spLocks xmlns:a="http://schemas.openxmlformats.org/drawingml/2006/main" noGrp="1"/>
          </p:cNvSpPr>
          <p:nvPr/>
        </p:nvSpPr>
        <p:spPr>
          <a:xfrm xmlns:a="http://schemas.openxmlformats.org/drawingml/2006/main">
            <a:off x="781050" y="415290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4  Sketch and caption</a:t>
            </a:r>
          </a:p>
        </p:txBody>
      </p:sp>
      <p:sp>
        <p:nvSpPr>
          <p:cNvPr id="17" name="">
            <a:extLst xmlns:a="http://schemas.openxmlformats.org/drawingml/2006/main">
              <a:ext uri="{FF2B5EF4-FFF2-40B4-BE49-F238E27FC236}">
                <a16:creationId xmlns:a16="http://schemas.microsoft.com/office/drawing/2014/main" id="{F33AD237-ED93-48E3-8072-C7C30D776CC5}"/>
              </a:ext>
            </a:extLst>
          </p:cNvPr>
          <p:cNvSpPr>
            <a:spLocks xmlns:a="http://schemas.openxmlformats.org/drawingml/2006/main" noGrp="1"/>
          </p:cNvSpPr>
          <p:nvPr/>
        </p:nvSpPr>
        <p:spPr>
          <a:xfrm xmlns:a="http://schemas.openxmlformats.org/drawingml/2006/main">
            <a:off x="781050" y="462915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18" name="">
            <a:extLst xmlns:a="http://schemas.openxmlformats.org/drawingml/2006/main">
              <a:ext uri="{FF2B5EF4-FFF2-40B4-BE49-F238E27FC236}">
                <a16:creationId xmlns:a16="http://schemas.microsoft.com/office/drawing/2014/main" id="{336F7392-2EBC-4BF4-9DEE-B92ED5D1BE7D}"/>
              </a:ext>
            </a:extLst>
          </p:cNvPr>
          <p:cNvSpPr>
            <a:spLocks xmlns:a="http://schemas.openxmlformats.org/drawingml/2006/main" noGrp="1"/>
          </p:cNvSpPr>
          <p:nvPr/>
        </p:nvSpPr>
        <p:spPr>
          <a:xfrm xmlns:a="http://schemas.openxmlformats.org/drawingml/2006/main">
            <a:off x="4324350" y="401955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64EB5D52-D851-4DBB-AE63-9C0E851631E2}"/>
              </a:ext>
            </a:extLst>
          </p:cNvPr>
          <p:cNvSpPr>
            <a:spLocks xmlns:a="http://schemas.openxmlformats.org/drawingml/2006/main" noGrp="1"/>
          </p:cNvSpPr>
          <p:nvPr/>
        </p:nvSpPr>
        <p:spPr>
          <a:xfrm xmlns:a="http://schemas.openxmlformats.org/drawingml/2006/main">
            <a:off x="4495800" y="415290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5  Sketch and caption</a:t>
            </a:r>
          </a:p>
        </p:txBody>
      </p:sp>
      <p:sp>
        <p:nvSpPr>
          <p:cNvPr id="20" name="">
            <a:extLst xmlns:a="http://schemas.openxmlformats.org/drawingml/2006/main">
              <a:ext uri="{FF2B5EF4-FFF2-40B4-BE49-F238E27FC236}">
                <a16:creationId xmlns:a16="http://schemas.microsoft.com/office/drawing/2014/main" id="{1E93FE98-1BD1-41F4-88C9-248EB8C5FC4F}"/>
              </a:ext>
            </a:extLst>
          </p:cNvPr>
          <p:cNvSpPr>
            <a:spLocks xmlns:a="http://schemas.openxmlformats.org/drawingml/2006/main" noGrp="1"/>
          </p:cNvSpPr>
          <p:nvPr/>
        </p:nvSpPr>
        <p:spPr>
          <a:xfrm xmlns:a="http://schemas.openxmlformats.org/drawingml/2006/main">
            <a:off x="4495800" y="462915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21" name="">
            <a:extLst xmlns:a="http://schemas.openxmlformats.org/drawingml/2006/main">
              <a:ext uri="{FF2B5EF4-FFF2-40B4-BE49-F238E27FC236}">
                <a16:creationId xmlns:a16="http://schemas.microsoft.com/office/drawing/2014/main" id="{372FE8EE-8548-4CD5-BC96-1B8249DF8865}"/>
              </a:ext>
            </a:extLst>
          </p:cNvPr>
          <p:cNvSpPr>
            <a:spLocks xmlns:a="http://schemas.openxmlformats.org/drawingml/2006/main" noGrp="1"/>
          </p:cNvSpPr>
          <p:nvPr/>
        </p:nvSpPr>
        <p:spPr>
          <a:xfrm xmlns:a="http://schemas.openxmlformats.org/drawingml/2006/main">
            <a:off x="80391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B011EFFE-0EF8-4925-A4B0-D973802589E5}"/>
              </a:ext>
            </a:extLst>
          </p:cNvPr>
          <p:cNvSpPr>
            <a:spLocks xmlns:a="http://schemas.openxmlformats.org/drawingml/2006/main" noGrp="1"/>
          </p:cNvSpPr>
          <p:nvPr/>
        </p:nvSpPr>
        <p:spPr>
          <a:xfrm xmlns:a="http://schemas.openxmlformats.org/drawingml/2006/main">
            <a:off x="8210550" y="415290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6  Sketch and caption</a:t>
            </a:r>
          </a:p>
        </p:txBody>
      </p:sp>
      <p:sp>
        <p:nvSpPr>
          <p:cNvPr id="23" name="">
            <a:extLst xmlns:a="http://schemas.openxmlformats.org/drawingml/2006/main">
              <a:ext uri="{FF2B5EF4-FFF2-40B4-BE49-F238E27FC236}">
                <a16:creationId xmlns:a16="http://schemas.microsoft.com/office/drawing/2014/main" id="{E4EC6BF5-75DB-42CF-8B2D-769BE40B2E4F}"/>
              </a:ext>
            </a:extLst>
          </p:cNvPr>
          <p:cNvSpPr>
            <a:spLocks xmlns:a="http://schemas.openxmlformats.org/drawingml/2006/main" noGrp="1"/>
          </p:cNvSpPr>
          <p:nvPr/>
        </p:nvSpPr>
        <p:spPr>
          <a:xfrm xmlns:a="http://schemas.openxmlformats.org/drawingml/2006/main">
            <a:off x="8210550" y="462915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24" name="">
            <a:extLst xmlns:a="http://schemas.openxmlformats.org/drawingml/2006/main">
              <a:ext uri="{FF2B5EF4-FFF2-40B4-BE49-F238E27FC236}">
                <a16:creationId xmlns:a16="http://schemas.microsoft.com/office/drawing/2014/main" id="{E80D216D-92E7-4104-8AB6-508DCF95E131}"/>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9D7EFC2-5CFC-442A-A8CB-38C614D72771}"/>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558B5E80-7C3B-4351-B16F-F74EFAB3EF80}"/>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8" name="source-credit">
            <a:extLst xmlns:a="http://schemas.openxmlformats.org/drawingml/2006/main">
              <a:ext uri="{FF2B5EF4-FFF2-40B4-BE49-F238E27FC236}">
                <a16:creationId xmlns:a16="http://schemas.microsoft.com/office/drawing/2014/main" id="{BB49C0D5-F263-4FFB-A00D-BB6F9D81F591}"/>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4b4aa25665754e38"/>
              </a:rPr>
              <a:t>Geographical Association — classroom guidance — original guidance</a:t>
            </a:r>
          </a:p>
        </p:txBody>
      </p:sp>
    </p:spTree>
    <p:extLst>
      <p:ext uri="{BB962C8B-B14F-4D97-AF65-F5344CB8AC3E}">
        <p14:creationId xmlns:p14="http://schemas.microsoft.com/office/powerpoint/2010/main" val="1138794362"/>
      </p:ext>
    </p:extLst>
  </p:cSld>
</p:sld>
</file>

<file path=ppt/slides/slide30.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EDDF28-D8D1-4AB5-B3C1-3677E67F026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Blank-diagram recall</a:t>
            </a:r>
          </a:p>
        </p:txBody>
      </p:sp>
      <p:sp>
        <p:nvSpPr>
          <p:cNvPr id="2" name="">
            <a:extLst xmlns:a="http://schemas.openxmlformats.org/drawingml/2006/main">
              <a:ext uri="{FF2B5EF4-FFF2-40B4-BE49-F238E27FC236}">
                <a16:creationId xmlns:a16="http://schemas.microsoft.com/office/drawing/2014/main" id="{7C221C61-2C2E-474E-B792-219AEB6D681B}"/>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BFD4624E-30BD-4157-972D-A2F4E38B108C}"/>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D8574A2-C2AE-4C11-A16D-9D0609B27A83}"/>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5066A739-A248-41E4-A9DB-A5C22FC711F0}"/>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8083EF0D-614D-4936-9239-96865B70BCA9}"/>
              </a:ext>
            </a:extLst>
          </p:cNvPr>
          <p:cNvSpPr>
            <a:spLocks xmlns:a="http://schemas.openxmlformats.org/drawingml/2006/main" noGrp="1"/>
          </p:cNvSpPr>
          <p:nvPr/>
        </p:nvSpPr>
        <p:spPr>
          <a:xfrm xmlns:a="http://schemas.openxmlformats.org/drawingml/2006/main">
            <a:off x="609600" y="2247900"/>
            <a:ext cx="109728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FA9947D5-7174-4C0F-8160-3A714B71D511}"/>
              </a:ext>
            </a:extLst>
          </p:cNvPr>
          <p:cNvSpPr>
            <a:spLocks xmlns:a="http://schemas.openxmlformats.org/drawingml/2006/main" noGrp="1"/>
          </p:cNvSpPr>
          <p:nvPr/>
        </p:nvSpPr>
        <p:spPr>
          <a:xfrm xmlns:a="http://schemas.openxmlformats.org/drawingml/2006/main">
            <a:off x="781050" y="2381250"/>
            <a:ext cx="10629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1">
                <a:solidFill>
                  <a:srgbClr val="263C3A"/>
                </a:solidFill>
                <a:latin typeface="DejaVu Sans"/>
                <a:ea typeface="DejaVu Sans"/>
                <a:cs typeface="DejaVu Sans"/>
              </a:defRPr>
            </a:pPr>
            <a:r>
              <a:rPr sz="1650" b="1">
                <a:solidFill>
                  <a:srgbClr val="263C3A"/>
                </a:solidFill>
                <a:latin typeface="DejaVu Sans"/>
                <a:ea typeface="DejaVu Sans"/>
                <a:cs typeface="DejaVu Sans"/>
              </a:rPr>
              <a:t>[Insert your familiar diagram with labels removed]</a:t>
            </a:r>
          </a:p>
        </p:txBody>
      </p:sp>
      <p:sp>
        <p:nvSpPr>
          <p:cNvPr id="8" name="">
            <a:extLst xmlns:a="http://schemas.openxmlformats.org/drawingml/2006/main">
              <a:ext uri="{FF2B5EF4-FFF2-40B4-BE49-F238E27FC236}">
                <a16:creationId xmlns:a16="http://schemas.microsoft.com/office/drawing/2014/main" id="{8C1E0FA1-B1F0-4E4C-9056-8CA774B5B24B}"/>
              </a:ext>
            </a:extLst>
          </p:cNvPr>
          <p:cNvSpPr>
            <a:spLocks xmlns:a="http://schemas.openxmlformats.org/drawingml/2006/main" noGrp="1"/>
          </p:cNvSpPr>
          <p:nvPr/>
        </p:nvSpPr>
        <p:spPr>
          <a:xfrm xmlns:a="http://schemas.openxmlformats.org/drawingml/2006/main">
            <a:off x="781050" y="3105150"/>
            <a:ext cx="106299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BC395A68-6298-427D-82C9-9C94D1AD10A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79403D-D95E-4F8C-974A-09A012701AA0}"/>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1" name="">
            <a:extLst xmlns:a="http://schemas.openxmlformats.org/drawingml/2006/main">
              <a:ext uri="{FF2B5EF4-FFF2-40B4-BE49-F238E27FC236}">
                <a16:creationId xmlns:a16="http://schemas.microsoft.com/office/drawing/2014/main" id="{8F67DFF1-2F8E-426B-B511-EAA89CDEAF91}"/>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3" name="source-credit">
            <a:extLst xmlns:a="http://schemas.openxmlformats.org/drawingml/2006/main">
              <a:ext uri="{FF2B5EF4-FFF2-40B4-BE49-F238E27FC236}">
                <a16:creationId xmlns:a16="http://schemas.microsoft.com/office/drawing/2014/main" id="{D4F4C983-94FD-4213-8EBC-012DB769F618}"/>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faed0ba592ed4fef"/>
              </a:rPr>
              <a:t>Kate Jones — cued retrieval guidance, Evidence Based Education — original guidance</a:t>
            </a:r>
          </a:p>
        </p:txBody>
      </p:sp>
    </p:spTree>
    <p:extLst>
      <p:ext uri="{BB962C8B-B14F-4D97-AF65-F5344CB8AC3E}">
        <p14:creationId xmlns:p14="http://schemas.microsoft.com/office/powerpoint/2010/main" val="1553845224"/>
      </p:ext>
    </p:extLst>
  </p:cSld>
</p:sld>
</file>

<file path=ppt/slides/slide3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BB362C1-06F3-49F3-8613-7FBFBD881607}"/>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Draw from memory</a:t>
            </a:r>
          </a:p>
        </p:txBody>
      </p:sp>
      <p:sp>
        <p:nvSpPr>
          <p:cNvPr id="2" name="">
            <a:extLst xmlns:a="http://schemas.openxmlformats.org/drawingml/2006/main">
              <a:ext uri="{FF2B5EF4-FFF2-40B4-BE49-F238E27FC236}">
                <a16:creationId xmlns:a16="http://schemas.microsoft.com/office/drawing/2014/main" id="{6E1FC8A2-6EAE-4995-9C42-0666A9C8B125}"/>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921AD04E-3F05-4074-8B18-EDC8EF95752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00CA9D9-6F87-4CFA-9F82-AAA6CF9934E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CA17E038-4AC9-4644-B537-F8B7F0DB17F4}"/>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5EF21D8B-4D2C-42B4-9AAE-0F49B60D3533}"/>
              </a:ext>
            </a:extLst>
          </p:cNvPr>
          <p:cNvSpPr>
            <a:spLocks xmlns:a="http://schemas.openxmlformats.org/drawingml/2006/main" noGrp="1"/>
          </p:cNvSpPr>
          <p:nvPr/>
        </p:nvSpPr>
        <p:spPr>
          <a:xfrm xmlns:a="http://schemas.openxmlformats.org/drawingml/2006/main">
            <a:off x="609600" y="2247900"/>
            <a:ext cx="109728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9B87CBB-83DE-4FC7-99EE-CB60F86C617E}"/>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Draw and label from memory</a:t>
            </a:r>
          </a:p>
        </p:txBody>
      </p:sp>
      <p:sp>
        <p:nvSpPr>
          <p:cNvPr id="8" name="">
            <a:extLst xmlns:a="http://schemas.openxmlformats.org/drawingml/2006/main">
              <a:ext uri="{FF2B5EF4-FFF2-40B4-BE49-F238E27FC236}">
                <a16:creationId xmlns:a16="http://schemas.microsoft.com/office/drawing/2014/main" id="{E54A7F95-1147-4CB6-BA65-77BB60F1564B}"/>
              </a:ext>
            </a:extLst>
          </p:cNvPr>
          <p:cNvSpPr>
            <a:spLocks xmlns:a="http://schemas.openxmlformats.org/drawingml/2006/main" noGrp="1"/>
          </p:cNvSpPr>
          <p:nvPr/>
        </p:nvSpPr>
        <p:spPr>
          <a:xfrm xmlns:a="http://schemas.openxmlformats.org/drawingml/2006/main">
            <a:off x="781050" y="2857500"/>
            <a:ext cx="10629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DB3F6A6C-47D8-446A-BA45-FBF9660C8E20}"/>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0407AB3-0DE1-4E66-8499-1E60CC5670CD}"/>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1" name="">
            <a:extLst xmlns:a="http://schemas.openxmlformats.org/drawingml/2006/main">
              <a:ext uri="{FF2B5EF4-FFF2-40B4-BE49-F238E27FC236}">
                <a16:creationId xmlns:a16="http://schemas.microsoft.com/office/drawing/2014/main" id="{6D76C07D-A6CA-40CF-8F79-69FC8896178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3" name="source-credit">
            <a:extLst xmlns:a="http://schemas.openxmlformats.org/drawingml/2006/main">
              <a:ext uri="{FF2B5EF4-FFF2-40B4-BE49-F238E27FC236}">
                <a16:creationId xmlns:a16="http://schemas.microsoft.com/office/drawing/2014/main" id="{F3B32C8B-BAF2-4ECE-9A38-43B799BE433C}"/>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63974bc760c94146"/>
              </a:rPr>
              <a:t>The Learning Scientists — drawing from memory guidance — original guidance</a:t>
            </a:r>
          </a:p>
        </p:txBody>
      </p:sp>
    </p:spTree>
    <p:extLst>
      <p:ext uri="{BB962C8B-B14F-4D97-AF65-F5344CB8AC3E}">
        <p14:creationId xmlns:p14="http://schemas.microsoft.com/office/powerpoint/2010/main" val="1306837412"/>
      </p:ext>
    </p:extLst>
  </p:cSld>
</p:sld>
</file>

<file path=ppt/slides/slide32.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E326838-DFA4-4E10-B573-FED5EAF1EF19}"/>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Because, but, so</a:t>
            </a:r>
          </a:p>
        </p:txBody>
      </p:sp>
      <p:sp>
        <p:nvSpPr>
          <p:cNvPr id="2" name="">
            <a:extLst xmlns:a="http://schemas.openxmlformats.org/drawingml/2006/main">
              <a:ext uri="{FF2B5EF4-FFF2-40B4-BE49-F238E27FC236}">
                <a16:creationId xmlns:a16="http://schemas.microsoft.com/office/drawing/2014/main" id="{68471CD8-6A03-4B53-8482-615FF2AD5642}"/>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5F629484-E54D-483E-A535-07E58BB8FA7D}"/>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B1A344D-F3D5-43A3-9529-F288F5480C36}"/>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36600F1A-10DB-4541-A43D-85017C205ACE}"/>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3462DD68-E232-4DA2-B0C8-90A84549A698}"/>
              </a:ext>
            </a:extLst>
          </p:cNvPr>
          <p:cNvSpPr>
            <a:spLocks xmlns:a="http://schemas.openxmlformats.org/drawingml/2006/main" noGrp="1"/>
          </p:cNvSpPr>
          <p:nvPr/>
        </p:nvSpPr>
        <p:spPr>
          <a:xfrm xmlns:a="http://schemas.openxmlformats.org/drawingml/2006/main">
            <a:off x="609600" y="22479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3E69A39E-D0BF-4686-83BA-BEB817A7BA64}"/>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statement] because</a:t>
            </a:r>
          </a:p>
        </p:txBody>
      </p:sp>
      <p:sp>
        <p:nvSpPr>
          <p:cNvPr id="8" name="">
            <a:extLst xmlns:a="http://schemas.openxmlformats.org/drawingml/2006/main">
              <a:ext uri="{FF2B5EF4-FFF2-40B4-BE49-F238E27FC236}">
                <a16:creationId xmlns:a16="http://schemas.microsoft.com/office/drawing/2014/main" id="{271AF18A-EA28-4FE8-A5BB-3030BB0E9C8C}"/>
              </a:ext>
            </a:extLst>
          </p:cNvPr>
          <p:cNvSpPr>
            <a:spLocks xmlns:a="http://schemas.openxmlformats.org/drawingml/2006/main" noGrp="1"/>
          </p:cNvSpPr>
          <p:nvPr/>
        </p:nvSpPr>
        <p:spPr>
          <a:xfrm xmlns:a="http://schemas.openxmlformats.org/drawingml/2006/main">
            <a:off x="609600" y="3429000"/>
            <a:ext cx="109728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EDC2955B-3CD8-4CAA-B62B-813A907A5DCC}"/>
              </a:ext>
            </a:extLst>
          </p:cNvPr>
          <p:cNvSpPr>
            <a:spLocks xmlns:a="http://schemas.openxmlformats.org/drawingml/2006/main" noGrp="1"/>
          </p:cNvSpPr>
          <p:nvPr/>
        </p:nvSpPr>
        <p:spPr>
          <a:xfrm xmlns:a="http://schemas.openxmlformats.org/drawingml/2006/main">
            <a:off x="781050" y="35623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statement] but</a:t>
            </a:r>
          </a:p>
        </p:txBody>
      </p:sp>
      <p:sp>
        <p:nvSpPr>
          <p:cNvPr id="10" name="">
            <a:extLst xmlns:a="http://schemas.openxmlformats.org/drawingml/2006/main">
              <a:ext uri="{FF2B5EF4-FFF2-40B4-BE49-F238E27FC236}">
                <a16:creationId xmlns:a16="http://schemas.microsoft.com/office/drawing/2014/main" id="{A5300841-C4C6-4FF2-B4AE-77E14C10E74C}"/>
              </a:ext>
            </a:extLst>
          </p:cNvPr>
          <p:cNvSpPr>
            <a:spLocks xmlns:a="http://schemas.openxmlformats.org/drawingml/2006/main" noGrp="1"/>
          </p:cNvSpPr>
          <p:nvPr/>
        </p:nvSpPr>
        <p:spPr>
          <a:xfrm xmlns:a="http://schemas.openxmlformats.org/drawingml/2006/main">
            <a:off x="609600" y="4610100"/>
            <a:ext cx="109728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C0E9252F-6704-4904-9979-940409B9B6BE}"/>
              </a:ext>
            </a:extLst>
          </p:cNvPr>
          <p:cNvSpPr>
            <a:spLocks xmlns:a="http://schemas.openxmlformats.org/drawingml/2006/main" noGrp="1"/>
          </p:cNvSpPr>
          <p:nvPr/>
        </p:nvSpPr>
        <p:spPr>
          <a:xfrm xmlns:a="http://schemas.openxmlformats.org/drawingml/2006/main">
            <a:off x="781050" y="47434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statement] so</a:t>
            </a:r>
          </a:p>
        </p:txBody>
      </p:sp>
      <p:sp>
        <p:nvSpPr>
          <p:cNvPr id="12" name="">
            <a:extLst xmlns:a="http://schemas.openxmlformats.org/drawingml/2006/main">
              <a:ext uri="{FF2B5EF4-FFF2-40B4-BE49-F238E27FC236}">
                <a16:creationId xmlns:a16="http://schemas.microsoft.com/office/drawing/2014/main" id="{A05C8D3F-359E-4D6C-AF5E-374914D89559}"/>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0EC067F-D638-479E-BE48-FF82009D16EF}"/>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D2CD1412-D497-4D11-A1D9-AD2C69FDB007}"/>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EFB6AC15-3AC2-4DD6-9C26-595A9A76506A}"/>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c70c31b42bbb4ca5"/>
              </a:rPr>
              <a:t>Judith C. Hochman &amp; Natalie Wexler — The Writing Revolution; Bradford Research School adaptation — original guidance</a:t>
            </a:r>
          </a:p>
        </p:txBody>
      </p:sp>
    </p:spTree>
    <p:extLst>
      <p:ext uri="{BB962C8B-B14F-4D97-AF65-F5344CB8AC3E}">
        <p14:creationId xmlns:p14="http://schemas.microsoft.com/office/powerpoint/2010/main" val="690623088"/>
      </p:ext>
    </p:extLst>
  </p:cSld>
</p:sld>
</file>

<file path=ppt/slides/slide33.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3F64816-1A33-4AD7-B37B-B88A739EF374}"/>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Peer Instruction</a:t>
            </a:r>
          </a:p>
        </p:txBody>
      </p:sp>
      <p:sp>
        <p:nvSpPr>
          <p:cNvPr id="2" name="">
            <a:extLst xmlns:a="http://schemas.openxmlformats.org/drawingml/2006/main">
              <a:ext uri="{FF2B5EF4-FFF2-40B4-BE49-F238E27FC236}">
                <a16:creationId xmlns:a16="http://schemas.microsoft.com/office/drawing/2014/main" id="{A19A0DF1-7B31-4E6A-8544-3BAD425AAD2F}"/>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47BF9629-2B49-432E-A4FC-596F3B928501}"/>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86701CF-9828-4C5F-B557-7FC1C854017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52111B7D-20C5-4F16-97C0-29E93AF7854A}"/>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BDF6F69F-2D54-4067-9648-B97474DB4F07}"/>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E429F97A-DB7C-432E-B2B1-197F8E15533E}"/>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Question  [Your conceptual question]</a:t>
            </a:r>
          </a:p>
        </p:txBody>
      </p:sp>
      <p:sp>
        <p:nvSpPr>
          <p:cNvPr id="8" name="">
            <a:extLst xmlns:a="http://schemas.openxmlformats.org/drawingml/2006/main">
              <a:ext uri="{FF2B5EF4-FFF2-40B4-BE49-F238E27FC236}">
                <a16:creationId xmlns:a16="http://schemas.microsoft.com/office/drawing/2014/main" id="{BD1A3308-717D-49AB-983B-6B5908385B23}"/>
              </a:ext>
            </a:extLst>
          </p:cNvPr>
          <p:cNvSpPr>
            <a:spLocks xmlns:a="http://schemas.openxmlformats.org/drawingml/2006/main" noGrp="1"/>
          </p:cNvSpPr>
          <p:nvPr/>
        </p:nvSpPr>
        <p:spPr>
          <a:xfrm xmlns:a="http://schemas.openxmlformats.org/drawingml/2006/main">
            <a:off x="781050" y="285750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A3BED153-69AB-4D35-A4DA-DAEDF37C7DC8}"/>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E11B53F1-8E79-4397-A72E-2DDC9D6B426C}"/>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Choices</a:t>
            </a:r>
          </a:p>
        </p:txBody>
      </p:sp>
      <p:sp>
        <p:nvSpPr>
          <p:cNvPr id="11" name="">
            <a:extLst xmlns:a="http://schemas.openxmlformats.org/drawingml/2006/main">
              <a:ext uri="{FF2B5EF4-FFF2-40B4-BE49-F238E27FC236}">
                <a16:creationId xmlns:a16="http://schemas.microsoft.com/office/drawing/2014/main" id="{3CB4A6D3-A844-478F-8CC7-036F91F4D964}"/>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 [Option]</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B [Option]</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C [Option]</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D [Option]</a:t>
            </a:r>
          </a:p>
        </p:txBody>
      </p:sp>
      <p:sp>
        <p:nvSpPr>
          <p:cNvPr id="12" name="">
            <a:extLst xmlns:a="http://schemas.openxmlformats.org/drawingml/2006/main">
              <a:ext uri="{FF2B5EF4-FFF2-40B4-BE49-F238E27FC236}">
                <a16:creationId xmlns:a16="http://schemas.microsoft.com/office/drawing/2014/main" id="{C8DD2F88-820B-4C7F-8075-0A33EC701EC7}"/>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0B644C47-72A5-4886-A253-AC25DDBE3917}"/>
              </a:ext>
            </a:extLst>
          </p:cNvPr>
          <p:cNvSpPr>
            <a:spLocks xmlns:a="http://schemas.openxmlformats.org/drawingml/2006/main" noGrp="1"/>
          </p:cNvSpPr>
          <p:nvPr/>
        </p:nvSpPr>
        <p:spPr>
          <a:xfrm xmlns:a="http://schemas.openxmlformats.org/drawingml/2006/main">
            <a:off x="781050"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first choice and reason</a:t>
            </a:r>
          </a:p>
        </p:txBody>
      </p:sp>
      <p:sp>
        <p:nvSpPr>
          <p:cNvPr id="14" name="">
            <a:extLst xmlns:a="http://schemas.openxmlformats.org/drawingml/2006/main">
              <a:ext uri="{FF2B5EF4-FFF2-40B4-BE49-F238E27FC236}">
                <a16:creationId xmlns:a16="http://schemas.microsoft.com/office/drawing/2014/main" id="{6D85498B-2DD9-40B1-8612-7B7A9C27C67B}"/>
              </a:ext>
            </a:extLst>
          </p:cNvPr>
          <p:cNvSpPr>
            <a:spLocks xmlns:a="http://schemas.openxmlformats.org/drawingml/2006/main" noGrp="1"/>
          </p:cNvSpPr>
          <p:nvPr/>
        </p:nvSpPr>
        <p:spPr>
          <a:xfrm xmlns:a="http://schemas.openxmlformats.org/drawingml/2006/main">
            <a:off x="781050"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880045E7-F66C-4481-867D-B7F635A53EC2}"/>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8D32877C-E699-4B02-81E0-5C1F641374B6}"/>
              </a:ext>
            </a:extLst>
          </p:cNvPr>
          <p:cNvSpPr>
            <a:spLocks xmlns:a="http://schemas.openxmlformats.org/drawingml/2006/main" noGrp="1"/>
          </p:cNvSpPr>
          <p:nvPr/>
        </p:nvSpPr>
        <p:spPr>
          <a:xfrm xmlns:a="http://schemas.openxmlformats.org/drawingml/2006/main">
            <a:off x="6353175" y="415290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final choice and reason</a:t>
            </a:r>
          </a:p>
        </p:txBody>
      </p:sp>
      <p:sp>
        <p:nvSpPr>
          <p:cNvPr id="17" name="">
            <a:extLst xmlns:a="http://schemas.openxmlformats.org/drawingml/2006/main">
              <a:ext uri="{FF2B5EF4-FFF2-40B4-BE49-F238E27FC236}">
                <a16:creationId xmlns:a16="http://schemas.microsoft.com/office/drawing/2014/main" id="{4CBE17C4-5BB9-455B-967A-A1CAEA354D12}"/>
              </a:ext>
            </a:extLst>
          </p:cNvPr>
          <p:cNvSpPr>
            <a:spLocks xmlns:a="http://schemas.openxmlformats.org/drawingml/2006/main" noGrp="1"/>
          </p:cNvSpPr>
          <p:nvPr/>
        </p:nvSpPr>
        <p:spPr>
          <a:xfrm xmlns:a="http://schemas.openxmlformats.org/drawingml/2006/main">
            <a:off x="6353175" y="4629150"/>
            <a:ext cx="50577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8" name="">
            <a:extLst xmlns:a="http://schemas.openxmlformats.org/drawingml/2006/main">
              <a:ext uri="{FF2B5EF4-FFF2-40B4-BE49-F238E27FC236}">
                <a16:creationId xmlns:a16="http://schemas.microsoft.com/office/drawing/2014/main" id="{E045589C-637B-45B1-A6D1-3CB092C6DF91}"/>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78A88FF-EAF1-4B8A-A103-03B03005AF5D}"/>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4EA2AD01-BE3A-469C-A088-D0B37A9E6F3D}"/>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0123FB9D-0D5F-40CB-B509-AE684BCD846F}"/>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4b7626f30c234001"/>
              </a:rPr>
              <a:t>Eric Mazur — Peer Instruction — original guidance</a:t>
            </a:r>
          </a:p>
        </p:txBody>
      </p:sp>
    </p:spTree>
    <p:extLst>
      <p:ext uri="{BB962C8B-B14F-4D97-AF65-F5344CB8AC3E}">
        <p14:creationId xmlns:p14="http://schemas.microsoft.com/office/powerpoint/2010/main" val="1644118152"/>
      </p:ext>
    </p:extLst>
  </p:cSld>
</p:sld>
</file>

<file path=ppt/slides/slide34.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AF50715-7BB9-4B85-B02D-AD079719E2AC}"/>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Taboo explanations</a:t>
            </a:r>
          </a:p>
        </p:txBody>
      </p:sp>
      <p:sp>
        <p:nvSpPr>
          <p:cNvPr id="2" name="">
            <a:extLst xmlns:a="http://schemas.openxmlformats.org/drawingml/2006/main">
              <a:ext uri="{FF2B5EF4-FFF2-40B4-BE49-F238E27FC236}">
                <a16:creationId xmlns:a16="http://schemas.microsoft.com/office/drawing/2014/main" id="{7EFD7FCF-D972-4DED-B1B9-FD89F13EECDD}"/>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579122C5-8B9C-4CED-A2ED-9A7E12B3F020}"/>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67EB229-2D6B-4197-B5DE-D1C8147B944C}"/>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ECD02C89-D34B-41FF-B567-5DFCCC706104}"/>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2EBAA4C3-F378-44B9-83F1-713A4EB0DD31}"/>
              </a:ext>
            </a:extLst>
          </p:cNvPr>
          <p:cNvSpPr>
            <a:spLocks xmlns:a="http://schemas.openxmlformats.org/drawingml/2006/main" noGrp="1"/>
          </p:cNvSpPr>
          <p:nvPr/>
        </p:nvSpPr>
        <p:spPr>
          <a:xfrm xmlns:a="http://schemas.openxmlformats.org/drawingml/2006/main">
            <a:off x="609600" y="224790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4F49BF3B-E35D-4B7D-8B95-97176FB6F632}"/>
              </a:ext>
            </a:extLst>
          </p:cNvPr>
          <p:cNvSpPr>
            <a:spLocks xmlns:a="http://schemas.openxmlformats.org/drawingml/2006/main" noGrp="1"/>
          </p:cNvSpPr>
          <p:nvPr/>
        </p:nvSpPr>
        <p:spPr>
          <a:xfrm xmlns:a="http://schemas.openxmlformats.org/drawingml/2006/main">
            <a:off x="781050"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1</a:t>
            </a:r>
          </a:p>
        </p:txBody>
      </p:sp>
      <p:sp>
        <p:nvSpPr>
          <p:cNvPr id="8" name="">
            <a:extLst xmlns:a="http://schemas.openxmlformats.org/drawingml/2006/main">
              <a:ext uri="{FF2B5EF4-FFF2-40B4-BE49-F238E27FC236}">
                <a16:creationId xmlns:a16="http://schemas.microsoft.com/office/drawing/2014/main" id="{5D8553DD-F332-4594-9C1A-25ACA0BF8F40}"/>
              </a:ext>
            </a:extLst>
          </p:cNvPr>
          <p:cNvSpPr>
            <a:spLocks xmlns:a="http://schemas.openxmlformats.org/drawingml/2006/main" noGrp="1"/>
          </p:cNvSpPr>
          <p:nvPr/>
        </p:nvSpPr>
        <p:spPr>
          <a:xfrm xmlns:a="http://schemas.openxmlformats.org/drawingml/2006/main">
            <a:off x="781050"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9" name="">
            <a:extLst xmlns:a="http://schemas.openxmlformats.org/drawingml/2006/main">
              <a:ext uri="{FF2B5EF4-FFF2-40B4-BE49-F238E27FC236}">
                <a16:creationId xmlns:a16="http://schemas.microsoft.com/office/drawing/2014/main" id="{DA080557-6162-4B30-83C5-894C60B66D50}"/>
              </a:ext>
            </a:extLst>
          </p:cNvPr>
          <p:cNvSpPr>
            <a:spLocks xmlns:a="http://schemas.openxmlformats.org/drawingml/2006/main" noGrp="1"/>
          </p:cNvSpPr>
          <p:nvPr/>
        </p:nvSpPr>
        <p:spPr>
          <a:xfrm xmlns:a="http://schemas.openxmlformats.org/drawingml/2006/main">
            <a:off x="6181725" y="224790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D5F29A2B-21B3-4B85-BE59-4DBDF00D86B9}"/>
              </a:ext>
            </a:extLst>
          </p:cNvPr>
          <p:cNvSpPr>
            <a:spLocks xmlns:a="http://schemas.openxmlformats.org/drawingml/2006/main" noGrp="1"/>
          </p:cNvSpPr>
          <p:nvPr/>
        </p:nvSpPr>
        <p:spPr>
          <a:xfrm xmlns:a="http://schemas.openxmlformats.org/drawingml/2006/main">
            <a:off x="6353175" y="238125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2</a:t>
            </a:r>
          </a:p>
        </p:txBody>
      </p:sp>
      <p:sp>
        <p:nvSpPr>
          <p:cNvPr id="11" name="">
            <a:extLst xmlns:a="http://schemas.openxmlformats.org/drawingml/2006/main">
              <a:ext uri="{FF2B5EF4-FFF2-40B4-BE49-F238E27FC236}">
                <a16:creationId xmlns:a16="http://schemas.microsoft.com/office/drawing/2014/main" id="{B48C432D-38BA-4D8B-B8A1-C0FA6EA8E10C}"/>
              </a:ext>
            </a:extLst>
          </p:cNvPr>
          <p:cNvSpPr>
            <a:spLocks xmlns:a="http://schemas.openxmlformats.org/drawingml/2006/main" noGrp="1"/>
          </p:cNvSpPr>
          <p:nvPr/>
        </p:nvSpPr>
        <p:spPr>
          <a:xfrm xmlns:a="http://schemas.openxmlformats.org/drawingml/2006/main">
            <a:off x="6353175" y="278130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12" name="">
            <a:extLst xmlns:a="http://schemas.openxmlformats.org/drawingml/2006/main">
              <a:ext uri="{FF2B5EF4-FFF2-40B4-BE49-F238E27FC236}">
                <a16:creationId xmlns:a16="http://schemas.microsoft.com/office/drawing/2014/main" id="{FBF0ECDD-5580-4DE1-AB4F-C8034FE49C91}"/>
              </a:ext>
            </a:extLst>
          </p:cNvPr>
          <p:cNvSpPr>
            <a:spLocks xmlns:a="http://schemas.openxmlformats.org/drawingml/2006/main" noGrp="1"/>
          </p:cNvSpPr>
          <p:nvPr/>
        </p:nvSpPr>
        <p:spPr>
          <a:xfrm xmlns:a="http://schemas.openxmlformats.org/drawingml/2006/main">
            <a:off x="609600" y="4019550"/>
            <a:ext cx="5400675"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43502388-51FA-4DF1-B2FB-1E9899FB2699}"/>
              </a:ext>
            </a:extLst>
          </p:cNvPr>
          <p:cNvSpPr>
            <a:spLocks xmlns:a="http://schemas.openxmlformats.org/drawingml/2006/main" noGrp="1"/>
          </p:cNvSpPr>
          <p:nvPr/>
        </p:nvSpPr>
        <p:spPr>
          <a:xfrm xmlns:a="http://schemas.openxmlformats.org/drawingml/2006/main">
            <a:off x="781050"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3</a:t>
            </a:r>
          </a:p>
        </p:txBody>
      </p:sp>
      <p:sp>
        <p:nvSpPr>
          <p:cNvPr id="14" name="">
            <a:extLst xmlns:a="http://schemas.openxmlformats.org/drawingml/2006/main">
              <a:ext uri="{FF2B5EF4-FFF2-40B4-BE49-F238E27FC236}">
                <a16:creationId xmlns:a16="http://schemas.microsoft.com/office/drawing/2014/main" id="{501B4D7B-82EC-471B-B15E-08E970695EDC}"/>
              </a:ext>
            </a:extLst>
          </p:cNvPr>
          <p:cNvSpPr>
            <a:spLocks xmlns:a="http://schemas.openxmlformats.org/drawingml/2006/main" noGrp="1"/>
          </p:cNvSpPr>
          <p:nvPr/>
        </p:nvSpPr>
        <p:spPr>
          <a:xfrm xmlns:a="http://schemas.openxmlformats.org/drawingml/2006/main">
            <a:off x="781050"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15" name="">
            <a:extLst xmlns:a="http://schemas.openxmlformats.org/drawingml/2006/main">
              <a:ext uri="{FF2B5EF4-FFF2-40B4-BE49-F238E27FC236}">
                <a16:creationId xmlns:a16="http://schemas.microsoft.com/office/drawing/2014/main" id="{0F6551A6-A39A-4BEC-B191-02BFF58DAC51}"/>
              </a:ext>
            </a:extLst>
          </p:cNvPr>
          <p:cNvSpPr>
            <a:spLocks xmlns:a="http://schemas.openxmlformats.org/drawingml/2006/main" noGrp="1"/>
          </p:cNvSpPr>
          <p:nvPr/>
        </p:nvSpPr>
        <p:spPr>
          <a:xfrm xmlns:a="http://schemas.openxmlformats.org/drawingml/2006/main">
            <a:off x="6181725" y="4019550"/>
            <a:ext cx="5400675"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AE4F0F9D-588C-41B2-9108-4233EF63E224}"/>
              </a:ext>
            </a:extLst>
          </p:cNvPr>
          <p:cNvSpPr>
            <a:spLocks xmlns:a="http://schemas.openxmlformats.org/drawingml/2006/main" noGrp="1"/>
          </p:cNvSpPr>
          <p:nvPr/>
        </p:nvSpPr>
        <p:spPr>
          <a:xfrm xmlns:a="http://schemas.openxmlformats.org/drawingml/2006/main">
            <a:off x="6353175" y="4152900"/>
            <a:ext cx="50577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Card 4</a:t>
            </a:r>
          </a:p>
        </p:txBody>
      </p:sp>
      <p:sp>
        <p:nvSpPr>
          <p:cNvPr id="17" name="">
            <a:extLst xmlns:a="http://schemas.openxmlformats.org/drawingml/2006/main">
              <a:ext uri="{FF2B5EF4-FFF2-40B4-BE49-F238E27FC236}">
                <a16:creationId xmlns:a16="http://schemas.microsoft.com/office/drawing/2014/main" id="{E776C014-7B91-485D-B8E3-1257E78CC2E4}"/>
              </a:ext>
            </a:extLst>
          </p:cNvPr>
          <p:cNvSpPr>
            <a:spLocks xmlns:a="http://schemas.openxmlformats.org/drawingml/2006/main" noGrp="1"/>
          </p:cNvSpPr>
          <p:nvPr/>
        </p:nvSpPr>
        <p:spPr>
          <a:xfrm xmlns:a="http://schemas.openxmlformats.org/drawingml/2006/main">
            <a:off x="6353175" y="4552950"/>
            <a:ext cx="50577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Term [Your term]</a:t>
            </a:r>
          </a:p>
          <a:p xmlns:a="http://schemas.openxmlformats.org/drawingml/2006/main">
            <a:pPr>
              <a:buNone/>
              <a:defRPr sz="1500" b="0">
                <a:solidFill>
                  <a:srgbClr val="687572"/>
                </a:solidFill>
                <a:latin typeface="DejaVu Sans"/>
                <a:ea typeface="DejaVu Sans"/>
                <a:cs typeface="DejaVu Sans"/>
              </a:defRPr>
            </a:pPr>
            <a:r>
              <a:rPr sz="1500" b="0">
                <a:solidFill>
                  <a:srgbClr val="687572"/>
                </a:solidFill>
                <a:latin typeface="DejaVu Sans"/>
                <a:ea typeface="DejaVu Sans"/>
                <a:cs typeface="DejaVu Sans"/>
              </a:rPr>
              <a:t>Avoid [Your restricted words]</a:t>
            </a:r>
          </a:p>
        </p:txBody>
      </p:sp>
      <p:sp>
        <p:nvSpPr>
          <p:cNvPr id="18" name="">
            <a:extLst xmlns:a="http://schemas.openxmlformats.org/drawingml/2006/main">
              <a:ext uri="{FF2B5EF4-FFF2-40B4-BE49-F238E27FC236}">
                <a16:creationId xmlns:a16="http://schemas.microsoft.com/office/drawing/2014/main" id="{F292D6CD-B868-4CEC-93DC-8831FB23873D}"/>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3D57405-8A0F-4488-BBA6-E9C6C64C43D4}"/>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0" name="">
            <a:extLst xmlns:a="http://schemas.openxmlformats.org/drawingml/2006/main">
              <a:ext uri="{FF2B5EF4-FFF2-40B4-BE49-F238E27FC236}">
                <a16:creationId xmlns:a16="http://schemas.microsoft.com/office/drawing/2014/main" id="{D05873CC-7A19-47BC-9420-DA21F5BCA88E}"/>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2" name="source-credit">
            <a:extLst xmlns:a="http://schemas.openxmlformats.org/drawingml/2006/main">
              <a:ext uri="{FF2B5EF4-FFF2-40B4-BE49-F238E27FC236}">
                <a16:creationId xmlns:a16="http://schemas.microsoft.com/office/drawing/2014/main" id="{0C3358B2-5885-4E85-9C43-900C3425AFC6}"/>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25a1c850f2804e88"/>
              </a:rPr>
              <a:t>Geographical Association — classroom guidance — original guidance</a:t>
            </a:r>
          </a:p>
        </p:txBody>
      </p:sp>
    </p:spTree>
    <p:extLst>
      <p:ext uri="{BB962C8B-B14F-4D97-AF65-F5344CB8AC3E}">
        <p14:creationId xmlns:p14="http://schemas.microsoft.com/office/powerpoint/2010/main" val="356933617"/>
      </p:ext>
    </p:extLst>
  </p:cSld>
</p:sld>
</file>

<file path=ppt/slides/slide35.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4AE620F-1060-4727-B92B-2EC46A3FDDB6}"/>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Elevator explanation</a:t>
            </a:r>
          </a:p>
        </p:txBody>
      </p:sp>
      <p:sp>
        <p:nvSpPr>
          <p:cNvPr id="2" name="">
            <a:extLst xmlns:a="http://schemas.openxmlformats.org/drawingml/2006/main">
              <a:ext uri="{FF2B5EF4-FFF2-40B4-BE49-F238E27FC236}">
                <a16:creationId xmlns:a16="http://schemas.microsoft.com/office/drawing/2014/main" id="{F0DD1FD4-B909-42AF-BFCE-6F2877D03EB1}"/>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F9F7EF02-2C5C-428E-A7A0-AE60E4F33FE1}"/>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B777CDE-1EBB-41C8-9FCE-652E0BA9E8AA}"/>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9F598E55-7C08-41E9-95AC-7B0A204C8490}"/>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E9B1BFD1-BE4E-4564-9B95-86E8640B1D7F}"/>
              </a:ext>
            </a:extLst>
          </p:cNvPr>
          <p:cNvSpPr>
            <a:spLocks xmlns:a="http://schemas.openxmlformats.org/drawingml/2006/main" noGrp="1"/>
          </p:cNvSpPr>
          <p:nvPr/>
        </p:nvSpPr>
        <p:spPr>
          <a:xfrm xmlns:a="http://schemas.openxmlformats.org/drawingml/2006/main">
            <a:off x="6096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CD424B27-FCAD-4691-AE02-2300505D4D7D}"/>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Main idea</a:t>
            </a:r>
          </a:p>
        </p:txBody>
      </p:sp>
      <p:sp>
        <p:nvSpPr>
          <p:cNvPr id="8" name="">
            <a:extLst xmlns:a="http://schemas.openxmlformats.org/drawingml/2006/main">
              <a:ext uri="{FF2B5EF4-FFF2-40B4-BE49-F238E27FC236}">
                <a16:creationId xmlns:a16="http://schemas.microsoft.com/office/drawing/2014/main" id="{94D95160-2D1A-4E47-8A3F-9F590ABC9092}"/>
              </a:ext>
            </a:extLst>
          </p:cNvPr>
          <p:cNvSpPr>
            <a:spLocks xmlns:a="http://schemas.openxmlformats.org/drawingml/2006/main" noGrp="1"/>
          </p:cNvSpPr>
          <p:nvPr/>
        </p:nvSpPr>
        <p:spPr>
          <a:xfrm xmlns:a="http://schemas.openxmlformats.org/drawingml/2006/main">
            <a:off x="7810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D8216BFD-1F4E-43CB-95E4-2411D77A08C7}"/>
              </a:ext>
            </a:extLst>
          </p:cNvPr>
          <p:cNvSpPr>
            <a:spLocks xmlns:a="http://schemas.openxmlformats.org/drawingml/2006/main" noGrp="1"/>
          </p:cNvSpPr>
          <p:nvPr/>
        </p:nvSpPr>
        <p:spPr>
          <a:xfrm xmlns:a="http://schemas.openxmlformats.org/drawingml/2006/main">
            <a:off x="4324350" y="2247900"/>
            <a:ext cx="3543300"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D997B7AA-C1EA-4350-9AF8-BC2B87F430B0}"/>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Essential details</a:t>
            </a:r>
          </a:p>
        </p:txBody>
      </p:sp>
      <p:sp>
        <p:nvSpPr>
          <p:cNvPr id="11" name="">
            <a:extLst xmlns:a="http://schemas.openxmlformats.org/drawingml/2006/main">
              <a:ext uri="{FF2B5EF4-FFF2-40B4-BE49-F238E27FC236}">
                <a16:creationId xmlns:a16="http://schemas.microsoft.com/office/drawing/2014/main" id="{47A6780C-6B2B-4563-8EF3-66D0555C3F74}"/>
              </a:ext>
            </a:extLst>
          </p:cNvPr>
          <p:cNvSpPr>
            <a:spLocks xmlns:a="http://schemas.openxmlformats.org/drawingml/2006/main" noGrp="1"/>
          </p:cNvSpPr>
          <p:nvPr/>
        </p:nvSpPr>
        <p:spPr>
          <a:xfrm xmlns:a="http://schemas.openxmlformats.org/drawingml/2006/main">
            <a:off x="449580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B278BD16-EC49-426A-9D1F-BE0DEA9864B9}"/>
              </a:ext>
            </a:extLst>
          </p:cNvPr>
          <p:cNvSpPr>
            <a:spLocks xmlns:a="http://schemas.openxmlformats.org/drawingml/2006/main" noGrp="1"/>
          </p:cNvSpPr>
          <p:nvPr/>
        </p:nvSpPr>
        <p:spPr>
          <a:xfrm xmlns:a="http://schemas.openxmlformats.org/drawingml/2006/main">
            <a:off x="8039100" y="2247900"/>
            <a:ext cx="35433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D33C606C-7DD4-4B2D-AD8B-BD039F596DA9}"/>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Example or connection</a:t>
            </a:r>
          </a:p>
        </p:txBody>
      </p:sp>
      <p:sp>
        <p:nvSpPr>
          <p:cNvPr id="14" name="">
            <a:extLst xmlns:a="http://schemas.openxmlformats.org/drawingml/2006/main">
              <a:ext uri="{FF2B5EF4-FFF2-40B4-BE49-F238E27FC236}">
                <a16:creationId xmlns:a16="http://schemas.microsoft.com/office/drawing/2014/main" id="{EAC20DE9-2F80-4CE9-B72E-8574AF992F7A}"/>
              </a:ext>
            </a:extLst>
          </p:cNvPr>
          <p:cNvSpPr>
            <a:spLocks xmlns:a="http://schemas.openxmlformats.org/drawingml/2006/main" noGrp="1"/>
          </p:cNvSpPr>
          <p:nvPr/>
        </p:nvSpPr>
        <p:spPr>
          <a:xfrm xmlns:a="http://schemas.openxmlformats.org/drawingml/2006/main">
            <a:off x="8210550" y="2857500"/>
            <a:ext cx="32004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5" name="">
            <a:extLst xmlns:a="http://schemas.openxmlformats.org/drawingml/2006/main">
              <a:ext uri="{FF2B5EF4-FFF2-40B4-BE49-F238E27FC236}">
                <a16:creationId xmlns:a16="http://schemas.microsoft.com/office/drawing/2014/main" id="{4DCA2AB3-FAFF-4DBE-9A4A-969FA655087B}"/>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C202C1D-B793-4953-B1F2-4BE6F54DD67E}"/>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7" name="">
            <a:extLst xmlns:a="http://schemas.openxmlformats.org/drawingml/2006/main">
              <a:ext uri="{FF2B5EF4-FFF2-40B4-BE49-F238E27FC236}">
                <a16:creationId xmlns:a16="http://schemas.microsoft.com/office/drawing/2014/main" id="{F1D88F0E-BDD5-49AE-AC90-B08624DBB77F}"/>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9" name="source-credit">
            <a:extLst xmlns:a="http://schemas.openxmlformats.org/drawingml/2006/main">
              <a:ext uri="{FF2B5EF4-FFF2-40B4-BE49-F238E27FC236}">
                <a16:creationId xmlns:a16="http://schemas.microsoft.com/office/drawing/2014/main" id="{8D1F2FF8-3A81-45D8-ABB0-414C5DAFFA2F}"/>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60ba5ab23bd74044"/>
              </a:rPr>
              <a:t>Marilee Sprenger — published classroom example, MiddleWeb — original guidance</a:t>
            </a:r>
          </a:p>
        </p:txBody>
      </p:sp>
    </p:spTree>
    <p:extLst>
      <p:ext uri="{BB962C8B-B14F-4D97-AF65-F5344CB8AC3E}">
        <p14:creationId xmlns:p14="http://schemas.microsoft.com/office/powerpoint/2010/main" val="1074966376"/>
      </p:ext>
    </p:extLst>
  </p:cSld>
</p:sld>
</file>

<file path=ppt/slides/slide36.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371CDE1-98C1-425F-851F-41DA2569ABFB}"/>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Frayer model from memory</a:t>
            </a:r>
          </a:p>
        </p:txBody>
      </p:sp>
      <p:sp>
        <p:nvSpPr>
          <p:cNvPr id="2" name="">
            <a:extLst xmlns:a="http://schemas.openxmlformats.org/drawingml/2006/main">
              <a:ext uri="{FF2B5EF4-FFF2-40B4-BE49-F238E27FC236}">
                <a16:creationId xmlns:a16="http://schemas.microsoft.com/office/drawing/2014/main" id="{75F2D2DD-57A9-4B40-9B35-0CDE616B0ADE}"/>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previously taught concept]</a:t>
            </a:r>
          </a:p>
        </p:txBody>
      </p:sp>
      <p:sp>
        <p:nvSpPr>
          <p:cNvPr id="3" name="">
            <a:extLst xmlns:a="http://schemas.openxmlformats.org/drawingml/2006/main">
              <a:ext uri="{FF2B5EF4-FFF2-40B4-BE49-F238E27FC236}">
                <a16:creationId xmlns:a16="http://schemas.microsoft.com/office/drawing/2014/main" id="{70AE8042-0850-49FA-955D-CE9E6C3D21ED}"/>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BC4AB0-1CE8-4DF3-8E28-8147724EE121}"/>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6A260336-96E9-4E20-A2A0-4858A52AD05F}"/>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9E4FBC58-A0A6-4F6A-962F-DE7ADFF86061}"/>
              </a:ext>
            </a:extLst>
          </p:cNvPr>
          <p:cNvSpPr>
            <a:spLocks xmlns:a="http://schemas.openxmlformats.org/drawingml/2006/main" noGrp="1"/>
          </p:cNvSpPr>
          <p:nvPr/>
        </p:nvSpPr>
        <p:spPr>
          <a:xfrm xmlns:a="http://schemas.openxmlformats.org/drawingml/2006/main">
            <a:off x="609600" y="2247900"/>
            <a:ext cx="5029200" cy="14859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E7C73688-5B3A-4D68-A057-42612001AEB6}"/>
              </a:ext>
            </a:extLst>
          </p:cNvPr>
          <p:cNvSpPr>
            <a:spLocks xmlns:a="http://schemas.openxmlformats.org/drawingml/2006/main" noGrp="1"/>
          </p:cNvSpPr>
          <p:nvPr/>
        </p:nvSpPr>
        <p:spPr>
          <a:xfrm xmlns:a="http://schemas.openxmlformats.org/drawingml/2006/main">
            <a:off x="8001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D61E5D-AD4C-45BF-8A3E-FBC8DF56B311}"/>
              </a:ext>
            </a:extLst>
          </p:cNvPr>
          <p:cNvSpPr>
            <a:spLocks xmlns:a="http://schemas.openxmlformats.org/drawingml/2006/main" noGrp="1"/>
          </p:cNvSpPr>
          <p:nvPr/>
        </p:nvSpPr>
        <p:spPr>
          <a:xfrm xmlns:a="http://schemas.openxmlformats.org/drawingml/2006/main">
            <a:off x="8572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01</a:t>
            </a:r>
          </a:p>
        </p:txBody>
      </p:sp>
      <p:sp>
        <p:nvSpPr>
          <p:cNvPr id="9" name="">
            <a:extLst xmlns:a="http://schemas.openxmlformats.org/drawingml/2006/main">
              <a:ext uri="{FF2B5EF4-FFF2-40B4-BE49-F238E27FC236}">
                <a16:creationId xmlns:a16="http://schemas.microsoft.com/office/drawing/2014/main" id="{808D3015-2FC4-480A-934F-18CAFB93D0FE}"/>
              </a:ext>
            </a:extLst>
          </p:cNvPr>
          <p:cNvSpPr>
            <a:spLocks xmlns:a="http://schemas.openxmlformats.org/drawingml/2006/main" noGrp="1"/>
          </p:cNvSpPr>
          <p:nvPr/>
        </p:nvSpPr>
        <p:spPr>
          <a:xfrm xmlns:a="http://schemas.openxmlformats.org/drawingml/2006/main">
            <a:off x="1352550" y="2466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Definition</a:t>
            </a:r>
          </a:p>
        </p:txBody>
      </p:sp>
      <p:sp>
        <p:nvSpPr>
          <p:cNvPr id="10" name="">
            <a:extLst xmlns:a="http://schemas.openxmlformats.org/drawingml/2006/main">
              <a:ext uri="{FF2B5EF4-FFF2-40B4-BE49-F238E27FC236}">
                <a16:creationId xmlns:a16="http://schemas.microsoft.com/office/drawing/2014/main" id="{A6C37D07-2FCB-4E00-A1FA-AB20AAC98493}"/>
              </a:ext>
            </a:extLst>
          </p:cNvPr>
          <p:cNvSpPr>
            <a:spLocks xmlns:a="http://schemas.openxmlformats.org/drawingml/2006/main" noGrp="1"/>
          </p:cNvSpPr>
          <p:nvPr/>
        </p:nvSpPr>
        <p:spPr>
          <a:xfrm xmlns:a="http://schemas.openxmlformats.org/drawingml/2006/main">
            <a:off x="819150" y="299085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11" name="">
            <a:extLst xmlns:a="http://schemas.openxmlformats.org/drawingml/2006/main">
              <a:ext uri="{FF2B5EF4-FFF2-40B4-BE49-F238E27FC236}">
                <a16:creationId xmlns:a16="http://schemas.microsoft.com/office/drawing/2014/main" id="{68B58710-376A-498F-8D1D-EA289EFAE22A}"/>
              </a:ext>
            </a:extLst>
          </p:cNvPr>
          <p:cNvSpPr>
            <a:spLocks xmlns:a="http://schemas.openxmlformats.org/drawingml/2006/main" noGrp="1"/>
          </p:cNvSpPr>
          <p:nvPr/>
        </p:nvSpPr>
        <p:spPr>
          <a:xfrm xmlns:a="http://schemas.openxmlformats.org/drawingml/2006/main">
            <a:off x="6553200" y="2247900"/>
            <a:ext cx="5029200" cy="14859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2" name="">
            <a:extLst xmlns:a="http://schemas.openxmlformats.org/drawingml/2006/main">
              <a:ext uri="{FF2B5EF4-FFF2-40B4-BE49-F238E27FC236}">
                <a16:creationId xmlns:a16="http://schemas.microsoft.com/office/drawing/2014/main" id="{B3C624A9-2DCA-41A1-933D-64FD16C17620}"/>
              </a:ext>
            </a:extLst>
          </p:cNvPr>
          <p:cNvSpPr>
            <a:spLocks xmlns:a="http://schemas.openxmlformats.org/drawingml/2006/main" noGrp="1"/>
          </p:cNvSpPr>
          <p:nvPr/>
        </p:nvSpPr>
        <p:spPr>
          <a:xfrm xmlns:a="http://schemas.openxmlformats.org/drawingml/2006/main">
            <a:off x="6743700" y="241935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AC79D37-ACC4-4949-BE92-3439AA7DC74A}"/>
              </a:ext>
            </a:extLst>
          </p:cNvPr>
          <p:cNvSpPr>
            <a:spLocks xmlns:a="http://schemas.openxmlformats.org/drawingml/2006/main" noGrp="1"/>
          </p:cNvSpPr>
          <p:nvPr/>
        </p:nvSpPr>
        <p:spPr>
          <a:xfrm xmlns:a="http://schemas.openxmlformats.org/drawingml/2006/main">
            <a:off x="6800850" y="248602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02</a:t>
            </a:r>
          </a:p>
        </p:txBody>
      </p:sp>
      <p:sp>
        <p:nvSpPr>
          <p:cNvPr id="14" name="">
            <a:extLst xmlns:a="http://schemas.openxmlformats.org/drawingml/2006/main">
              <a:ext uri="{FF2B5EF4-FFF2-40B4-BE49-F238E27FC236}">
                <a16:creationId xmlns:a16="http://schemas.microsoft.com/office/drawing/2014/main" id="{7E254027-4519-4B8D-818A-61EBE7185ADA}"/>
              </a:ext>
            </a:extLst>
          </p:cNvPr>
          <p:cNvSpPr>
            <a:spLocks xmlns:a="http://schemas.openxmlformats.org/drawingml/2006/main" noGrp="1"/>
          </p:cNvSpPr>
          <p:nvPr/>
        </p:nvSpPr>
        <p:spPr>
          <a:xfrm xmlns:a="http://schemas.openxmlformats.org/drawingml/2006/main">
            <a:off x="7296150" y="2466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Key characteristics</a:t>
            </a:r>
          </a:p>
        </p:txBody>
      </p:sp>
      <p:sp>
        <p:nvSpPr>
          <p:cNvPr id="15" name="">
            <a:extLst xmlns:a="http://schemas.openxmlformats.org/drawingml/2006/main">
              <a:ext uri="{FF2B5EF4-FFF2-40B4-BE49-F238E27FC236}">
                <a16:creationId xmlns:a16="http://schemas.microsoft.com/office/drawing/2014/main" id="{E7DE7420-A4F1-43EA-A85F-BC7AFE67CF4F}"/>
              </a:ext>
            </a:extLst>
          </p:cNvPr>
          <p:cNvSpPr>
            <a:spLocks xmlns:a="http://schemas.openxmlformats.org/drawingml/2006/main" noGrp="1"/>
          </p:cNvSpPr>
          <p:nvPr/>
        </p:nvSpPr>
        <p:spPr>
          <a:xfrm xmlns:a="http://schemas.openxmlformats.org/drawingml/2006/main">
            <a:off x="6762750" y="299085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16" name="">
            <a:extLst xmlns:a="http://schemas.openxmlformats.org/drawingml/2006/main">
              <a:ext uri="{FF2B5EF4-FFF2-40B4-BE49-F238E27FC236}">
                <a16:creationId xmlns:a16="http://schemas.microsoft.com/office/drawing/2014/main" id="{32ADC12D-6FD8-47F5-89A5-2751DF6F0545}"/>
              </a:ext>
            </a:extLst>
          </p:cNvPr>
          <p:cNvSpPr>
            <a:spLocks xmlns:a="http://schemas.openxmlformats.org/drawingml/2006/main" noGrp="1"/>
          </p:cNvSpPr>
          <p:nvPr/>
        </p:nvSpPr>
        <p:spPr>
          <a:xfrm xmlns:a="http://schemas.openxmlformats.org/drawingml/2006/main">
            <a:off x="609600" y="4286250"/>
            <a:ext cx="5029200" cy="14859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7B12B317-EA73-449D-929E-B6FD54B1517E}"/>
              </a:ext>
            </a:extLst>
          </p:cNvPr>
          <p:cNvSpPr>
            <a:spLocks xmlns:a="http://schemas.openxmlformats.org/drawingml/2006/main" noGrp="1"/>
          </p:cNvSpPr>
          <p:nvPr/>
        </p:nvSpPr>
        <p:spPr>
          <a:xfrm xmlns:a="http://schemas.openxmlformats.org/drawingml/2006/main">
            <a:off x="800100" y="44577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C10609D-504B-4206-8EBF-C70915E2CBDE}"/>
              </a:ext>
            </a:extLst>
          </p:cNvPr>
          <p:cNvSpPr>
            <a:spLocks xmlns:a="http://schemas.openxmlformats.org/drawingml/2006/main" noGrp="1"/>
          </p:cNvSpPr>
          <p:nvPr/>
        </p:nvSpPr>
        <p:spPr>
          <a:xfrm xmlns:a="http://schemas.openxmlformats.org/drawingml/2006/main">
            <a:off x="857250" y="4524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03</a:t>
            </a:r>
          </a:p>
        </p:txBody>
      </p:sp>
      <p:sp>
        <p:nvSpPr>
          <p:cNvPr id="19" name="">
            <a:extLst xmlns:a="http://schemas.openxmlformats.org/drawingml/2006/main">
              <a:ext uri="{FF2B5EF4-FFF2-40B4-BE49-F238E27FC236}">
                <a16:creationId xmlns:a16="http://schemas.microsoft.com/office/drawing/2014/main" id="{E59533D8-3AE1-4A65-AFBF-A277335EDF56}"/>
              </a:ext>
            </a:extLst>
          </p:cNvPr>
          <p:cNvSpPr>
            <a:spLocks xmlns:a="http://schemas.openxmlformats.org/drawingml/2006/main" noGrp="1"/>
          </p:cNvSpPr>
          <p:nvPr/>
        </p:nvSpPr>
        <p:spPr>
          <a:xfrm xmlns:a="http://schemas.openxmlformats.org/drawingml/2006/main">
            <a:off x="1352550" y="45053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Examples</a:t>
            </a:r>
          </a:p>
        </p:txBody>
      </p:sp>
      <p:sp>
        <p:nvSpPr>
          <p:cNvPr id="20" name="">
            <a:extLst xmlns:a="http://schemas.openxmlformats.org/drawingml/2006/main">
              <a:ext uri="{FF2B5EF4-FFF2-40B4-BE49-F238E27FC236}">
                <a16:creationId xmlns:a16="http://schemas.microsoft.com/office/drawing/2014/main" id="{817ECE65-9917-4A8E-BE9E-83A08488CC34}"/>
              </a:ext>
            </a:extLst>
          </p:cNvPr>
          <p:cNvSpPr>
            <a:spLocks xmlns:a="http://schemas.openxmlformats.org/drawingml/2006/main" noGrp="1"/>
          </p:cNvSpPr>
          <p:nvPr/>
        </p:nvSpPr>
        <p:spPr>
          <a:xfrm xmlns:a="http://schemas.openxmlformats.org/drawingml/2006/main">
            <a:off x="819150" y="502920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21" name="">
            <a:extLst xmlns:a="http://schemas.openxmlformats.org/drawingml/2006/main">
              <a:ext uri="{FF2B5EF4-FFF2-40B4-BE49-F238E27FC236}">
                <a16:creationId xmlns:a16="http://schemas.microsoft.com/office/drawing/2014/main" id="{F0441067-CD7A-482A-A09E-58869F121133}"/>
              </a:ext>
            </a:extLst>
          </p:cNvPr>
          <p:cNvSpPr>
            <a:spLocks xmlns:a="http://schemas.openxmlformats.org/drawingml/2006/main" noGrp="1"/>
          </p:cNvSpPr>
          <p:nvPr/>
        </p:nvSpPr>
        <p:spPr>
          <a:xfrm xmlns:a="http://schemas.openxmlformats.org/drawingml/2006/main">
            <a:off x="6553200" y="4286250"/>
            <a:ext cx="5029200" cy="14859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0484D23E-BDA6-49F5-A44D-D3E4796EE1D2}"/>
              </a:ext>
            </a:extLst>
          </p:cNvPr>
          <p:cNvSpPr>
            <a:spLocks xmlns:a="http://schemas.openxmlformats.org/drawingml/2006/main" noGrp="1"/>
          </p:cNvSpPr>
          <p:nvPr/>
        </p:nvSpPr>
        <p:spPr>
          <a:xfrm xmlns:a="http://schemas.openxmlformats.org/drawingml/2006/main">
            <a:off x="6743700" y="4457700"/>
            <a:ext cx="381000" cy="381000"/>
          </a:xfrm>
          <a:prstGeom xmlns:a="http://schemas.openxmlformats.org/drawingml/2006/main" prst="ellipse">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7075307-88E3-4D3A-BA28-8FBE90011590}"/>
              </a:ext>
            </a:extLst>
          </p:cNvPr>
          <p:cNvSpPr>
            <a:spLocks xmlns:a="http://schemas.openxmlformats.org/drawingml/2006/main" noGrp="1"/>
          </p:cNvSpPr>
          <p:nvPr/>
        </p:nvSpPr>
        <p:spPr>
          <a:xfrm xmlns:a="http://schemas.openxmlformats.org/drawingml/2006/main">
            <a:off x="6800850" y="4524375"/>
            <a:ext cx="342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350" b="1">
                <a:solidFill>
                  <a:srgbClr val="263C3A"/>
                </a:solidFill>
                <a:latin typeface="DejaVu Sans"/>
                <a:ea typeface="DejaVu Sans"/>
                <a:cs typeface="DejaVu Sans"/>
              </a:defRPr>
            </a:pPr>
            <a:r>
              <a:rPr sz="1350" b="1">
                <a:solidFill>
                  <a:srgbClr val="263C3A"/>
                </a:solidFill>
                <a:latin typeface="DejaVu Sans"/>
                <a:ea typeface="DejaVu Sans"/>
                <a:cs typeface="DejaVu Sans"/>
              </a:rPr>
              <a:t>04</a:t>
            </a:r>
          </a:p>
        </p:txBody>
      </p:sp>
      <p:sp>
        <p:nvSpPr>
          <p:cNvPr id="24" name="">
            <a:extLst xmlns:a="http://schemas.openxmlformats.org/drawingml/2006/main">
              <a:ext uri="{FF2B5EF4-FFF2-40B4-BE49-F238E27FC236}">
                <a16:creationId xmlns:a16="http://schemas.microsoft.com/office/drawing/2014/main" id="{38CFD081-9FD0-47B9-91E0-0D7C5ABA10EC}"/>
              </a:ext>
            </a:extLst>
          </p:cNvPr>
          <p:cNvSpPr>
            <a:spLocks xmlns:a="http://schemas.openxmlformats.org/drawingml/2006/main" noGrp="1"/>
          </p:cNvSpPr>
          <p:nvPr/>
        </p:nvSpPr>
        <p:spPr>
          <a:xfrm xmlns:a="http://schemas.openxmlformats.org/drawingml/2006/main">
            <a:off x="7296150" y="45053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725" b="1">
                <a:solidFill>
                  <a:srgbClr val="263C3A"/>
                </a:solidFill>
                <a:latin typeface="DejaVu Sans"/>
                <a:ea typeface="DejaVu Sans"/>
                <a:cs typeface="DejaVu Sans"/>
              </a:defRPr>
            </a:pPr>
            <a:r>
              <a:rPr sz="1725" b="1">
                <a:solidFill>
                  <a:srgbClr val="263C3A"/>
                </a:solidFill>
                <a:latin typeface="DejaVu Sans"/>
                <a:ea typeface="DejaVu Sans"/>
                <a:cs typeface="DejaVu Sans"/>
              </a:rPr>
              <a:t>Non-examples</a:t>
            </a:r>
          </a:p>
        </p:txBody>
      </p:sp>
      <p:sp>
        <p:nvSpPr>
          <p:cNvPr id="25" name="">
            <a:extLst xmlns:a="http://schemas.openxmlformats.org/drawingml/2006/main">
              <a:ext uri="{FF2B5EF4-FFF2-40B4-BE49-F238E27FC236}">
                <a16:creationId xmlns:a16="http://schemas.microsoft.com/office/drawing/2014/main" id="{E1469A81-14D9-443D-9D34-302833387E7F}"/>
              </a:ext>
            </a:extLst>
          </p:cNvPr>
          <p:cNvSpPr>
            <a:spLocks xmlns:a="http://schemas.openxmlformats.org/drawingml/2006/main" noGrp="1"/>
          </p:cNvSpPr>
          <p:nvPr/>
        </p:nvSpPr>
        <p:spPr>
          <a:xfrm xmlns:a="http://schemas.openxmlformats.org/drawingml/2006/main">
            <a:off x="6762750" y="5029200"/>
            <a:ext cx="46101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950" b="0">
                <a:solidFill>
                  <a:srgbClr val="687572"/>
                </a:solidFill>
                <a:latin typeface="DejaVu Sans"/>
                <a:ea typeface="DejaVu Sans"/>
                <a:cs typeface="DejaVu Sans"/>
              </a:defRPr>
            </a:pPr>
            <a:r>
              <a:rPr sz="1950" b="0">
                <a:solidFill>
                  <a:srgbClr val="687572"/>
                </a:solidFill>
                <a:latin typeface="DejaVu Sans"/>
                <a:ea typeface="DejaVu Sans"/>
                <a:cs typeface="DejaVu Sans"/>
              </a:rPr>
              <a:t>[Recall here]</a:t>
            </a:r>
          </a:p>
        </p:txBody>
      </p:sp>
      <p:sp>
        <p:nvSpPr>
          <p:cNvPr id="26" name="">
            <a:extLst xmlns:a="http://schemas.openxmlformats.org/drawingml/2006/main">
              <a:ext uri="{FF2B5EF4-FFF2-40B4-BE49-F238E27FC236}">
                <a16:creationId xmlns:a16="http://schemas.microsoft.com/office/drawing/2014/main" id="{EC6B43D6-D952-4124-81C7-7A4D06A584FE}"/>
              </a:ext>
            </a:extLst>
          </p:cNvPr>
          <p:cNvSpPr>
            <a:spLocks xmlns:a="http://schemas.openxmlformats.org/drawingml/2006/main" noGrp="1"/>
          </p:cNvSpPr>
          <p:nvPr/>
        </p:nvSpPr>
        <p:spPr>
          <a:xfrm xmlns:a="http://schemas.openxmlformats.org/drawingml/2006/main">
            <a:off x="4572000" y="3848100"/>
            <a:ext cx="3048000" cy="381000"/>
          </a:xfrm>
          <a:prstGeom xmlns:a="http://schemas.openxmlformats.org/drawingml/2006/main" prst="rect">
            <a:avLst/>
          </a:prstGeom>
          <a:solidFill xmlns:a="http://schemas.openxmlformats.org/drawingml/2006/main">
            <a:srgbClr val="E7EEE9"/>
          </a:solidFill>
          <a:ln xmlns:a="http://schemas.openxmlformats.org/drawingml/2006/main" w="9525">
            <a:solidFill>
              <a:srgbClr val="A9BDB7"/>
            </a:solidFill>
          </a:ln>
        </p:spPr>
      </p:sp>
      <p:sp>
        <p:nvSpPr>
          <p:cNvPr id="27" name="">
            <a:extLst xmlns:a="http://schemas.openxmlformats.org/drawingml/2006/main">
              <a:ext uri="{FF2B5EF4-FFF2-40B4-BE49-F238E27FC236}">
                <a16:creationId xmlns:a16="http://schemas.microsoft.com/office/drawing/2014/main" id="{020AD091-0B59-43C9-8DE8-852F42E584DC}"/>
              </a:ext>
            </a:extLst>
          </p:cNvPr>
          <p:cNvSpPr>
            <a:spLocks xmlns:a="http://schemas.openxmlformats.org/drawingml/2006/main" noGrp="1"/>
          </p:cNvSpPr>
          <p:nvPr/>
        </p:nvSpPr>
        <p:spPr>
          <a:xfrm xmlns:a="http://schemas.openxmlformats.org/drawingml/2006/main">
            <a:off x="4762500" y="3886200"/>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[Concept]</a:t>
            </a:r>
          </a:p>
        </p:txBody>
      </p:sp>
      <p:sp>
        <p:nvSpPr>
          <p:cNvPr id="28" name="">
            <a:extLst xmlns:a="http://schemas.openxmlformats.org/drawingml/2006/main">
              <a:ext uri="{FF2B5EF4-FFF2-40B4-BE49-F238E27FC236}">
                <a16:creationId xmlns:a16="http://schemas.microsoft.com/office/drawing/2014/main" id="{BC4B1557-EB09-4CE0-A665-8D8129CE0711}"/>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A17FCE4-0FC4-441F-B1A3-FEFA7A95A0BC}"/>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30" name="">
            <a:extLst xmlns:a="http://schemas.openxmlformats.org/drawingml/2006/main">
              <a:ext uri="{FF2B5EF4-FFF2-40B4-BE49-F238E27FC236}">
                <a16:creationId xmlns:a16="http://schemas.microsoft.com/office/drawing/2014/main" id="{B77CBD89-EB7E-4468-969D-675D61918C9C}"/>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32" name="source-credit">
            <a:extLst xmlns:a="http://schemas.openxmlformats.org/drawingml/2006/main">
              <a:ext uri="{FF2B5EF4-FFF2-40B4-BE49-F238E27FC236}">
                <a16:creationId xmlns:a16="http://schemas.microsoft.com/office/drawing/2014/main" id="{980393FB-3FE3-438D-AB36-4165161AA8AA}"/>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f07390c6fa3d4972"/>
              </a:rPr>
              <a:t>Dorothy Frayer &amp; colleagues — Frayer model; retrieval example by Marilee Sprenger — original guidance</a:t>
            </a:r>
          </a:p>
        </p:txBody>
      </p:sp>
    </p:spTree>
    <p:extLst>
      <p:ext uri="{BB962C8B-B14F-4D97-AF65-F5344CB8AC3E}">
        <p14:creationId xmlns:p14="http://schemas.microsoft.com/office/powerpoint/2010/main" val="2015290201"/>
      </p:ext>
    </p:extLst>
  </p:cSld>
</p:sld>
</file>

<file path=ppt/slides/slide3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64D2E2F-CAF3-4442-BEEA-738BA0523F4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How and why recall</a:t>
            </a:r>
          </a:p>
        </p:txBody>
      </p:sp>
      <p:sp>
        <p:nvSpPr>
          <p:cNvPr id="2" name="">
            <a:extLst xmlns:a="http://schemas.openxmlformats.org/drawingml/2006/main">
              <a:ext uri="{FF2B5EF4-FFF2-40B4-BE49-F238E27FC236}">
                <a16:creationId xmlns:a16="http://schemas.microsoft.com/office/drawing/2014/main" id="{C3773A36-1ADA-4079-9369-F45E3DBC72F8}"/>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F3E274ED-AD54-4252-B01B-ACE4C37F44C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EEE37B-08B0-45AD-952C-6A771090E5C8}"/>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20910EED-81BE-4229-A921-DB3CD93B786E}"/>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32C607CA-93B7-47BC-B483-0F41D5005022}"/>
              </a:ext>
            </a:extLst>
          </p:cNvPr>
          <p:cNvSpPr>
            <a:spLocks xmlns:a="http://schemas.openxmlformats.org/drawingml/2006/main" noGrp="1"/>
          </p:cNvSpPr>
          <p:nvPr/>
        </p:nvSpPr>
        <p:spPr>
          <a:xfrm xmlns:a="http://schemas.openxmlformats.org/drawingml/2006/main">
            <a:off x="609600" y="2247900"/>
            <a:ext cx="5400675"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047895F9-5B93-4652-B1B8-44A359BE7744}"/>
              </a:ext>
            </a:extLst>
          </p:cNvPr>
          <p:cNvSpPr>
            <a:spLocks xmlns:a="http://schemas.openxmlformats.org/drawingml/2006/main" noGrp="1"/>
          </p:cNvSpPr>
          <p:nvPr/>
        </p:nvSpPr>
        <p:spPr>
          <a:xfrm xmlns:a="http://schemas.openxmlformats.org/drawingml/2006/main">
            <a:off x="781050"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How  [Your prompt]</a:t>
            </a:r>
          </a:p>
        </p:txBody>
      </p:sp>
      <p:sp>
        <p:nvSpPr>
          <p:cNvPr id="8" name="">
            <a:extLst xmlns:a="http://schemas.openxmlformats.org/drawingml/2006/main">
              <a:ext uri="{FF2B5EF4-FFF2-40B4-BE49-F238E27FC236}">
                <a16:creationId xmlns:a16="http://schemas.microsoft.com/office/drawing/2014/main" id="{070C33D8-6693-4419-A7FA-4F368E523735}"/>
              </a:ext>
            </a:extLst>
          </p:cNvPr>
          <p:cNvSpPr>
            <a:spLocks xmlns:a="http://schemas.openxmlformats.org/drawingml/2006/main" noGrp="1"/>
          </p:cNvSpPr>
          <p:nvPr/>
        </p:nvSpPr>
        <p:spPr>
          <a:xfrm xmlns:a="http://schemas.openxmlformats.org/drawingml/2006/main">
            <a:off x="781050" y="2857500"/>
            <a:ext cx="50577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EE77996A-B60C-4DB9-8FCA-467CCBBDC276}"/>
              </a:ext>
            </a:extLst>
          </p:cNvPr>
          <p:cNvSpPr>
            <a:spLocks xmlns:a="http://schemas.openxmlformats.org/drawingml/2006/main" noGrp="1"/>
          </p:cNvSpPr>
          <p:nvPr/>
        </p:nvSpPr>
        <p:spPr>
          <a:xfrm xmlns:a="http://schemas.openxmlformats.org/drawingml/2006/main">
            <a:off x="6181725" y="2247900"/>
            <a:ext cx="5400675" cy="33718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B48D68C5-7BED-4C50-BF39-86725790BE57}"/>
              </a:ext>
            </a:extLst>
          </p:cNvPr>
          <p:cNvSpPr>
            <a:spLocks xmlns:a="http://schemas.openxmlformats.org/drawingml/2006/main" noGrp="1"/>
          </p:cNvSpPr>
          <p:nvPr/>
        </p:nvSpPr>
        <p:spPr>
          <a:xfrm xmlns:a="http://schemas.openxmlformats.org/drawingml/2006/main">
            <a:off x="6353175" y="2381250"/>
            <a:ext cx="50577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Why  [Your prompt]</a:t>
            </a:r>
          </a:p>
        </p:txBody>
      </p:sp>
      <p:sp>
        <p:nvSpPr>
          <p:cNvPr id="11" name="">
            <a:extLst xmlns:a="http://schemas.openxmlformats.org/drawingml/2006/main">
              <a:ext uri="{FF2B5EF4-FFF2-40B4-BE49-F238E27FC236}">
                <a16:creationId xmlns:a16="http://schemas.microsoft.com/office/drawing/2014/main" id="{A5270007-7E9D-40E7-AF58-6F5FC494B563}"/>
              </a:ext>
            </a:extLst>
          </p:cNvPr>
          <p:cNvSpPr>
            <a:spLocks xmlns:a="http://schemas.openxmlformats.org/drawingml/2006/main" noGrp="1"/>
          </p:cNvSpPr>
          <p:nvPr/>
        </p:nvSpPr>
        <p:spPr>
          <a:xfrm xmlns:a="http://schemas.openxmlformats.org/drawingml/2006/main">
            <a:off x="6353175" y="2857500"/>
            <a:ext cx="505777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12" name="">
            <a:extLst xmlns:a="http://schemas.openxmlformats.org/drawingml/2006/main">
              <a:ext uri="{FF2B5EF4-FFF2-40B4-BE49-F238E27FC236}">
                <a16:creationId xmlns:a16="http://schemas.microsoft.com/office/drawing/2014/main" id="{70AA5A8B-0498-414D-B9D7-6DF810D65024}"/>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C8B1F08-7B43-4EC8-8B21-DBFF2A50C120}"/>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4" name="">
            <a:extLst xmlns:a="http://schemas.openxmlformats.org/drawingml/2006/main">
              <a:ext uri="{FF2B5EF4-FFF2-40B4-BE49-F238E27FC236}">
                <a16:creationId xmlns:a16="http://schemas.microsoft.com/office/drawing/2014/main" id="{F4780658-EF79-451F-87C5-8C9063D858C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6" name="source-credit">
            <a:extLst xmlns:a="http://schemas.openxmlformats.org/drawingml/2006/main">
              <a:ext uri="{FF2B5EF4-FFF2-40B4-BE49-F238E27FC236}">
                <a16:creationId xmlns:a16="http://schemas.microsoft.com/office/drawing/2014/main" id="{AE5A0245-A636-4841-BBB7-860128856386}"/>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4d22570a8bb44d4a"/>
              </a:rPr>
              <a:t>The Learning Scientists — elaboration combined with retrieval — original guidance</a:t>
            </a:r>
          </a:p>
        </p:txBody>
      </p:sp>
    </p:spTree>
    <p:extLst>
      <p:ext uri="{BB962C8B-B14F-4D97-AF65-F5344CB8AC3E}">
        <p14:creationId xmlns:p14="http://schemas.microsoft.com/office/powerpoint/2010/main" val="2109969802"/>
      </p:ext>
    </p:extLst>
  </p:cSld>
</p:sld>
</file>

<file path=ppt/slides/slide38.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6E5409B-270F-47D2-AAEE-46C29289919E}"/>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Short recall write</a:t>
            </a:r>
          </a:p>
        </p:txBody>
      </p:sp>
      <p:sp>
        <p:nvSpPr>
          <p:cNvPr id="2" name="">
            <a:extLst xmlns:a="http://schemas.openxmlformats.org/drawingml/2006/main">
              <a:ext uri="{FF2B5EF4-FFF2-40B4-BE49-F238E27FC236}">
                <a16:creationId xmlns:a16="http://schemas.microsoft.com/office/drawing/2014/main" id="{32ED3233-0A12-4FEE-A777-69146C424FA0}"/>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22EEC39D-9F1F-4F50-8902-4E1634B80D56}"/>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C3166C0-CF2E-4364-94B4-75FAFE955F67}"/>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F05F69D6-409A-4406-9426-9C8B77E4A475}"/>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1DBCE1CD-AE2E-496A-BC83-545369D7D766}"/>
              </a:ext>
            </a:extLst>
          </p:cNvPr>
          <p:cNvSpPr>
            <a:spLocks xmlns:a="http://schemas.openxmlformats.org/drawingml/2006/main" noGrp="1"/>
          </p:cNvSpPr>
          <p:nvPr/>
        </p:nvSpPr>
        <p:spPr>
          <a:xfrm xmlns:a="http://schemas.openxmlformats.org/drawingml/2006/main">
            <a:off x="609600" y="2247900"/>
            <a:ext cx="10972800" cy="33718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5B9EA412-D4CA-4817-9B44-8816F35B8E83}"/>
              </a:ext>
            </a:extLst>
          </p:cNvPr>
          <p:cNvSpPr>
            <a:spLocks xmlns:a="http://schemas.openxmlformats.org/drawingml/2006/main" noGrp="1"/>
          </p:cNvSpPr>
          <p:nvPr/>
        </p:nvSpPr>
        <p:spPr>
          <a:xfrm xmlns:a="http://schemas.openxmlformats.org/drawingml/2006/main">
            <a:off x="781050" y="2381250"/>
            <a:ext cx="10629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[Your focused recall question]</a:t>
            </a:r>
          </a:p>
        </p:txBody>
      </p:sp>
      <p:sp>
        <p:nvSpPr>
          <p:cNvPr id="8" name="">
            <a:extLst xmlns:a="http://schemas.openxmlformats.org/drawingml/2006/main">
              <a:ext uri="{FF2B5EF4-FFF2-40B4-BE49-F238E27FC236}">
                <a16:creationId xmlns:a16="http://schemas.microsoft.com/office/drawing/2014/main" id="{B9D61262-8918-4D53-A98D-FBB79058B2A8}"/>
              </a:ext>
            </a:extLst>
          </p:cNvPr>
          <p:cNvSpPr>
            <a:spLocks xmlns:a="http://schemas.openxmlformats.org/drawingml/2006/main" noGrp="1"/>
          </p:cNvSpPr>
          <p:nvPr/>
        </p:nvSpPr>
        <p:spPr>
          <a:xfrm xmlns:a="http://schemas.openxmlformats.org/drawingml/2006/main">
            <a:off x="781050" y="2857500"/>
            <a:ext cx="106299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[Your response or prompt]</a:t>
            </a:r>
          </a:p>
        </p:txBody>
      </p:sp>
      <p:sp>
        <p:nvSpPr>
          <p:cNvPr id="9" name="">
            <a:extLst xmlns:a="http://schemas.openxmlformats.org/drawingml/2006/main">
              <a:ext uri="{FF2B5EF4-FFF2-40B4-BE49-F238E27FC236}">
                <a16:creationId xmlns:a16="http://schemas.microsoft.com/office/drawing/2014/main" id="{E6D87D2A-6D3B-497B-B5E1-D9A8AD8220C2}"/>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089597C-2DC5-4020-A883-85BD44A0D3EA}"/>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11" name="">
            <a:extLst xmlns:a="http://schemas.openxmlformats.org/drawingml/2006/main">
              <a:ext uri="{FF2B5EF4-FFF2-40B4-BE49-F238E27FC236}">
                <a16:creationId xmlns:a16="http://schemas.microsoft.com/office/drawing/2014/main" id="{0476E7D3-DB0F-49E4-9CD5-1C208497AF4D}"/>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13" name="source-credit">
            <a:extLst xmlns:a="http://schemas.openxmlformats.org/drawingml/2006/main">
              <a:ext uri="{FF2B5EF4-FFF2-40B4-BE49-F238E27FC236}">
                <a16:creationId xmlns:a16="http://schemas.microsoft.com/office/drawing/2014/main" id="{78540D55-A96E-49E5-B5D1-4C1E3A1BE250}"/>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2f146d47c5ba496b"/>
              </a:rPr>
              <a:t>Tom Needham — 10-minute writes classroom example — original guidance</a:t>
            </a:r>
          </a:p>
        </p:txBody>
      </p:sp>
    </p:spTree>
    <p:extLst>
      <p:ext uri="{BB962C8B-B14F-4D97-AF65-F5344CB8AC3E}">
        <p14:creationId xmlns:p14="http://schemas.microsoft.com/office/powerpoint/2010/main" val="9596975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2026-10-08T06:08:17.7210000Z</dcterms:created>
  <dcterms:modified xsi:type="dcterms:W3CDTF">2026-10-08T06:08:17.7210000Z</dcterms:modified>
</coreProperties>
</file>