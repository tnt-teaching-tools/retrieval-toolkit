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70166033d5443b4" /><Relationship Type="http://schemas.openxmlformats.org/officeDocument/2006/relationships/extended-properties" Target="/docProps/app.xml" Id="Raa2b8ef011d94616" /><Relationship Type="http://schemas.openxmlformats.org/officeDocument/2006/relationships/officeDocument" Target="/ppt/presentation.xml" Id="Ref0dc583fc5b4d0c" /></Relationships>
</file>

<file path=ppt/presentation.xml><?xml version="1.0" encoding="utf-8"?>
<p:presentation xmlns:p="http://schemas.openxmlformats.org/presentationml/2006/main">
  <p:sldMasterIdLst>
    <p:sldMasterId xmlns:r="http://schemas.openxmlformats.org/officeDocument/2006/relationships" id="2147483648" r:id="R014f2663e37d4d2f"/>
  </p:sldMasterIdLst>
  <p:notesMasterIdLst>
    <p:notesMasterId xmlns:r="http://schemas.openxmlformats.org/officeDocument/2006/relationships" r:id="Rb5632d728aaa452c"/>
  </p:notesMasterIdLst>
  <p:sldIdLst>
    <p:sldId xmlns:r="http://schemas.openxmlformats.org/officeDocument/2006/relationships" id="256" r:id="Rd757a64a341741f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69ed2fc9a45476a" /><Relationship Type="http://schemas.openxmlformats.org/officeDocument/2006/relationships/slideMaster" Target="/ppt/slideMasters/slideMaster1.xml" Id="R014f2663e37d4d2f" /><Relationship Type="http://schemas.openxmlformats.org/officeDocument/2006/relationships/notesMaster" Target="/ppt/notesMasters/notesMaster1.xml" Id="Rb5632d728aaa452c" /><Relationship Type="http://schemas.openxmlformats.org/officeDocument/2006/relationships/presProps" Target="/ppt/presProps.xml" Id="Re2236bbc159942e5" /><Relationship Type="http://schemas.openxmlformats.org/officeDocument/2006/relationships/tableStyles" Target="/ppt/tableStyles.xml" Id="R4e3d78aead084411" /><Relationship Type="http://schemas.openxmlformats.org/officeDocument/2006/relationships/slide" Target="/ppt/slides/slide1.xml" Id="Rd757a64a341741f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964adda4ab14d7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5f470f40c8848bf" /><Relationship Type="http://schemas.openxmlformats.org/officeDocument/2006/relationships/notesMaster" Target="/ppt/notesMasters/notesMaster1.xml" Id="Ra3de9cbbf67944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a:p xmlns:a="http://schemas.openxmlformats.org/drawingml/2006/main">
            <a:r>
              <a:t/>
            </a:r>
          </a:p>
          <a:p xmlns:a="http://schemas.openxmlformats.org/drawingml/2006/main">
            <a:r>
              <a:t>SOURCE AND ACKNOWLEDGEMENT</a:t>
            </a:r>
          </a:p>
          <a:p xmlns:a="http://schemas.openxmlformats.org/drawingml/2006/main">
            <a:r>
              <a:t/>
            </a:r>
          </a:p>
          <a:p xmlns:a="http://schemas.openxmlformats.org/drawingml/2006/main">
            <a:r>
              <a:t>Jenny Campbell — published classroom example, Collins</a:t>
            </a:r>
          </a:p>
          <a:p xmlns:a="http://schemas.openxmlformats.org/drawingml/2006/main">
            <a:r>
              <a:t/>
            </a:r>
          </a:p>
          <a:p xmlns:a="http://schemas.openxmlformats.org/drawingml/2006/main">
            <a:r>
              <a:t>https://collins.co.uk/blogs/collins-schools/retrieval-strategies-in-the-classroom</a:t>
            </a:r>
          </a:p>
          <a:p xmlns:a="http://schemas.openxmlformats.org/drawingml/2006/main">
            <a:r>
              <a:t/>
            </a:r>
          </a:p>
          <a:p xmlns:a="http://schemas.openxmlformats.org/drawingml/2006/main">
            <a:r>
              <a:t>Campbell describes this approach in her classroom blog. The original inventor of the wider routine is not verified; this guide adapts it for any taught topic.</a:t>
            </a:r>
          </a:p>
          <a:p xmlns:a="http://schemas.openxmlformats.org/drawingml/2006/main">
            <a:r>
              <a:t/>
            </a:r>
          </a:p>
          <a:p xmlns:a="http://schemas.openxmlformats.org/drawingml/2006/main">
            <a:r>
              <a:t>Independent classroom adaptation; the source retains its own rights.</a:t>
            </a:r>
          </a:p>
          <a:p xmlns:a="http://schemas.openxmlformats.org/drawingml/2006/main">
            <a:r>
              <a:t/>
            </a:r>
          </a:p>
          <a:p xmlns:a="http://schemas.openxmlformats.org/drawingml/2006/main">
            <a:r>
              <a:t>Full guide: https://tnt-teaching-tools.github.io/retrieval-toolkit/retrieval-odd-one-out.html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0e5fcf235d14bf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f34c1e350374ee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ed0781937754e1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0f02c360c7c4a1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fc3443babe6464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9020255d376469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7242F87-905B-4F2B-BE1F-936977E455DD}"/>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BD98E97-4E52-434B-A381-A4273309CA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5E35D7FD-72FE-468E-89F4-FA07C55A549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A1F5EC98-B332-4C60-AC92-4C0893B743E9}"/>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4E22616-78E8-428B-8FFD-BD12554E48C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B05B45-CA06-4DD7-9837-B653E16E4A3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483976-C61E-4EEF-B502-520E2337A3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8FE5B40-0980-406D-81A3-94B82038F5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534DB576-6DD9-4643-9F19-1ECA6198119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381C995-7CFE-47E1-90C9-D2BFAC9DC3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C26002D2-F2C0-45B8-9866-4E6D1490E83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78F29CD4-FA8F-4BBD-A170-10D797646F57}"/>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E7F561C-5AE5-41A4-81BC-E9E918ECA8C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4A37B16-7265-48FE-B92D-7845B1049CF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6AC10D3-0834-4999-8F7C-78A7D20DCF8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a5f17720d34491d" /><Relationship Type="http://schemas.openxmlformats.org/officeDocument/2006/relationships/slideLayout" Target="/ppt/slideLayouts/slideLayout1.xml" Id="R1124108cd581426b" /><Relationship Type="http://schemas.openxmlformats.org/officeDocument/2006/relationships/slideLayout" Target="/ppt/slideLayouts/slideLayout2.xml" Id="Rf409059647a2438d" /><Relationship Type="http://schemas.openxmlformats.org/officeDocument/2006/relationships/slideLayout" Target="/ppt/slideLayouts/slideLayout3.xml" Id="Rdc87cfc7cf934fa7" /><Relationship Type="http://schemas.openxmlformats.org/officeDocument/2006/relationships/slideLayout" Target="/ppt/slideLayouts/slideLayout4.xml" Id="R6c8d324ae15141bd" /><Relationship Type="http://schemas.openxmlformats.org/officeDocument/2006/relationships/slideLayout" Target="/ppt/slideLayouts/slideLayout5.xml" Id="R21a337d4f3684a06" /><Relationship Type="http://schemas.openxmlformats.org/officeDocument/2006/relationships/slideLayout" Target="/ppt/slideLayouts/slideLayout6.xml" Id="Rde580f73af8943e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124108cd581426b"/>
    <p:sldLayoutId xmlns:r="http://schemas.openxmlformats.org/officeDocument/2006/relationships" id="2147483650" r:id="Rf409059647a2438d"/>
    <p:sldLayoutId xmlns:r="http://schemas.openxmlformats.org/officeDocument/2006/relationships" id="2147483651" r:id="Rdc87cfc7cf934fa7"/>
    <p:sldLayoutId xmlns:r="http://schemas.openxmlformats.org/officeDocument/2006/relationships" id="2147483652" r:id="R6c8d324ae15141bd"/>
    <p:sldLayoutId xmlns:r="http://schemas.openxmlformats.org/officeDocument/2006/relationships" id="2147483653" r:id="R21a337d4f3684a06"/>
    <p:sldLayoutId xmlns:r="http://schemas.openxmlformats.org/officeDocument/2006/relationships" id="2147483654" r:id="Rde580f73af8943e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675d30d52e5433e" /><Relationship Type="http://schemas.openxmlformats.org/officeDocument/2006/relationships/hyperlink" Target="https://collins.co.uk/blogs/collins-schools/retrieval-strategies-in-the-classroom" TargetMode="External" Id="Rf76b1b21c5c248e6" /><Relationship Type="http://schemas.openxmlformats.org/officeDocument/2006/relationships/notesSlide" Target="/ppt/notesSlides/notesSlide1.xml" Id="R295486ef76a74a23"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51D1371-62B9-47AD-AFFC-EDD14748D1FA}"/>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Odd one out</a:t>
            </a:r>
          </a:p>
        </p:txBody>
      </p:sp>
      <p:sp>
        <p:nvSpPr>
          <p:cNvPr id="2" name="">
            <a:extLst xmlns:a="http://schemas.openxmlformats.org/drawingml/2006/main">
              <a:ext uri="{FF2B5EF4-FFF2-40B4-BE49-F238E27FC236}">
                <a16:creationId xmlns:a16="http://schemas.microsoft.com/office/drawing/2014/main" id="{2D67EF00-9F9F-49D0-87DF-C800704854B0}"/>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9E95EAC2-04A2-49C3-A345-2A3FC26F82E3}"/>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256BF92-ABAE-4793-84FE-9DC8076CE62A}"/>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374DF725-71A4-44BB-8816-F6CD39388447}"/>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B3E5DEB6-D40E-4A6B-BA05-4D4BD47B58AE}"/>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D4A077CE-AF49-475D-A3A1-6227136D6487}"/>
              </a:ext>
            </a:extLst>
          </p:cNvPr>
          <p:cNvSpPr>
            <a:spLocks xmlns:a="http://schemas.openxmlformats.org/drawingml/2006/main" noGrp="1"/>
          </p:cNvSpPr>
          <p:nvPr/>
        </p:nvSpPr>
        <p:spPr>
          <a:xfrm xmlns:a="http://schemas.openxmlformats.org/drawingml/2006/main">
            <a:off x="781050"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Items  [Your three or four items]</a:t>
            </a:r>
          </a:p>
        </p:txBody>
      </p:sp>
      <p:sp>
        <p:nvSpPr>
          <p:cNvPr id="8" name="">
            <a:extLst xmlns:a="http://schemas.openxmlformats.org/drawingml/2006/main">
              <a:ext uri="{FF2B5EF4-FFF2-40B4-BE49-F238E27FC236}">
                <a16:creationId xmlns:a16="http://schemas.microsoft.com/office/drawing/2014/main" id="{A7646044-AC09-47BA-ACA6-758349BB6113}"/>
              </a:ext>
            </a:extLst>
          </p:cNvPr>
          <p:cNvSpPr>
            <a:spLocks xmlns:a="http://schemas.openxmlformats.org/drawingml/2006/main" noGrp="1"/>
          </p:cNvSpPr>
          <p:nvPr/>
        </p:nvSpPr>
        <p:spPr>
          <a:xfrm xmlns:a="http://schemas.openxmlformats.org/drawingml/2006/main">
            <a:off x="781050"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9" name="">
            <a:extLst xmlns:a="http://schemas.openxmlformats.org/drawingml/2006/main">
              <a:ext uri="{FF2B5EF4-FFF2-40B4-BE49-F238E27FC236}">
                <a16:creationId xmlns:a16="http://schemas.microsoft.com/office/drawing/2014/main" id="{782D6C2E-9C5C-420D-9645-893017626356}"/>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EACC0B2E-C0D3-4169-957E-A4ACA9DD59D0}"/>
              </a:ext>
            </a:extLst>
          </p:cNvPr>
          <p:cNvSpPr>
            <a:spLocks xmlns:a="http://schemas.openxmlformats.org/drawingml/2006/main" noGrp="1"/>
          </p:cNvSpPr>
          <p:nvPr/>
        </p:nvSpPr>
        <p:spPr>
          <a:xfrm xmlns:a="http://schemas.openxmlformats.org/drawingml/2006/main">
            <a:off x="6353175" y="238125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My odd one out</a:t>
            </a:r>
          </a:p>
        </p:txBody>
      </p:sp>
      <p:sp>
        <p:nvSpPr>
          <p:cNvPr id="11" name="">
            <a:extLst xmlns:a="http://schemas.openxmlformats.org/drawingml/2006/main">
              <a:ext uri="{FF2B5EF4-FFF2-40B4-BE49-F238E27FC236}">
                <a16:creationId xmlns:a16="http://schemas.microsoft.com/office/drawing/2014/main" id="{C6BEA6C3-A6A2-4D10-8A9E-8D17BCCA9B80}"/>
              </a:ext>
            </a:extLst>
          </p:cNvPr>
          <p:cNvSpPr>
            <a:spLocks xmlns:a="http://schemas.openxmlformats.org/drawingml/2006/main" noGrp="1"/>
          </p:cNvSpPr>
          <p:nvPr/>
        </p:nvSpPr>
        <p:spPr>
          <a:xfrm xmlns:a="http://schemas.openxmlformats.org/drawingml/2006/main">
            <a:off x="6353175" y="285750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2" name="">
            <a:extLst xmlns:a="http://schemas.openxmlformats.org/drawingml/2006/main">
              <a:ext uri="{FF2B5EF4-FFF2-40B4-BE49-F238E27FC236}">
                <a16:creationId xmlns:a16="http://schemas.microsoft.com/office/drawing/2014/main" id="{0EA98DA7-92E0-40DE-A881-21C00644A15C}"/>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3135EFCF-8F45-484C-B32F-C067D9BF51E4}"/>
              </a:ext>
            </a:extLst>
          </p:cNvPr>
          <p:cNvSpPr>
            <a:spLocks xmlns:a="http://schemas.openxmlformats.org/drawingml/2006/main" noGrp="1"/>
          </p:cNvSpPr>
          <p:nvPr/>
        </p:nvSpPr>
        <p:spPr>
          <a:xfrm xmlns:a="http://schemas.openxmlformats.org/drawingml/2006/main">
            <a:off x="781050"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The relationship between the others</a:t>
            </a:r>
          </a:p>
        </p:txBody>
      </p:sp>
      <p:sp>
        <p:nvSpPr>
          <p:cNvPr id="14" name="">
            <a:extLst xmlns:a="http://schemas.openxmlformats.org/drawingml/2006/main">
              <a:ext uri="{FF2B5EF4-FFF2-40B4-BE49-F238E27FC236}">
                <a16:creationId xmlns:a16="http://schemas.microsoft.com/office/drawing/2014/main" id="{53C4DA1C-7B72-43C0-8116-FF7452E5B682}"/>
              </a:ext>
            </a:extLst>
          </p:cNvPr>
          <p:cNvSpPr>
            <a:spLocks xmlns:a="http://schemas.openxmlformats.org/drawingml/2006/main" noGrp="1"/>
          </p:cNvSpPr>
          <p:nvPr/>
        </p:nvSpPr>
        <p:spPr>
          <a:xfrm xmlns:a="http://schemas.openxmlformats.org/drawingml/2006/main">
            <a:off x="781050"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5" name="">
            <a:extLst xmlns:a="http://schemas.openxmlformats.org/drawingml/2006/main">
              <a:ext uri="{FF2B5EF4-FFF2-40B4-BE49-F238E27FC236}">
                <a16:creationId xmlns:a16="http://schemas.microsoft.com/office/drawing/2014/main" id="{1A6A3D53-0B5B-44BF-8703-467219600FA3}"/>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9CBA1D50-F876-4ED7-B2DC-CF90F81B1002}"/>
              </a:ext>
            </a:extLst>
          </p:cNvPr>
          <p:cNvSpPr>
            <a:spLocks xmlns:a="http://schemas.openxmlformats.org/drawingml/2006/main" noGrp="1"/>
          </p:cNvSpPr>
          <p:nvPr/>
        </p:nvSpPr>
        <p:spPr>
          <a:xfrm xmlns:a="http://schemas.openxmlformats.org/drawingml/2006/main">
            <a:off x="6353175" y="4152900"/>
            <a:ext cx="50577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Another defensible answer</a:t>
            </a:r>
          </a:p>
        </p:txBody>
      </p:sp>
      <p:sp>
        <p:nvSpPr>
          <p:cNvPr id="17" name="">
            <a:extLst xmlns:a="http://schemas.openxmlformats.org/drawingml/2006/main">
              <a:ext uri="{FF2B5EF4-FFF2-40B4-BE49-F238E27FC236}">
                <a16:creationId xmlns:a16="http://schemas.microsoft.com/office/drawing/2014/main" id="{4ABE30CD-6992-4EE4-AB9E-E69F75A59952}"/>
              </a:ext>
            </a:extLst>
          </p:cNvPr>
          <p:cNvSpPr>
            <a:spLocks xmlns:a="http://schemas.openxmlformats.org/drawingml/2006/main" noGrp="1"/>
          </p:cNvSpPr>
          <p:nvPr/>
        </p:nvSpPr>
        <p:spPr>
          <a:xfrm xmlns:a="http://schemas.openxmlformats.org/drawingml/2006/main">
            <a:off x="6353175" y="4629150"/>
            <a:ext cx="50577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[Your response or prompt]</a:t>
            </a:r>
          </a:p>
        </p:txBody>
      </p:sp>
      <p:sp>
        <p:nvSpPr>
          <p:cNvPr id="18" name="">
            <a:extLst xmlns:a="http://schemas.openxmlformats.org/drawingml/2006/main">
              <a:ext uri="{FF2B5EF4-FFF2-40B4-BE49-F238E27FC236}">
                <a16:creationId xmlns:a16="http://schemas.microsoft.com/office/drawing/2014/main" id="{C953B496-78BF-47CE-82F0-FBA75BF129CE}"/>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2A1B1118-F928-4A78-ACC2-79BFA46D2403}"/>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CE8313D0-2D2F-48F2-AA18-9FE79BA3E968}"/>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buNone/>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
        <p:nvSpPr>
          <p:cNvPr id="22" name="source-credit">
            <a:extLst xmlns:a="http://schemas.openxmlformats.org/drawingml/2006/main">
              <a:ext uri="{FF2B5EF4-FFF2-40B4-BE49-F238E27FC236}">
                <a16:creationId xmlns:a16="http://schemas.microsoft.com/office/drawing/2014/main" id="{2EA1908E-54B6-47F4-8897-92BB99A886E5}"/>
              </a:ext>
            </a:extLst>
          </p:cNvPr>
          <p:cNvSpPr>
            <a:spLocks xmlns:a="http://schemas.openxmlformats.org/drawingml/2006/main" noGrp="1"/>
          </p:cNvSpPr>
          <p:nvPr/>
        </p:nvSpPr>
        <p:spPr>
          <a:xfrm xmlns:a="http://schemas.openxmlformats.org/drawingml/2006/main">
            <a:off x="609600" y="6591300"/>
            <a:ext cx="10972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defRPr sz="900">
                <a:solidFill>
                  <a:srgbClr val="687572"/>
                </a:solidFill>
                <a:latin typeface="DejaVu Sans"/>
                <a:ea typeface="DejaVu Sans"/>
                <a:cs typeface="DejaVu Sans"/>
              </a:defRPr>
            </a:pPr>
            <a:r>
              <a:rPr sz="900">
                <a:solidFill>
                  <a:srgbClr val="687572"/>
                </a:solidFill>
                <a:latin typeface="DejaVu Sans"/>
                <a:ea typeface="DejaVu Sans"/>
                <a:cs typeface="DejaVu Sans"/>
              </a:rPr>
              <a:t>Source: </a:t>
            </a:r>
            <a:r>
              <a:rPr sz="900">
                <a:solidFill>
                  <a:srgbClr val="687572"/>
                </a:solidFill>
                <a:latin typeface="DejaVu Sans"/>
                <a:ea typeface="DejaVu Sans"/>
                <a:cs typeface="DejaVu Sans"/>
                <a:hlinkClick xmlns:r="http://schemas.openxmlformats.org/officeDocument/2006/relationships" r:id="Rf76b1b21c5c248e6"/>
              </a:rPr>
              <a:t>Jenny Campbell — published classroom example, Collins — original guidance</a:t>
            </a:r>
          </a:p>
        </p:txBody>
      </p:sp>
    </p:spTree>
    <p:extLst>
      <p:ext uri="{BB962C8B-B14F-4D97-AF65-F5344CB8AC3E}">
        <p14:creationId xmlns:p14="http://schemas.microsoft.com/office/powerpoint/2010/main" val="13377726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2026-10-08T06:09:20.6780000Z</dcterms:created>
  <dcterms:modified xsi:type="dcterms:W3CDTF">2026-10-08T06:09:20.6780000Z</dcterms:modified>
</coreProperties>
</file>